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17"/>
  </p:notes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0" r:id="rId14"/>
    <p:sldId id="261"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1E76EA-9A7B-4B64-9D5C-3B639AEF0894}" v="304" dt="2025-12-10T19:26:17.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8570C7-5839-49A3-A64D-AC23FE31DEDD}"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30B27EA0-49A4-40A4-963A-584D1D255747}">
      <dgm:prSet/>
      <dgm:spPr/>
      <dgm:t>
        <a:bodyPr/>
        <a:lstStyle/>
        <a:p>
          <a:r>
            <a:rPr lang="en-US"/>
            <a:t>Threes-story healthcare institution with 7 clinical departments [9].</a:t>
          </a:r>
        </a:p>
      </dgm:t>
    </dgm:pt>
    <dgm:pt modelId="{21DD5324-DE88-4BC4-BB87-F729B9172BFE}" type="parTrans" cxnId="{E0C50228-8164-490A-8E35-012E9A339FC3}">
      <dgm:prSet/>
      <dgm:spPr/>
      <dgm:t>
        <a:bodyPr/>
        <a:lstStyle/>
        <a:p>
          <a:endParaRPr lang="en-US"/>
        </a:p>
      </dgm:t>
    </dgm:pt>
    <dgm:pt modelId="{AE891F2B-5609-466B-A833-C209172FCF47}" type="sibTrans" cxnId="{E0C50228-8164-490A-8E35-012E9A339FC3}">
      <dgm:prSet/>
      <dgm:spPr/>
      <dgm:t>
        <a:bodyPr/>
        <a:lstStyle/>
        <a:p>
          <a:endParaRPr lang="en-US"/>
        </a:p>
      </dgm:t>
    </dgm:pt>
    <dgm:pt modelId="{955748B9-AE3D-4820-A043-D39BD9E23451}">
      <dgm:prSet/>
      <dgm:spPr/>
      <dgm:t>
        <a:bodyPr/>
        <a:lstStyle/>
        <a:p>
          <a:r>
            <a:rPr lang="en-US"/>
            <a:t>Veteran infrastructure, which creates bottlenecks in its operations [2].</a:t>
          </a:r>
        </a:p>
      </dgm:t>
    </dgm:pt>
    <dgm:pt modelId="{7644068C-39F7-4397-B6D3-1AFDBC0FFA59}" type="parTrans" cxnId="{C731C85E-66C1-4DB8-9C0A-21404A032BB8}">
      <dgm:prSet/>
      <dgm:spPr/>
      <dgm:t>
        <a:bodyPr/>
        <a:lstStyle/>
        <a:p>
          <a:endParaRPr lang="en-US"/>
        </a:p>
      </dgm:t>
    </dgm:pt>
    <dgm:pt modelId="{26A7803E-AAFB-45A0-BEB1-D817853750C4}" type="sibTrans" cxnId="{C731C85E-66C1-4DB8-9C0A-21404A032BB8}">
      <dgm:prSet/>
      <dgm:spPr/>
      <dgm:t>
        <a:bodyPr/>
        <a:lstStyle/>
        <a:p>
          <a:endParaRPr lang="en-US"/>
        </a:p>
      </dgm:t>
    </dgm:pt>
    <dgm:pt modelId="{CC2498E7-1572-44B5-86D2-DF9790FAF3CF}">
      <dgm:prSet/>
      <dgm:spPr/>
      <dgm:t>
        <a:bodyPr/>
        <a:lstStyle/>
        <a:p>
          <a:r>
            <a:rPr lang="en-US"/>
            <a:t>Assess the performance of hardware and determine what needs modernization.</a:t>
          </a:r>
        </a:p>
      </dgm:t>
    </dgm:pt>
    <dgm:pt modelId="{2F307321-1209-4B6A-852C-FCD068FB6501}" type="parTrans" cxnId="{98EE2BB8-A059-4711-AE81-E843C545CD27}">
      <dgm:prSet/>
      <dgm:spPr/>
      <dgm:t>
        <a:bodyPr/>
        <a:lstStyle/>
        <a:p>
          <a:endParaRPr lang="en-US"/>
        </a:p>
      </dgm:t>
    </dgm:pt>
    <dgm:pt modelId="{933EFF2F-F8BF-4852-B23F-9A5252889B60}" type="sibTrans" cxnId="{98EE2BB8-A059-4711-AE81-E843C545CD27}">
      <dgm:prSet/>
      <dgm:spPr/>
      <dgm:t>
        <a:bodyPr/>
        <a:lstStyle/>
        <a:p>
          <a:endParaRPr lang="en-US"/>
        </a:p>
      </dgm:t>
    </dgm:pt>
    <dgm:pt modelId="{9925D79D-78F6-4898-BBC4-A9C081912610}">
      <dgm:prSet/>
      <dgm:spPr/>
      <dgm:t>
        <a:bodyPr/>
        <a:lstStyle/>
        <a:p>
          <a:r>
            <a:rPr lang="en-US"/>
            <a:t>Secure and scalable design network to support clinical workflows.</a:t>
          </a:r>
        </a:p>
      </dgm:t>
    </dgm:pt>
    <dgm:pt modelId="{794DA5AF-D9E4-49B9-B6FC-A0D50C3BD234}" type="parTrans" cxnId="{4B32875E-894B-4DC1-ACF4-DEB1F3222A52}">
      <dgm:prSet/>
      <dgm:spPr/>
      <dgm:t>
        <a:bodyPr/>
        <a:lstStyle/>
        <a:p>
          <a:endParaRPr lang="en-US"/>
        </a:p>
      </dgm:t>
    </dgm:pt>
    <dgm:pt modelId="{CD312592-2AFB-4928-B81A-A4EF0C29A66A}" type="sibTrans" cxnId="{4B32875E-894B-4DC1-ACF4-DEB1F3222A52}">
      <dgm:prSet/>
      <dgm:spPr/>
      <dgm:t>
        <a:bodyPr/>
        <a:lstStyle/>
        <a:p>
          <a:endParaRPr lang="en-US"/>
        </a:p>
      </dgm:t>
    </dgm:pt>
    <dgm:pt modelId="{E39B594F-8F44-4050-9B7C-CF25C888AD09}">
      <dgm:prSet/>
      <dgm:spPr/>
      <dgm:t>
        <a:bodyPr/>
        <a:lstStyle/>
        <a:p>
          <a:r>
            <a:rPr lang="en-US"/>
            <a:t>Provide the evidence-based recommendations consistent with the needs of healthcare.</a:t>
          </a:r>
        </a:p>
      </dgm:t>
    </dgm:pt>
    <dgm:pt modelId="{869F2200-064D-4712-8787-2BEC731DCD6F}" type="parTrans" cxnId="{375AD2E3-48AA-4A32-B36A-B28A8434B173}">
      <dgm:prSet/>
      <dgm:spPr/>
      <dgm:t>
        <a:bodyPr/>
        <a:lstStyle/>
        <a:p>
          <a:endParaRPr lang="en-US"/>
        </a:p>
      </dgm:t>
    </dgm:pt>
    <dgm:pt modelId="{5C152698-5C66-41A5-BA77-928AE5BDB7A0}" type="sibTrans" cxnId="{375AD2E3-48AA-4A32-B36A-B28A8434B173}">
      <dgm:prSet/>
      <dgm:spPr/>
      <dgm:t>
        <a:bodyPr/>
        <a:lstStyle/>
        <a:p>
          <a:endParaRPr lang="en-US"/>
        </a:p>
      </dgm:t>
    </dgm:pt>
    <dgm:pt modelId="{B7C2BF40-E158-4361-B403-5EDFB1798CC8}" type="pres">
      <dgm:prSet presAssocID="{048570C7-5839-49A3-A64D-AC23FE31DEDD}" presName="vert0" presStyleCnt="0">
        <dgm:presLayoutVars>
          <dgm:dir/>
          <dgm:animOne val="branch"/>
          <dgm:animLvl val="lvl"/>
        </dgm:presLayoutVars>
      </dgm:prSet>
      <dgm:spPr/>
    </dgm:pt>
    <dgm:pt modelId="{06DB6420-2641-4498-A285-6B52A7784D93}" type="pres">
      <dgm:prSet presAssocID="{30B27EA0-49A4-40A4-963A-584D1D255747}" presName="thickLine" presStyleLbl="alignNode1" presStyleIdx="0" presStyleCnt="5"/>
      <dgm:spPr/>
    </dgm:pt>
    <dgm:pt modelId="{1D3BCEA2-48EF-4AB6-A0A4-F95C2BDAC7D0}" type="pres">
      <dgm:prSet presAssocID="{30B27EA0-49A4-40A4-963A-584D1D255747}" presName="horz1" presStyleCnt="0"/>
      <dgm:spPr/>
    </dgm:pt>
    <dgm:pt modelId="{10B7A302-4949-463E-A19D-4283883347F4}" type="pres">
      <dgm:prSet presAssocID="{30B27EA0-49A4-40A4-963A-584D1D255747}" presName="tx1" presStyleLbl="revTx" presStyleIdx="0" presStyleCnt="5"/>
      <dgm:spPr/>
    </dgm:pt>
    <dgm:pt modelId="{2AFD7A0D-0E9D-40C8-9CDD-B27BE15901F2}" type="pres">
      <dgm:prSet presAssocID="{30B27EA0-49A4-40A4-963A-584D1D255747}" presName="vert1" presStyleCnt="0"/>
      <dgm:spPr/>
    </dgm:pt>
    <dgm:pt modelId="{B804466E-C0DE-4B95-A4B3-5B6B1077CAD6}" type="pres">
      <dgm:prSet presAssocID="{955748B9-AE3D-4820-A043-D39BD9E23451}" presName="thickLine" presStyleLbl="alignNode1" presStyleIdx="1" presStyleCnt="5"/>
      <dgm:spPr/>
    </dgm:pt>
    <dgm:pt modelId="{6470D901-C9E4-41C3-9AA2-9C5D15A0D6CC}" type="pres">
      <dgm:prSet presAssocID="{955748B9-AE3D-4820-A043-D39BD9E23451}" presName="horz1" presStyleCnt="0"/>
      <dgm:spPr/>
    </dgm:pt>
    <dgm:pt modelId="{39030724-3532-4F71-8984-309BC6B31E11}" type="pres">
      <dgm:prSet presAssocID="{955748B9-AE3D-4820-A043-D39BD9E23451}" presName="tx1" presStyleLbl="revTx" presStyleIdx="1" presStyleCnt="5"/>
      <dgm:spPr/>
    </dgm:pt>
    <dgm:pt modelId="{48EC0305-CF6C-4766-A995-023E03B7156E}" type="pres">
      <dgm:prSet presAssocID="{955748B9-AE3D-4820-A043-D39BD9E23451}" presName="vert1" presStyleCnt="0"/>
      <dgm:spPr/>
    </dgm:pt>
    <dgm:pt modelId="{728F34D3-FD3D-486B-9287-1D33A036B9CA}" type="pres">
      <dgm:prSet presAssocID="{CC2498E7-1572-44B5-86D2-DF9790FAF3CF}" presName="thickLine" presStyleLbl="alignNode1" presStyleIdx="2" presStyleCnt="5"/>
      <dgm:spPr/>
    </dgm:pt>
    <dgm:pt modelId="{128E1552-28D8-48D2-925D-FDC7A4974573}" type="pres">
      <dgm:prSet presAssocID="{CC2498E7-1572-44B5-86D2-DF9790FAF3CF}" presName="horz1" presStyleCnt="0"/>
      <dgm:spPr/>
    </dgm:pt>
    <dgm:pt modelId="{5A23D3F7-88D9-4B60-84A9-3F9654AA2840}" type="pres">
      <dgm:prSet presAssocID="{CC2498E7-1572-44B5-86D2-DF9790FAF3CF}" presName="tx1" presStyleLbl="revTx" presStyleIdx="2" presStyleCnt="5"/>
      <dgm:spPr/>
    </dgm:pt>
    <dgm:pt modelId="{EDF7AE29-D294-4DBC-BDAB-C9043253C388}" type="pres">
      <dgm:prSet presAssocID="{CC2498E7-1572-44B5-86D2-DF9790FAF3CF}" presName="vert1" presStyleCnt="0"/>
      <dgm:spPr/>
    </dgm:pt>
    <dgm:pt modelId="{34991F95-DD56-4234-830E-868D64136FED}" type="pres">
      <dgm:prSet presAssocID="{9925D79D-78F6-4898-BBC4-A9C081912610}" presName="thickLine" presStyleLbl="alignNode1" presStyleIdx="3" presStyleCnt="5"/>
      <dgm:spPr/>
    </dgm:pt>
    <dgm:pt modelId="{BD11F0CB-5DF2-467E-964E-3C874A92D139}" type="pres">
      <dgm:prSet presAssocID="{9925D79D-78F6-4898-BBC4-A9C081912610}" presName="horz1" presStyleCnt="0"/>
      <dgm:spPr/>
    </dgm:pt>
    <dgm:pt modelId="{F78AA54C-598F-4AEF-B1F2-58413D66A9AB}" type="pres">
      <dgm:prSet presAssocID="{9925D79D-78F6-4898-BBC4-A9C081912610}" presName="tx1" presStyleLbl="revTx" presStyleIdx="3" presStyleCnt="5"/>
      <dgm:spPr/>
    </dgm:pt>
    <dgm:pt modelId="{8655842E-1E61-4D24-BD5A-BE7A85506D17}" type="pres">
      <dgm:prSet presAssocID="{9925D79D-78F6-4898-BBC4-A9C081912610}" presName="vert1" presStyleCnt="0"/>
      <dgm:spPr/>
    </dgm:pt>
    <dgm:pt modelId="{1FA9764F-3926-4070-85C0-50AC08E4D15C}" type="pres">
      <dgm:prSet presAssocID="{E39B594F-8F44-4050-9B7C-CF25C888AD09}" presName="thickLine" presStyleLbl="alignNode1" presStyleIdx="4" presStyleCnt="5"/>
      <dgm:spPr/>
    </dgm:pt>
    <dgm:pt modelId="{5C592439-9EF4-4A06-B9E1-7ABC55AA77B3}" type="pres">
      <dgm:prSet presAssocID="{E39B594F-8F44-4050-9B7C-CF25C888AD09}" presName="horz1" presStyleCnt="0"/>
      <dgm:spPr/>
    </dgm:pt>
    <dgm:pt modelId="{90B8AC39-D575-48EA-9A90-1CD1EA2CFCBB}" type="pres">
      <dgm:prSet presAssocID="{E39B594F-8F44-4050-9B7C-CF25C888AD09}" presName="tx1" presStyleLbl="revTx" presStyleIdx="4" presStyleCnt="5"/>
      <dgm:spPr/>
    </dgm:pt>
    <dgm:pt modelId="{E68388B6-3AB1-4CCA-9D67-7895CA193018}" type="pres">
      <dgm:prSet presAssocID="{E39B594F-8F44-4050-9B7C-CF25C888AD09}" presName="vert1" presStyleCnt="0"/>
      <dgm:spPr/>
    </dgm:pt>
  </dgm:ptLst>
  <dgm:cxnLst>
    <dgm:cxn modelId="{E0C50228-8164-490A-8E35-012E9A339FC3}" srcId="{048570C7-5839-49A3-A64D-AC23FE31DEDD}" destId="{30B27EA0-49A4-40A4-963A-584D1D255747}" srcOrd="0" destOrd="0" parTransId="{21DD5324-DE88-4BC4-BB87-F729B9172BFE}" sibTransId="{AE891F2B-5609-466B-A833-C209172FCF47}"/>
    <dgm:cxn modelId="{F15BE83D-10CF-40A2-BED5-168A84F6415F}" type="presOf" srcId="{9925D79D-78F6-4898-BBC4-A9C081912610}" destId="{F78AA54C-598F-4AEF-B1F2-58413D66A9AB}" srcOrd="0" destOrd="0" presId="urn:microsoft.com/office/officeart/2008/layout/LinedList"/>
    <dgm:cxn modelId="{0AFA9C5B-7635-4ADE-8769-78878654777C}" type="presOf" srcId="{CC2498E7-1572-44B5-86D2-DF9790FAF3CF}" destId="{5A23D3F7-88D9-4B60-84A9-3F9654AA2840}" srcOrd="0" destOrd="0" presId="urn:microsoft.com/office/officeart/2008/layout/LinedList"/>
    <dgm:cxn modelId="{4B32875E-894B-4DC1-ACF4-DEB1F3222A52}" srcId="{048570C7-5839-49A3-A64D-AC23FE31DEDD}" destId="{9925D79D-78F6-4898-BBC4-A9C081912610}" srcOrd="3" destOrd="0" parTransId="{794DA5AF-D9E4-49B9-B6FC-A0D50C3BD234}" sibTransId="{CD312592-2AFB-4928-B81A-A4EF0C29A66A}"/>
    <dgm:cxn modelId="{C731C85E-66C1-4DB8-9C0A-21404A032BB8}" srcId="{048570C7-5839-49A3-A64D-AC23FE31DEDD}" destId="{955748B9-AE3D-4820-A043-D39BD9E23451}" srcOrd="1" destOrd="0" parTransId="{7644068C-39F7-4397-B6D3-1AFDBC0FFA59}" sibTransId="{26A7803E-AAFB-45A0-BEB1-D817853750C4}"/>
    <dgm:cxn modelId="{BD050F4A-E120-49FC-9A80-1EA42FA4A083}" type="presOf" srcId="{E39B594F-8F44-4050-9B7C-CF25C888AD09}" destId="{90B8AC39-D575-48EA-9A90-1CD1EA2CFCBB}" srcOrd="0" destOrd="0" presId="urn:microsoft.com/office/officeart/2008/layout/LinedList"/>
    <dgm:cxn modelId="{C748BD71-1077-4C93-991F-AE512A808C11}" type="presOf" srcId="{30B27EA0-49A4-40A4-963A-584D1D255747}" destId="{10B7A302-4949-463E-A19D-4283883347F4}" srcOrd="0" destOrd="0" presId="urn:microsoft.com/office/officeart/2008/layout/LinedList"/>
    <dgm:cxn modelId="{181F4783-E8F4-4408-9F56-81F10334A3F1}" type="presOf" srcId="{955748B9-AE3D-4820-A043-D39BD9E23451}" destId="{39030724-3532-4F71-8984-309BC6B31E11}" srcOrd="0" destOrd="0" presId="urn:microsoft.com/office/officeart/2008/layout/LinedList"/>
    <dgm:cxn modelId="{98EE2BB8-A059-4711-AE81-E843C545CD27}" srcId="{048570C7-5839-49A3-A64D-AC23FE31DEDD}" destId="{CC2498E7-1572-44B5-86D2-DF9790FAF3CF}" srcOrd="2" destOrd="0" parTransId="{2F307321-1209-4B6A-852C-FCD068FB6501}" sibTransId="{933EFF2F-F8BF-4852-B23F-9A5252889B60}"/>
    <dgm:cxn modelId="{EC35DAC1-1853-4F19-AEFB-CC28D6DDF742}" type="presOf" srcId="{048570C7-5839-49A3-A64D-AC23FE31DEDD}" destId="{B7C2BF40-E158-4361-B403-5EDFB1798CC8}" srcOrd="0" destOrd="0" presId="urn:microsoft.com/office/officeart/2008/layout/LinedList"/>
    <dgm:cxn modelId="{375AD2E3-48AA-4A32-B36A-B28A8434B173}" srcId="{048570C7-5839-49A3-A64D-AC23FE31DEDD}" destId="{E39B594F-8F44-4050-9B7C-CF25C888AD09}" srcOrd="4" destOrd="0" parTransId="{869F2200-064D-4712-8787-2BEC731DCD6F}" sibTransId="{5C152698-5C66-41A5-BA77-928AE5BDB7A0}"/>
    <dgm:cxn modelId="{2CB2255D-0795-4AFD-B09E-315764B63D8C}" type="presParOf" srcId="{B7C2BF40-E158-4361-B403-5EDFB1798CC8}" destId="{06DB6420-2641-4498-A285-6B52A7784D93}" srcOrd="0" destOrd="0" presId="urn:microsoft.com/office/officeart/2008/layout/LinedList"/>
    <dgm:cxn modelId="{4E6379A8-EFA0-42C2-84DE-B33D34DC7F63}" type="presParOf" srcId="{B7C2BF40-E158-4361-B403-5EDFB1798CC8}" destId="{1D3BCEA2-48EF-4AB6-A0A4-F95C2BDAC7D0}" srcOrd="1" destOrd="0" presId="urn:microsoft.com/office/officeart/2008/layout/LinedList"/>
    <dgm:cxn modelId="{70A290B2-46F1-4957-A9CA-E75A00CBFFEB}" type="presParOf" srcId="{1D3BCEA2-48EF-4AB6-A0A4-F95C2BDAC7D0}" destId="{10B7A302-4949-463E-A19D-4283883347F4}" srcOrd="0" destOrd="0" presId="urn:microsoft.com/office/officeart/2008/layout/LinedList"/>
    <dgm:cxn modelId="{5ABAA24F-027B-49C1-92A8-B7ADF73E0B52}" type="presParOf" srcId="{1D3BCEA2-48EF-4AB6-A0A4-F95C2BDAC7D0}" destId="{2AFD7A0D-0E9D-40C8-9CDD-B27BE15901F2}" srcOrd="1" destOrd="0" presId="urn:microsoft.com/office/officeart/2008/layout/LinedList"/>
    <dgm:cxn modelId="{09D4C62C-0AC3-4EEC-A68F-BCB5FB3EF30D}" type="presParOf" srcId="{B7C2BF40-E158-4361-B403-5EDFB1798CC8}" destId="{B804466E-C0DE-4B95-A4B3-5B6B1077CAD6}" srcOrd="2" destOrd="0" presId="urn:microsoft.com/office/officeart/2008/layout/LinedList"/>
    <dgm:cxn modelId="{7F4CBB77-98C7-4F95-8531-3F00AFDDFE43}" type="presParOf" srcId="{B7C2BF40-E158-4361-B403-5EDFB1798CC8}" destId="{6470D901-C9E4-41C3-9AA2-9C5D15A0D6CC}" srcOrd="3" destOrd="0" presId="urn:microsoft.com/office/officeart/2008/layout/LinedList"/>
    <dgm:cxn modelId="{25F22390-F7C4-4EF2-83F6-A9947F255B88}" type="presParOf" srcId="{6470D901-C9E4-41C3-9AA2-9C5D15A0D6CC}" destId="{39030724-3532-4F71-8984-309BC6B31E11}" srcOrd="0" destOrd="0" presId="urn:microsoft.com/office/officeart/2008/layout/LinedList"/>
    <dgm:cxn modelId="{24A96E8B-7F12-4C5F-9C04-DE6E8DB74C00}" type="presParOf" srcId="{6470D901-C9E4-41C3-9AA2-9C5D15A0D6CC}" destId="{48EC0305-CF6C-4766-A995-023E03B7156E}" srcOrd="1" destOrd="0" presId="urn:microsoft.com/office/officeart/2008/layout/LinedList"/>
    <dgm:cxn modelId="{F9421E74-A7B8-4822-843F-D7F22739C535}" type="presParOf" srcId="{B7C2BF40-E158-4361-B403-5EDFB1798CC8}" destId="{728F34D3-FD3D-486B-9287-1D33A036B9CA}" srcOrd="4" destOrd="0" presId="urn:microsoft.com/office/officeart/2008/layout/LinedList"/>
    <dgm:cxn modelId="{D54FBC04-011A-4AC6-B99C-2FA0242CA716}" type="presParOf" srcId="{B7C2BF40-E158-4361-B403-5EDFB1798CC8}" destId="{128E1552-28D8-48D2-925D-FDC7A4974573}" srcOrd="5" destOrd="0" presId="urn:microsoft.com/office/officeart/2008/layout/LinedList"/>
    <dgm:cxn modelId="{9CB9422E-5847-48DD-8EDD-F27AEFC90F85}" type="presParOf" srcId="{128E1552-28D8-48D2-925D-FDC7A4974573}" destId="{5A23D3F7-88D9-4B60-84A9-3F9654AA2840}" srcOrd="0" destOrd="0" presId="urn:microsoft.com/office/officeart/2008/layout/LinedList"/>
    <dgm:cxn modelId="{58512D2F-82FD-4171-8235-A0DEA971CA93}" type="presParOf" srcId="{128E1552-28D8-48D2-925D-FDC7A4974573}" destId="{EDF7AE29-D294-4DBC-BDAB-C9043253C388}" srcOrd="1" destOrd="0" presId="urn:microsoft.com/office/officeart/2008/layout/LinedList"/>
    <dgm:cxn modelId="{AF1C779F-982C-463F-B228-C39D6C831A45}" type="presParOf" srcId="{B7C2BF40-E158-4361-B403-5EDFB1798CC8}" destId="{34991F95-DD56-4234-830E-868D64136FED}" srcOrd="6" destOrd="0" presId="urn:microsoft.com/office/officeart/2008/layout/LinedList"/>
    <dgm:cxn modelId="{C1078341-FCA3-44BF-A840-C55DE83971D0}" type="presParOf" srcId="{B7C2BF40-E158-4361-B403-5EDFB1798CC8}" destId="{BD11F0CB-5DF2-467E-964E-3C874A92D139}" srcOrd="7" destOrd="0" presId="urn:microsoft.com/office/officeart/2008/layout/LinedList"/>
    <dgm:cxn modelId="{E2C09617-10EC-432E-954E-CEFAA533854F}" type="presParOf" srcId="{BD11F0CB-5DF2-467E-964E-3C874A92D139}" destId="{F78AA54C-598F-4AEF-B1F2-58413D66A9AB}" srcOrd="0" destOrd="0" presId="urn:microsoft.com/office/officeart/2008/layout/LinedList"/>
    <dgm:cxn modelId="{5B03CB3C-4B40-421A-88E2-895DC7E40751}" type="presParOf" srcId="{BD11F0CB-5DF2-467E-964E-3C874A92D139}" destId="{8655842E-1E61-4D24-BD5A-BE7A85506D17}" srcOrd="1" destOrd="0" presId="urn:microsoft.com/office/officeart/2008/layout/LinedList"/>
    <dgm:cxn modelId="{6F416C92-E988-42D9-B577-656A9204B83C}" type="presParOf" srcId="{B7C2BF40-E158-4361-B403-5EDFB1798CC8}" destId="{1FA9764F-3926-4070-85C0-50AC08E4D15C}" srcOrd="8" destOrd="0" presId="urn:microsoft.com/office/officeart/2008/layout/LinedList"/>
    <dgm:cxn modelId="{2B72FBCA-81E6-4F6F-83D0-D3AC20B22F39}" type="presParOf" srcId="{B7C2BF40-E158-4361-B403-5EDFB1798CC8}" destId="{5C592439-9EF4-4A06-B9E1-7ABC55AA77B3}" srcOrd="9" destOrd="0" presId="urn:microsoft.com/office/officeart/2008/layout/LinedList"/>
    <dgm:cxn modelId="{AADC421A-BA5D-4425-96E3-3CF2F2238AFA}" type="presParOf" srcId="{5C592439-9EF4-4A06-B9E1-7ABC55AA77B3}" destId="{90B8AC39-D575-48EA-9A90-1CD1EA2CFCBB}" srcOrd="0" destOrd="0" presId="urn:microsoft.com/office/officeart/2008/layout/LinedList"/>
    <dgm:cxn modelId="{1DCCB12C-61EC-4CE8-9AB7-7F6CE89B8195}" type="presParOf" srcId="{5C592439-9EF4-4A06-B9E1-7ABC55AA77B3}" destId="{E68388B6-3AB1-4CCA-9D67-7895CA19301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F6526B-FB5C-4749-8EA2-6F9EB92E6E77}"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598598F4-61F6-4E63-A9B4-383F7692DB0F}">
      <dgm:prSet/>
      <dgm:spPr/>
      <dgm:t>
        <a:bodyPr/>
        <a:lstStyle/>
        <a:p>
          <a:r>
            <a:rPr lang="en-US"/>
            <a:t>Novabench score 408, 69 percent below base line [3].</a:t>
          </a:r>
        </a:p>
      </dgm:t>
    </dgm:pt>
    <dgm:pt modelId="{08341ECC-A024-4B65-B1BB-04B8646957A6}" type="parTrans" cxnId="{9DD468FB-2B94-4844-975B-3BBBCF4A4968}">
      <dgm:prSet/>
      <dgm:spPr/>
      <dgm:t>
        <a:bodyPr/>
        <a:lstStyle/>
        <a:p>
          <a:endParaRPr lang="en-US"/>
        </a:p>
      </dgm:t>
    </dgm:pt>
    <dgm:pt modelId="{2B21EAB3-27FF-4FBA-AD92-7B62E11FB3D8}" type="sibTrans" cxnId="{9DD468FB-2B94-4844-975B-3BBBCF4A4968}">
      <dgm:prSet/>
      <dgm:spPr/>
      <dgm:t>
        <a:bodyPr/>
        <a:lstStyle/>
        <a:p>
          <a:endParaRPr lang="en-US"/>
        </a:p>
      </dgm:t>
    </dgm:pt>
    <dgm:pt modelId="{84BA7347-3977-4AD9-A2BD-84C8E9E4AEB2}">
      <dgm:prSet/>
      <dgm:spPr/>
      <dgm:t>
        <a:bodyPr/>
        <a:lstStyle/>
        <a:p>
          <a:r>
            <a:rPr lang="en-US"/>
            <a:t>Tripled slower than reference clinical workstation [4].</a:t>
          </a:r>
        </a:p>
      </dgm:t>
    </dgm:pt>
    <dgm:pt modelId="{C3E915B3-547B-4502-A6F8-1A8A6F47FD94}" type="parTrans" cxnId="{CD534F39-E360-4A88-AB93-E83F0F0F5BEC}">
      <dgm:prSet/>
      <dgm:spPr/>
      <dgm:t>
        <a:bodyPr/>
        <a:lstStyle/>
        <a:p>
          <a:endParaRPr lang="en-US"/>
        </a:p>
      </dgm:t>
    </dgm:pt>
    <dgm:pt modelId="{BA11BC32-C331-4308-A2AB-1BF4747C1D7B}" type="sibTrans" cxnId="{CD534F39-E360-4A88-AB93-E83F0F0F5BEC}">
      <dgm:prSet/>
      <dgm:spPr/>
      <dgm:t>
        <a:bodyPr/>
        <a:lstStyle/>
        <a:p>
          <a:endParaRPr lang="en-US"/>
        </a:p>
      </dgm:t>
    </dgm:pt>
    <dgm:pt modelId="{300A5114-F8A9-459E-8017-ECAA6C18BD3A}">
      <dgm:prSet/>
      <dgm:spPr/>
      <dgm:t>
        <a:bodyPr/>
        <a:lstStyle/>
        <a:p>
          <a:r>
            <a:rPr lang="en-US"/>
            <a:t>3.7 times slower than high performance macbook Pro.</a:t>
          </a:r>
        </a:p>
      </dgm:t>
    </dgm:pt>
    <dgm:pt modelId="{6A92ECC3-610C-4EB1-AF24-B869C65DE880}" type="parTrans" cxnId="{7A03967A-E21F-47FA-BFD4-B3E0246EC4AE}">
      <dgm:prSet/>
      <dgm:spPr/>
      <dgm:t>
        <a:bodyPr/>
        <a:lstStyle/>
        <a:p>
          <a:endParaRPr lang="en-US"/>
        </a:p>
      </dgm:t>
    </dgm:pt>
    <dgm:pt modelId="{2D0B1CFB-781E-4F0C-AE7F-69451C768D20}" type="sibTrans" cxnId="{7A03967A-E21F-47FA-BFD4-B3E0246EC4AE}">
      <dgm:prSet/>
      <dgm:spPr/>
      <dgm:t>
        <a:bodyPr/>
        <a:lstStyle/>
        <a:p>
          <a:endParaRPr lang="en-US"/>
        </a:p>
      </dgm:t>
    </dgm:pt>
    <dgm:pt modelId="{155BA8C4-AF72-4687-9CE0-FE741A78A988}">
      <dgm:prSet/>
      <dgm:spPr/>
      <dgm:t>
        <a:bodyPr/>
        <a:lstStyle/>
        <a:p>
          <a:r>
            <a:rPr lang="en-US"/>
            <a:t>Execution time 0.3662s/ 0.10s target.</a:t>
          </a:r>
        </a:p>
      </dgm:t>
    </dgm:pt>
    <dgm:pt modelId="{D4AE82B3-5D3A-41E2-8FDF-282587B1725F}" type="parTrans" cxnId="{D3C01EE8-D7AD-40BE-8346-A49340E79F7D}">
      <dgm:prSet/>
      <dgm:spPr/>
      <dgm:t>
        <a:bodyPr/>
        <a:lstStyle/>
        <a:p>
          <a:endParaRPr lang="en-US"/>
        </a:p>
      </dgm:t>
    </dgm:pt>
    <dgm:pt modelId="{054F8A9B-C7BC-4E3D-A062-29A5E0177546}" type="sibTrans" cxnId="{D3C01EE8-D7AD-40BE-8346-A49340E79F7D}">
      <dgm:prSet/>
      <dgm:spPr/>
      <dgm:t>
        <a:bodyPr/>
        <a:lstStyle/>
        <a:p>
          <a:endParaRPr lang="en-US"/>
        </a:p>
      </dgm:t>
    </dgm:pt>
    <dgm:pt modelId="{9BE06439-2E5F-4530-9BCB-84FCA589AA0A}">
      <dgm:prSet/>
      <dgm:spPr/>
      <dgm:t>
        <a:bodyPr/>
        <a:lstStyle/>
        <a:p>
          <a:r>
            <a:rPr lang="en-US"/>
            <a:t>Probably the hardware is degrading or harshly thermal throttling [7].</a:t>
          </a:r>
        </a:p>
      </dgm:t>
    </dgm:pt>
    <dgm:pt modelId="{CA95B77A-21C0-4EA2-9297-3F98F72F58F2}" type="parTrans" cxnId="{2D7E8657-DDAA-4551-BC00-8E65485D0558}">
      <dgm:prSet/>
      <dgm:spPr/>
      <dgm:t>
        <a:bodyPr/>
        <a:lstStyle/>
        <a:p>
          <a:endParaRPr lang="en-US"/>
        </a:p>
      </dgm:t>
    </dgm:pt>
    <dgm:pt modelId="{C50384DD-F3C4-4381-971E-F6B7A951EC68}" type="sibTrans" cxnId="{2D7E8657-DDAA-4551-BC00-8E65485D0558}">
      <dgm:prSet/>
      <dgm:spPr/>
      <dgm:t>
        <a:bodyPr/>
        <a:lstStyle/>
        <a:p>
          <a:endParaRPr lang="en-US"/>
        </a:p>
      </dgm:t>
    </dgm:pt>
    <dgm:pt modelId="{164A5149-D0D8-4998-9528-5035DE3EF66A}">
      <dgm:prSet/>
      <dgm:spPr/>
      <dgm:t>
        <a:bodyPr/>
        <a:lstStyle/>
        <a:p>
          <a:r>
            <a:rPr lang="en-US"/>
            <a:t>Potential bottleneck with HDD, malware or misidentified CPU.</a:t>
          </a:r>
        </a:p>
      </dgm:t>
    </dgm:pt>
    <dgm:pt modelId="{5C6B82A6-6B6E-43C4-8903-07B1D767C4F3}" type="parTrans" cxnId="{1F0BDA1F-00DE-43AC-8B0B-5BA286B96D4D}">
      <dgm:prSet/>
      <dgm:spPr/>
      <dgm:t>
        <a:bodyPr/>
        <a:lstStyle/>
        <a:p>
          <a:endParaRPr lang="en-US"/>
        </a:p>
      </dgm:t>
    </dgm:pt>
    <dgm:pt modelId="{DC099BFD-FAA4-4204-AD4C-82378F0080E4}" type="sibTrans" cxnId="{1F0BDA1F-00DE-43AC-8B0B-5BA286B96D4D}">
      <dgm:prSet/>
      <dgm:spPr/>
      <dgm:t>
        <a:bodyPr/>
        <a:lstStyle/>
        <a:p>
          <a:endParaRPr lang="en-US"/>
        </a:p>
      </dgm:t>
    </dgm:pt>
    <dgm:pt modelId="{C4372C57-05D7-460F-829A-1C41A60ABC03}">
      <dgm:prSet/>
      <dgm:spPr/>
      <dgm:t>
        <a:bodyPr/>
        <a:lstStyle/>
        <a:p>
          <a:r>
            <a:rPr lang="en-US"/>
            <a:t>A clinical liability; not eligible in any job in the department.</a:t>
          </a:r>
        </a:p>
      </dgm:t>
    </dgm:pt>
    <dgm:pt modelId="{D0778B7C-DC34-4476-BE97-25E78F1B2220}" type="parTrans" cxnId="{3FD80689-E628-4BE0-8819-A311207BF751}">
      <dgm:prSet/>
      <dgm:spPr/>
      <dgm:t>
        <a:bodyPr/>
        <a:lstStyle/>
        <a:p>
          <a:endParaRPr lang="en-US"/>
        </a:p>
      </dgm:t>
    </dgm:pt>
    <dgm:pt modelId="{3F4A15BF-6877-427C-9804-E37C2947F684}" type="sibTrans" cxnId="{3FD80689-E628-4BE0-8819-A311207BF751}">
      <dgm:prSet/>
      <dgm:spPr/>
      <dgm:t>
        <a:bodyPr/>
        <a:lstStyle/>
        <a:p>
          <a:endParaRPr lang="en-US"/>
        </a:p>
      </dgm:t>
    </dgm:pt>
    <dgm:pt modelId="{B4F8912E-58F6-4EAE-AECF-CEE98DA26793}" type="pres">
      <dgm:prSet presAssocID="{7EF6526B-FB5C-4749-8EA2-6F9EB92E6E77}" presName="diagram" presStyleCnt="0">
        <dgm:presLayoutVars>
          <dgm:dir/>
          <dgm:resizeHandles val="exact"/>
        </dgm:presLayoutVars>
      </dgm:prSet>
      <dgm:spPr/>
    </dgm:pt>
    <dgm:pt modelId="{9D8C1786-BB7B-4A31-A598-94C132AC1FB0}" type="pres">
      <dgm:prSet presAssocID="{598598F4-61F6-4E63-A9B4-383F7692DB0F}" presName="node" presStyleLbl="node1" presStyleIdx="0" presStyleCnt="7">
        <dgm:presLayoutVars>
          <dgm:bulletEnabled val="1"/>
        </dgm:presLayoutVars>
      </dgm:prSet>
      <dgm:spPr/>
    </dgm:pt>
    <dgm:pt modelId="{E7FE5C52-F52E-4C14-9240-AD11EB16EDA8}" type="pres">
      <dgm:prSet presAssocID="{2B21EAB3-27FF-4FBA-AD92-7B62E11FB3D8}" presName="sibTrans" presStyleCnt="0"/>
      <dgm:spPr/>
    </dgm:pt>
    <dgm:pt modelId="{189ACD6B-B6CC-4E92-8929-449DFB50BE6F}" type="pres">
      <dgm:prSet presAssocID="{84BA7347-3977-4AD9-A2BD-84C8E9E4AEB2}" presName="node" presStyleLbl="node1" presStyleIdx="1" presStyleCnt="7">
        <dgm:presLayoutVars>
          <dgm:bulletEnabled val="1"/>
        </dgm:presLayoutVars>
      </dgm:prSet>
      <dgm:spPr/>
    </dgm:pt>
    <dgm:pt modelId="{0862BDE7-4D66-4296-8C3A-66F6A94D0470}" type="pres">
      <dgm:prSet presAssocID="{BA11BC32-C331-4308-A2AB-1BF4747C1D7B}" presName="sibTrans" presStyleCnt="0"/>
      <dgm:spPr/>
    </dgm:pt>
    <dgm:pt modelId="{FA5A121F-B369-4C77-9F06-F7BBFF43EF4B}" type="pres">
      <dgm:prSet presAssocID="{300A5114-F8A9-459E-8017-ECAA6C18BD3A}" presName="node" presStyleLbl="node1" presStyleIdx="2" presStyleCnt="7">
        <dgm:presLayoutVars>
          <dgm:bulletEnabled val="1"/>
        </dgm:presLayoutVars>
      </dgm:prSet>
      <dgm:spPr/>
    </dgm:pt>
    <dgm:pt modelId="{CC9843D1-61B5-4B78-9B91-A27DEB80A648}" type="pres">
      <dgm:prSet presAssocID="{2D0B1CFB-781E-4F0C-AE7F-69451C768D20}" presName="sibTrans" presStyleCnt="0"/>
      <dgm:spPr/>
    </dgm:pt>
    <dgm:pt modelId="{A5270EED-6705-4AFE-8692-CB4674158BCA}" type="pres">
      <dgm:prSet presAssocID="{155BA8C4-AF72-4687-9CE0-FE741A78A988}" presName="node" presStyleLbl="node1" presStyleIdx="3" presStyleCnt="7">
        <dgm:presLayoutVars>
          <dgm:bulletEnabled val="1"/>
        </dgm:presLayoutVars>
      </dgm:prSet>
      <dgm:spPr/>
    </dgm:pt>
    <dgm:pt modelId="{C64F742E-5906-48FE-92C6-903626884B87}" type="pres">
      <dgm:prSet presAssocID="{054F8A9B-C7BC-4E3D-A062-29A5E0177546}" presName="sibTrans" presStyleCnt="0"/>
      <dgm:spPr/>
    </dgm:pt>
    <dgm:pt modelId="{B99D59F7-93EF-4887-A2D0-46DE695318AB}" type="pres">
      <dgm:prSet presAssocID="{9BE06439-2E5F-4530-9BCB-84FCA589AA0A}" presName="node" presStyleLbl="node1" presStyleIdx="4" presStyleCnt="7">
        <dgm:presLayoutVars>
          <dgm:bulletEnabled val="1"/>
        </dgm:presLayoutVars>
      </dgm:prSet>
      <dgm:spPr/>
    </dgm:pt>
    <dgm:pt modelId="{89F50DC8-100F-497B-A3B8-4F79843D1DBB}" type="pres">
      <dgm:prSet presAssocID="{C50384DD-F3C4-4381-971E-F6B7A951EC68}" presName="sibTrans" presStyleCnt="0"/>
      <dgm:spPr/>
    </dgm:pt>
    <dgm:pt modelId="{E8C72F1E-2DD4-4266-B737-C5CD439FC36A}" type="pres">
      <dgm:prSet presAssocID="{164A5149-D0D8-4998-9528-5035DE3EF66A}" presName="node" presStyleLbl="node1" presStyleIdx="5" presStyleCnt="7">
        <dgm:presLayoutVars>
          <dgm:bulletEnabled val="1"/>
        </dgm:presLayoutVars>
      </dgm:prSet>
      <dgm:spPr/>
    </dgm:pt>
    <dgm:pt modelId="{9EBB796D-DBE3-4976-8D8B-B6B2DEE8FFA5}" type="pres">
      <dgm:prSet presAssocID="{DC099BFD-FAA4-4204-AD4C-82378F0080E4}" presName="sibTrans" presStyleCnt="0"/>
      <dgm:spPr/>
    </dgm:pt>
    <dgm:pt modelId="{C55F043F-15AD-4206-9052-33968E36EC64}" type="pres">
      <dgm:prSet presAssocID="{C4372C57-05D7-460F-829A-1C41A60ABC03}" presName="node" presStyleLbl="node1" presStyleIdx="6" presStyleCnt="7">
        <dgm:presLayoutVars>
          <dgm:bulletEnabled val="1"/>
        </dgm:presLayoutVars>
      </dgm:prSet>
      <dgm:spPr/>
    </dgm:pt>
  </dgm:ptLst>
  <dgm:cxnLst>
    <dgm:cxn modelId="{946B8F0C-0A42-4B88-81A5-714508BC8B96}" type="presOf" srcId="{164A5149-D0D8-4998-9528-5035DE3EF66A}" destId="{E8C72F1E-2DD4-4266-B737-C5CD439FC36A}" srcOrd="0" destOrd="0" presId="urn:microsoft.com/office/officeart/2005/8/layout/default"/>
    <dgm:cxn modelId="{162E861E-CFEB-4CE3-964B-AAA235C10BE9}" type="presOf" srcId="{C4372C57-05D7-460F-829A-1C41A60ABC03}" destId="{C55F043F-15AD-4206-9052-33968E36EC64}" srcOrd="0" destOrd="0" presId="urn:microsoft.com/office/officeart/2005/8/layout/default"/>
    <dgm:cxn modelId="{1F0BDA1F-00DE-43AC-8B0B-5BA286B96D4D}" srcId="{7EF6526B-FB5C-4749-8EA2-6F9EB92E6E77}" destId="{164A5149-D0D8-4998-9528-5035DE3EF66A}" srcOrd="5" destOrd="0" parTransId="{5C6B82A6-6B6E-43C4-8903-07B1D767C4F3}" sibTransId="{DC099BFD-FAA4-4204-AD4C-82378F0080E4}"/>
    <dgm:cxn modelId="{CD534F39-E360-4A88-AB93-E83F0F0F5BEC}" srcId="{7EF6526B-FB5C-4749-8EA2-6F9EB92E6E77}" destId="{84BA7347-3977-4AD9-A2BD-84C8E9E4AEB2}" srcOrd="1" destOrd="0" parTransId="{C3E915B3-547B-4502-A6F8-1A8A6F47FD94}" sibTransId="{BA11BC32-C331-4308-A2AB-1BF4747C1D7B}"/>
    <dgm:cxn modelId="{D3E14A43-56D5-4A85-8016-C4CC68266675}" type="presOf" srcId="{155BA8C4-AF72-4687-9CE0-FE741A78A988}" destId="{A5270EED-6705-4AFE-8692-CB4674158BCA}" srcOrd="0" destOrd="0" presId="urn:microsoft.com/office/officeart/2005/8/layout/default"/>
    <dgm:cxn modelId="{419E6456-92F7-43D2-9EB7-10E1ED123FAA}" type="presOf" srcId="{84BA7347-3977-4AD9-A2BD-84C8E9E4AEB2}" destId="{189ACD6B-B6CC-4E92-8929-449DFB50BE6F}" srcOrd="0" destOrd="0" presId="urn:microsoft.com/office/officeart/2005/8/layout/default"/>
    <dgm:cxn modelId="{2D7E8657-DDAA-4551-BC00-8E65485D0558}" srcId="{7EF6526B-FB5C-4749-8EA2-6F9EB92E6E77}" destId="{9BE06439-2E5F-4530-9BCB-84FCA589AA0A}" srcOrd="4" destOrd="0" parTransId="{CA95B77A-21C0-4EA2-9297-3F98F72F58F2}" sibTransId="{C50384DD-F3C4-4381-971E-F6B7A951EC68}"/>
    <dgm:cxn modelId="{7A03967A-E21F-47FA-BFD4-B3E0246EC4AE}" srcId="{7EF6526B-FB5C-4749-8EA2-6F9EB92E6E77}" destId="{300A5114-F8A9-459E-8017-ECAA6C18BD3A}" srcOrd="2" destOrd="0" parTransId="{6A92ECC3-610C-4EB1-AF24-B869C65DE880}" sibTransId="{2D0B1CFB-781E-4F0C-AE7F-69451C768D20}"/>
    <dgm:cxn modelId="{70A2A088-16BD-4AEE-9057-3A63317204D4}" type="presOf" srcId="{7EF6526B-FB5C-4749-8EA2-6F9EB92E6E77}" destId="{B4F8912E-58F6-4EAE-AECF-CEE98DA26793}" srcOrd="0" destOrd="0" presId="urn:microsoft.com/office/officeart/2005/8/layout/default"/>
    <dgm:cxn modelId="{EB37CA88-2F40-47CA-BF55-28258B56CEEF}" type="presOf" srcId="{598598F4-61F6-4E63-A9B4-383F7692DB0F}" destId="{9D8C1786-BB7B-4A31-A598-94C132AC1FB0}" srcOrd="0" destOrd="0" presId="urn:microsoft.com/office/officeart/2005/8/layout/default"/>
    <dgm:cxn modelId="{3FD80689-E628-4BE0-8819-A311207BF751}" srcId="{7EF6526B-FB5C-4749-8EA2-6F9EB92E6E77}" destId="{C4372C57-05D7-460F-829A-1C41A60ABC03}" srcOrd="6" destOrd="0" parTransId="{D0778B7C-DC34-4476-BE97-25E78F1B2220}" sibTransId="{3F4A15BF-6877-427C-9804-E37C2947F684}"/>
    <dgm:cxn modelId="{020F0AB4-9268-4FC5-9616-C6B78FCA6722}" type="presOf" srcId="{300A5114-F8A9-459E-8017-ECAA6C18BD3A}" destId="{FA5A121F-B369-4C77-9F06-F7BBFF43EF4B}" srcOrd="0" destOrd="0" presId="urn:microsoft.com/office/officeart/2005/8/layout/default"/>
    <dgm:cxn modelId="{44909EDA-ABB6-4CD0-B98C-F8E040D2369C}" type="presOf" srcId="{9BE06439-2E5F-4530-9BCB-84FCA589AA0A}" destId="{B99D59F7-93EF-4887-A2D0-46DE695318AB}" srcOrd="0" destOrd="0" presId="urn:microsoft.com/office/officeart/2005/8/layout/default"/>
    <dgm:cxn modelId="{D3C01EE8-D7AD-40BE-8346-A49340E79F7D}" srcId="{7EF6526B-FB5C-4749-8EA2-6F9EB92E6E77}" destId="{155BA8C4-AF72-4687-9CE0-FE741A78A988}" srcOrd="3" destOrd="0" parTransId="{D4AE82B3-5D3A-41E2-8FDF-282587B1725F}" sibTransId="{054F8A9B-C7BC-4E3D-A062-29A5E0177546}"/>
    <dgm:cxn modelId="{9DD468FB-2B94-4844-975B-3BBBCF4A4968}" srcId="{7EF6526B-FB5C-4749-8EA2-6F9EB92E6E77}" destId="{598598F4-61F6-4E63-A9B4-383F7692DB0F}" srcOrd="0" destOrd="0" parTransId="{08341ECC-A024-4B65-B1BB-04B8646957A6}" sibTransId="{2B21EAB3-27FF-4FBA-AD92-7B62E11FB3D8}"/>
    <dgm:cxn modelId="{34A87338-7282-4D0E-BC07-685B3EB4B74C}" type="presParOf" srcId="{B4F8912E-58F6-4EAE-AECF-CEE98DA26793}" destId="{9D8C1786-BB7B-4A31-A598-94C132AC1FB0}" srcOrd="0" destOrd="0" presId="urn:microsoft.com/office/officeart/2005/8/layout/default"/>
    <dgm:cxn modelId="{EC5E5609-7AE2-4404-938E-782D2481E108}" type="presParOf" srcId="{B4F8912E-58F6-4EAE-AECF-CEE98DA26793}" destId="{E7FE5C52-F52E-4C14-9240-AD11EB16EDA8}" srcOrd="1" destOrd="0" presId="urn:microsoft.com/office/officeart/2005/8/layout/default"/>
    <dgm:cxn modelId="{C8CEAD10-C59D-468F-B7B8-CF7159C70391}" type="presParOf" srcId="{B4F8912E-58F6-4EAE-AECF-CEE98DA26793}" destId="{189ACD6B-B6CC-4E92-8929-449DFB50BE6F}" srcOrd="2" destOrd="0" presId="urn:microsoft.com/office/officeart/2005/8/layout/default"/>
    <dgm:cxn modelId="{2CF99572-3912-4FB8-8FF0-72345155B1A0}" type="presParOf" srcId="{B4F8912E-58F6-4EAE-AECF-CEE98DA26793}" destId="{0862BDE7-4D66-4296-8C3A-66F6A94D0470}" srcOrd="3" destOrd="0" presId="urn:microsoft.com/office/officeart/2005/8/layout/default"/>
    <dgm:cxn modelId="{AF192549-07EC-44C0-9AAE-BB8F8BFF7F70}" type="presParOf" srcId="{B4F8912E-58F6-4EAE-AECF-CEE98DA26793}" destId="{FA5A121F-B369-4C77-9F06-F7BBFF43EF4B}" srcOrd="4" destOrd="0" presId="urn:microsoft.com/office/officeart/2005/8/layout/default"/>
    <dgm:cxn modelId="{BB958B40-CC8B-4110-8A3B-D8D2091706A9}" type="presParOf" srcId="{B4F8912E-58F6-4EAE-AECF-CEE98DA26793}" destId="{CC9843D1-61B5-4B78-9B91-A27DEB80A648}" srcOrd="5" destOrd="0" presId="urn:microsoft.com/office/officeart/2005/8/layout/default"/>
    <dgm:cxn modelId="{85DA2FF9-89A5-4C73-9CE9-06861829701B}" type="presParOf" srcId="{B4F8912E-58F6-4EAE-AECF-CEE98DA26793}" destId="{A5270EED-6705-4AFE-8692-CB4674158BCA}" srcOrd="6" destOrd="0" presId="urn:microsoft.com/office/officeart/2005/8/layout/default"/>
    <dgm:cxn modelId="{309BEF22-CBCB-41C1-A761-F986CF6840F8}" type="presParOf" srcId="{B4F8912E-58F6-4EAE-AECF-CEE98DA26793}" destId="{C64F742E-5906-48FE-92C6-903626884B87}" srcOrd="7" destOrd="0" presId="urn:microsoft.com/office/officeart/2005/8/layout/default"/>
    <dgm:cxn modelId="{91DBF7C8-2141-47D1-83F5-40BF3B793B7C}" type="presParOf" srcId="{B4F8912E-58F6-4EAE-AECF-CEE98DA26793}" destId="{B99D59F7-93EF-4887-A2D0-46DE695318AB}" srcOrd="8" destOrd="0" presId="urn:microsoft.com/office/officeart/2005/8/layout/default"/>
    <dgm:cxn modelId="{70E50A00-CDA4-49FF-88E7-63E048BDC645}" type="presParOf" srcId="{B4F8912E-58F6-4EAE-AECF-CEE98DA26793}" destId="{89F50DC8-100F-497B-A3B8-4F79843D1DBB}" srcOrd="9" destOrd="0" presId="urn:microsoft.com/office/officeart/2005/8/layout/default"/>
    <dgm:cxn modelId="{3C416A83-5690-4D25-8DEC-5AB9CCCFCD39}" type="presParOf" srcId="{B4F8912E-58F6-4EAE-AECF-CEE98DA26793}" destId="{E8C72F1E-2DD4-4266-B737-C5CD439FC36A}" srcOrd="10" destOrd="0" presId="urn:microsoft.com/office/officeart/2005/8/layout/default"/>
    <dgm:cxn modelId="{81098A5C-2A23-49D7-ABE4-E28DAB48A0C6}" type="presParOf" srcId="{B4F8912E-58F6-4EAE-AECF-CEE98DA26793}" destId="{9EBB796D-DBE3-4976-8D8B-B6B2DEE8FFA5}" srcOrd="11" destOrd="0" presId="urn:microsoft.com/office/officeart/2005/8/layout/default"/>
    <dgm:cxn modelId="{7140F659-228C-4912-B91A-5E3B6FE57D33}" type="presParOf" srcId="{B4F8912E-58F6-4EAE-AECF-CEE98DA26793}" destId="{C55F043F-15AD-4206-9052-33968E36EC64}"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3AC19B-4B38-4587-96D1-D249DB091B3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E9F9322B-A633-4692-AB76-1431AB2B0DEB}">
      <dgm:prSet/>
      <dgm:spPr/>
      <dgm:t>
        <a:bodyPr/>
        <a:lstStyle/>
        <a:p>
          <a:r>
            <a:rPr lang="en-US"/>
            <a:t>Radiology: MacBook Pro (0.10s) - quickest DICOM system of rendering [4].</a:t>
          </a:r>
        </a:p>
      </dgm:t>
    </dgm:pt>
    <dgm:pt modelId="{4C0D14B5-EAB9-40EE-B8F7-F0DC32E17AE9}" type="parTrans" cxnId="{F8CD29A7-A248-497A-9265-4BC130D91AAF}">
      <dgm:prSet/>
      <dgm:spPr/>
      <dgm:t>
        <a:bodyPr/>
        <a:lstStyle/>
        <a:p>
          <a:endParaRPr lang="en-US"/>
        </a:p>
      </dgm:t>
    </dgm:pt>
    <dgm:pt modelId="{6E824C26-D6E4-41ED-9C17-E2AAB3A14C09}" type="sibTrans" cxnId="{F8CD29A7-A248-497A-9265-4BC130D91AAF}">
      <dgm:prSet/>
      <dgm:spPr/>
      <dgm:t>
        <a:bodyPr/>
        <a:lstStyle/>
        <a:p>
          <a:endParaRPr lang="en-US"/>
        </a:p>
      </dgm:t>
    </dgm:pt>
    <dgm:pt modelId="{0BBB335C-72E1-4903-9952-77A81AAB57F3}">
      <dgm:prSet/>
      <dgm:spPr/>
      <dgm:t>
        <a:bodyPr/>
        <a:lstStyle/>
        <a:p>
          <a:r>
            <a:rPr lang="en-US"/>
            <a:t>Emergency: real time patient data reliability- ASUS ZenBook Duo (0.1094s) - ASUS ZenBook Duo [9].</a:t>
          </a:r>
        </a:p>
      </dgm:t>
    </dgm:pt>
    <dgm:pt modelId="{5BA7EEF3-3481-4F3F-A9FF-6E438C22C317}" type="parTrans" cxnId="{2FC58EEE-DC6B-4FD5-96FF-B866321DC90A}">
      <dgm:prSet/>
      <dgm:spPr/>
      <dgm:t>
        <a:bodyPr/>
        <a:lstStyle/>
        <a:p>
          <a:endParaRPr lang="en-US"/>
        </a:p>
      </dgm:t>
    </dgm:pt>
    <dgm:pt modelId="{5E5BFE03-77CA-4FC3-832D-11F69BF791D9}" type="sibTrans" cxnId="{2FC58EEE-DC6B-4FD5-96FF-B866321DC90A}">
      <dgm:prSet/>
      <dgm:spPr/>
      <dgm:t>
        <a:bodyPr/>
        <a:lstStyle/>
        <a:p>
          <a:endParaRPr lang="en-US"/>
        </a:p>
      </dgm:t>
    </dgm:pt>
    <dgm:pt modelId="{4FEFF288-F286-43B3-89CA-34B2BE4F2422}">
      <dgm:prSet/>
      <dgm:spPr/>
      <dgm:t>
        <a:bodyPr/>
        <a:lstStyle/>
        <a:p>
          <a:r>
            <a:rPr lang="en-US"/>
            <a:t>Laboratory: ASUS ZenBook 14 Unit 1 (0.1092s) - fast LIS turnaround.</a:t>
          </a:r>
        </a:p>
      </dgm:t>
    </dgm:pt>
    <dgm:pt modelId="{C162A3C7-7A80-45A4-9A52-6D11F10D2708}" type="parTrans" cxnId="{54AC361A-0730-4AAA-A21B-BE7DCF8F8607}">
      <dgm:prSet/>
      <dgm:spPr/>
      <dgm:t>
        <a:bodyPr/>
        <a:lstStyle/>
        <a:p>
          <a:endParaRPr lang="en-US"/>
        </a:p>
      </dgm:t>
    </dgm:pt>
    <dgm:pt modelId="{785A6C1F-50CA-4E8F-81F1-3EA6C2999AC6}" type="sibTrans" cxnId="{54AC361A-0730-4AAA-A21B-BE7DCF8F8607}">
      <dgm:prSet/>
      <dgm:spPr/>
      <dgm:t>
        <a:bodyPr/>
        <a:lstStyle/>
        <a:p>
          <a:endParaRPr lang="en-US"/>
        </a:p>
      </dgm:t>
    </dgm:pt>
    <dgm:pt modelId="{9FFEEBAF-EE56-41E6-B28E-BECD08279D3C}">
      <dgm:prSet/>
      <dgm:spPr/>
      <dgm:t>
        <a:bodyPr/>
        <a:lstStyle/>
        <a:p>
          <a:r>
            <a:rPr lang="en-US"/>
            <a:t>Pharmacy: ASUS zenbook 14 U1 0.1092s - drug verification response time.</a:t>
          </a:r>
        </a:p>
      </dgm:t>
    </dgm:pt>
    <dgm:pt modelId="{5D45F6C1-005A-43C9-B17E-62C55255A56D}" type="parTrans" cxnId="{AE9EDEB9-99F2-4261-B5D6-30EBBDF2BF9F}">
      <dgm:prSet/>
      <dgm:spPr/>
      <dgm:t>
        <a:bodyPr/>
        <a:lstStyle/>
        <a:p>
          <a:endParaRPr lang="en-US"/>
        </a:p>
      </dgm:t>
    </dgm:pt>
    <dgm:pt modelId="{4EE4AC1D-A05B-40CE-8A54-C96CB046EAB2}" type="sibTrans" cxnId="{AE9EDEB9-99F2-4261-B5D6-30EBBDF2BF9F}">
      <dgm:prSet/>
      <dgm:spPr/>
      <dgm:t>
        <a:bodyPr/>
        <a:lstStyle/>
        <a:p>
          <a:endParaRPr lang="en-US"/>
        </a:p>
      </dgm:t>
    </dgm:pt>
    <dgm:pt modelId="{87874208-F86C-4E5A-81C6-AA109AFC3254}">
      <dgm:prSet/>
      <dgm:spPr/>
      <dgm:t>
        <a:bodyPr/>
        <a:lstStyle/>
        <a:p>
          <a:r>
            <a:rPr lang="en-US"/>
            <a:t>Outpatient: Yoga 7 (0.1111s) Lenovo - standard EHR functions [1].</a:t>
          </a:r>
        </a:p>
      </dgm:t>
    </dgm:pt>
    <dgm:pt modelId="{7D8EC6F3-8FB9-42E9-ADAA-FA11E38AB7AA}" type="parTrans" cxnId="{3D9317B5-2E67-4096-B031-4287E6EC278F}">
      <dgm:prSet/>
      <dgm:spPr/>
      <dgm:t>
        <a:bodyPr/>
        <a:lstStyle/>
        <a:p>
          <a:endParaRPr lang="en-US"/>
        </a:p>
      </dgm:t>
    </dgm:pt>
    <dgm:pt modelId="{4DC2D5CB-DEA0-44E4-B7A1-952CF973190D}" type="sibTrans" cxnId="{3D9317B5-2E67-4096-B031-4287E6EC278F}">
      <dgm:prSet/>
      <dgm:spPr/>
      <dgm:t>
        <a:bodyPr/>
        <a:lstStyle/>
        <a:p>
          <a:endParaRPr lang="en-US"/>
        </a:p>
      </dgm:t>
    </dgm:pt>
    <dgm:pt modelId="{837DC228-67E5-43F1-9BB8-7446870509AB}">
      <dgm:prSet/>
      <dgm:spPr/>
      <dgm:t>
        <a:bodyPr/>
        <a:lstStyle/>
        <a:p>
          <a:r>
            <a:rPr lang="en-US"/>
            <a:t>Management: MSI 9th Gen (0.1356s) - non-office work that is not important.</a:t>
          </a:r>
        </a:p>
      </dgm:t>
    </dgm:pt>
    <dgm:pt modelId="{F99D2C56-256E-41BE-AB8E-48061CDD4614}" type="parTrans" cxnId="{473E6735-632C-4FB0-9B6C-C0C7F6808F24}">
      <dgm:prSet/>
      <dgm:spPr/>
      <dgm:t>
        <a:bodyPr/>
        <a:lstStyle/>
        <a:p>
          <a:endParaRPr lang="en-US"/>
        </a:p>
      </dgm:t>
    </dgm:pt>
    <dgm:pt modelId="{D5E89E5B-DEA7-45BC-A47A-4439E51EEEA5}" type="sibTrans" cxnId="{473E6735-632C-4FB0-9B6C-C0C7F6808F24}">
      <dgm:prSet/>
      <dgm:spPr/>
      <dgm:t>
        <a:bodyPr/>
        <a:lstStyle/>
        <a:p>
          <a:endParaRPr lang="en-US"/>
        </a:p>
      </dgm:t>
    </dgm:pt>
    <dgm:pt modelId="{9636D35B-0605-4BF5-8F04-D067C569369B}">
      <dgm:prSet/>
      <dgm:spPr/>
      <dgm:t>
        <a:bodyPr/>
        <a:lstStyle/>
        <a:p>
          <a:r>
            <a:rPr lang="en-US"/>
            <a:t>Backup: Lenovo Ideapad (0.1249s) - back-up emergency cover.</a:t>
          </a:r>
        </a:p>
      </dgm:t>
    </dgm:pt>
    <dgm:pt modelId="{E10D4B5B-4012-4021-8FFB-6B6220591FB7}" type="parTrans" cxnId="{E897317B-6E62-43BC-A1C6-E964D1FC0288}">
      <dgm:prSet/>
      <dgm:spPr/>
      <dgm:t>
        <a:bodyPr/>
        <a:lstStyle/>
        <a:p>
          <a:endParaRPr lang="en-US"/>
        </a:p>
      </dgm:t>
    </dgm:pt>
    <dgm:pt modelId="{EB967D28-1E50-4915-A2F6-03FA3C99359D}" type="sibTrans" cxnId="{E897317B-6E62-43BC-A1C6-E964D1FC0288}">
      <dgm:prSet/>
      <dgm:spPr/>
      <dgm:t>
        <a:bodyPr/>
        <a:lstStyle/>
        <a:p>
          <a:endParaRPr lang="en-US"/>
        </a:p>
      </dgm:t>
    </dgm:pt>
    <dgm:pt modelId="{9BC050A7-3BBD-4294-9E83-52B6A2C39FB6}" type="pres">
      <dgm:prSet presAssocID="{113AC19B-4B38-4587-96D1-D249DB091B38}" presName="vert0" presStyleCnt="0">
        <dgm:presLayoutVars>
          <dgm:dir/>
          <dgm:animOne val="branch"/>
          <dgm:animLvl val="lvl"/>
        </dgm:presLayoutVars>
      </dgm:prSet>
      <dgm:spPr/>
    </dgm:pt>
    <dgm:pt modelId="{FEEDB4D0-A9A2-4855-BEE1-025BBE7ADA12}" type="pres">
      <dgm:prSet presAssocID="{E9F9322B-A633-4692-AB76-1431AB2B0DEB}" presName="thickLine" presStyleLbl="alignNode1" presStyleIdx="0" presStyleCnt="7"/>
      <dgm:spPr/>
    </dgm:pt>
    <dgm:pt modelId="{29146C99-837D-40F3-AC8C-B8483FCD1C47}" type="pres">
      <dgm:prSet presAssocID="{E9F9322B-A633-4692-AB76-1431AB2B0DEB}" presName="horz1" presStyleCnt="0"/>
      <dgm:spPr/>
    </dgm:pt>
    <dgm:pt modelId="{A6C63A82-4F30-47DB-9427-A7898E01882C}" type="pres">
      <dgm:prSet presAssocID="{E9F9322B-A633-4692-AB76-1431AB2B0DEB}" presName="tx1" presStyleLbl="revTx" presStyleIdx="0" presStyleCnt="7"/>
      <dgm:spPr/>
    </dgm:pt>
    <dgm:pt modelId="{8BE96F0C-9EE2-4B41-B4FA-A4C469F1D92F}" type="pres">
      <dgm:prSet presAssocID="{E9F9322B-A633-4692-AB76-1431AB2B0DEB}" presName="vert1" presStyleCnt="0"/>
      <dgm:spPr/>
    </dgm:pt>
    <dgm:pt modelId="{52E773FE-8212-4E52-9563-F15BB264E16C}" type="pres">
      <dgm:prSet presAssocID="{0BBB335C-72E1-4903-9952-77A81AAB57F3}" presName="thickLine" presStyleLbl="alignNode1" presStyleIdx="1" presStyleCnt="7"/>
      <dgm:spPr/>
    </dgm:pt>
    <dgm:pt modelId="{DBFEB7AC-6AF9-4CEC-9F4A-B396F0522A96}" type="pres">
      <dgm:prSet presAssocID="{0BBB335C-72E1-4903-9952-77A81AAB57F3}" presName="horz1" presStyleCnt="0"/>
      <dgm:spPr/>
    </dgm:pt>
    <dgm:pt modelId="{F5A8C6B6-B4C1-4A37-A37B-2C74FA9CAAA8}" type="pres">
      <dgm:prSet presAssocID="{0BBB335C-72E1-4903-9952-77A81AAB57F3}" presName="tx1" presStyleLbl="revTx" presStyleIdx="1" presStyleCnt="7"/>
      <dgm:spPr/>
    </dgm:pt>
    <dgm:pt modelId="{1F871B73-3189-450E-AFC3-5FCEA03C5BD5}" type="pres">
      <dgm:prSet presAssocID="{0BBB335C-72E1-4903-9952-77A81AAB57F3}" presName="vert1" presStyleCnt="0"/>
      <dgm:spPr/>
    </dgm:pt>
    <dgm:pt modelId="{3EC4CFB3-5D39-43D5-859B-E3C6BD52DA81}" type="pres">
      <dgm:prSet presAssocID="{4FEFF288-F286-43B3-89CA-34B2BE4F2422}" presName="thickLine" presStyleLbl="alignNode1" presStyleIdx="2" presStyleCnt="7"/>
      <dgm:spPr/>
    </dgm:pt>
    <dgm:pt modelId="{1ACC5401-7C2D-48E3-825B-0ECAF820BD5D}" type="pres">
      <dgm:prSet presAssocID="{4FEFF288-F286-43B3-89CA-34B2BE4F2422}" presName="horz1" presStyleCnt="0"/>
      <dgm:spPr/>
    </dgm:pt>
    <dgm:pt modelId="{D1BD1CB4-5C79-4BA4-A7B9-04CCBD839359}" type="pres">
      <dgm:prSet presAssocID="{4FEFF288-F286-43B3-89CA-34B2BE4F2422}" presName="tx1" presStyleLbl="revTx" presStyleIdx="2" presStyleCnt="7"/>
      <dgm:spPr/>
    </dgm:pt>
    <dgm:pt modelId="{E3FF20EF-6A8E-4860-8350-FEC4C2BD5B19}" type="pres">
      <dgm:prSet presAssocID="{4FEFF288-F286-43B3-89CA-34B2BE4F2422}" presName="vert1" presStyleCnt="0"/>
      <dgm:spPr/>
    </dgm:pt>
    <dgm:pt modelId="{015E0504-F3AF-4765-B7FB-2E01DB444B1A}" type="pres">
      <dgm:prSet presAssocID="{9FFEEBAF-EE56-41E6-B28E-BECD08279D3C}" presName="thickLine" presStyleLbl="alignNode1" presStyleIdx="3" presStyleCnt="7"/>
      <dgm:spPr/>
    </dgm:pt>
    <dgm:pt modelId="{17F1492E-4D4C-4030-BA30-1A18B53E0EF7}" type="pres">
      <dgm:prSet presAssocID="{9FFEEBAF-EE56-41E6-B28E-BECD08279D3C}" presName="horz1" presStyleCnt="0"/>
      <dgm:spPr/>
    </dgm:pt>
    <dgm:pt modelId="{A50518E2-E8D8-4948-B959-DB47EB3A8A15}" type="pres">
      <dgm:prSet presAssocID="{9FFEEBAF-EE56-41E6-B28E-BECD08279D3C}" presName="tx1" presStyleLbl="revTx" presStyleIdx="3" presStyleCnt="7"/>
      <dgm:spPr/>
    </dgm:pt>
    <dgm:pt modelId="{3BE720F8-E5AC-4B74-9322-7A4617CD93A4}" type="pres">
      <dgm:prSet presAssocID="{9FFEEBAF-EE56-41E6-B28E-BECD08279D3C}" presName="vert1" presStyleCnt="0"/>
      <dgm:spPr/>
    </dgm:pt>
    <dgm:pt modelId="{9FDE525C-E7BF-4F99-AA64-28B32B30218C}" type="pres">
      <dgm:prSet presAssocID="{87874208-F86C-4E5A-81C6-AA109AFC3254}" presName="thickLine" presStyleLbl="alignNode1" presStyleIdx="4" presStyleCnt="7"/>
      <dgm:spPr/>
    </dgm:pt>
    <dgm:pt modelId="{8E499ED5-5E54-4809-B751-98706352C8F5}" type="pres">
      <dgm:prSet presAssocID="{87874208-F86C-4E5A-81C6-AA109AFC3254}" presName="horz1" presStyleCnt="0"/>
      <dgm:spPr/>
    </dgm:pt>
    <dgm:pt modelId="{26D46700-E168-4A05-AFC9-B42A70B25FF1}" type="pres">
      <dgm:prSet presAssocID="{87874208-F86C-4E5A-81C6-AA109AFC3254}" presName="tx1" presStyleLbl="revTx" presStyleIdx="4" presStyleCnt="7"/>
      <dgm:spPr/>
    </dgm:pt>
    <dgm:pt modelId="{4EFCB938-B36B-4533-A03F-C5659722011F}" type="pres">
      <dgm:prSet presAssocID="{87874208-F86C-4E5A-81C6-AA109AFC3254}" presName="vert1" presStyleCnt="0"/>
      <dgm:spPr/>
    </dgm:pt>
    <dgm:pt modelId="{BDA0AFA5-FB08-42E4-97A8-8AD51B57A57B}" type="pres">
      <dgm:prSet presAssocID="{837DC228-67E5-43F1-9BB8-7446870509AB}" presName="thickLine" presStyleLbl="alignNode1" presStyleIdx="5" presStyleCnt="7"/>
      <dgm:spPr/>
    </dgm:pt>
    <dgm:pt modelId="{D3686675-6778-48E6-9602-9CF186BFAE62}" type="pres">
      <dgm:prSet presAssocID="{837DC228-67E5-43F1-9BB8-7446870509AB}" presName="horz1" presStyleCnt="0"/>
      <dgm:spPr/>
    </dgm:pt>
    <dgm:pt modelId="{FBA7AA6D-2C95-4EDB-A7F3-344B55D74631}" type="pres">
      <dgm:prSet presAssocID="{837DC228-67E5-43F1-9BB8-7446870509AB}" presName="tx1" presStyleLbl="revTx" presStyleIdx="5" presStyleCnt="7"/>
      <dgm:spPr/>
    </dgm:pt>
    <dgm:pt modelId="{8E665455-DBBA-43B5-82E3-0E9D80477657}" type="pres">
      <dgm:prSet presAssocID="{837DC228-67E5-43F1-9BB8-7446870509AB}" presName="vert1" presStyleCnt="0"/>
      <dgm:spPr/>
    </dgm:pt>
    <dgm:pt modelId="{71B81CD3-6F71-4761-A9E4-B2647E1A9454}" type="pres">
      <dgm:prSet presAssocID="{9636D35B-0605-4BF5-8F04-D067C569369B}" presName="thickLine" presStyleLbl="alignNode1" presStyleIdx="6" presStyleCnt="7"/>
      <dgm:spPr/>
    </dgm:pt>
    <dgm:pt modelId="{A83452AF-0753-426F-AC18-55DA340FE4EA}" type="pres">
      <dgm:prSet presAssocID="{9636D35B-0605-4BF5-8F04-D067C569369B}" presName="horz1" presStyleCnt="0"/>
      <dgm:spPr/>
    </dgm:pt>
    <dgm:pt modelId="{20DF6F96-F30A-41BD-9D1A-0C16D6AC0A76}" type="pres">
      <dgm:prSet presAssocID="{9636D35B-0605-4BF5-8F04-D067C569369B}" presName="tx1" presStyleLbl="revTx" presStyleIdx="6" presStyleCnt="7"/>
      <dgm:spPr/>
    </dgm:pt>
    <dgm:pt modelId="{83148141-05A7-4F23-8A98-6B20850AB419}" type="pres">
      <dgm:prSet presAssocID="{9636D35B-0605-4BF5-8F04-D067C569369B}" presName="vert1" presStyleCnt="0"/>
      <dgm:spPr/>
    </dgm:pt>
  </dgm:ptLst>
  <dgm:cxnLst>
    <dgm:cxn modelId="{C161000E-0E96-49FF-A94B-07D7F4768A4F}" type="presOf" srcId="{9FFEEBAF-EE56-41E6-B28E-BECD08279D3C}" destId="{A50518E2-E8D8-4948-B959-DB47EB3A8A15}" srcOrd="0" destOrd="0" presId="urn:microsoft.com/office/officeart/2008/layout/LinedList"/>
    <dgm:cxn modelId="{0BE56111-8786-408C-BEFB-ACE707496323}" type="presOf" srcId="{0BBB335C-72E1-4903-9952-77A81AAB57F3}" destId="{F5A8C6B6-B4C1-4A37-A37B-2C74FA9CAAA8}" srcOrd="0" destOrd="0" presId="urn:microsoft.com/office/officeart/2008/layout/LinedList"/>
    <dgm:cxn modelId="{54AC361A-0730-4AAA-A21B-BE7DCF8F8607}" srcId="{113AC19B-4B38-4587-96D1-D249DB091B38}" destId="{4FEFF288-F286-43B3-89CA-34B2BE4F2422}" srcOrd="2" destOrd="0" parTransId="{C162A3C7-7A80-45A4-9A52-6D11F10D2708}" sibTransId="{785A6C1F-50CA-4E8F-81F1-3EA6C2999AC6}"/>
    <dgm:cxn modelId="{473E6735-632C-4FB0-9B6C-C0C7F6808F24}" srcId="{113AC19B-4B38-4587-96D1-D249DB091B38}" destId="{837DC228-67E5-43F1-9BB8-7446870509AB}" srcOrd="5" destOrd="0" parTransId="{F99D2C56-256E-41BE-AB8E-48061CDD4614}" sibTransId="{D5E89E5B-DEA7-45BC-A47A-4439E51EEEA5}"/>
    <dgm:cxn modelId="{97DC384D-680F-488F-B851-B9D3DC6504F4}" type="presOf" srcId="{837DC228-67E5-43F1-9BB8-7446870509AB}" destId="{FBA7AA6D-2C95-4EDB-A7F3-344B55D74631}" srcOrd="0" destOrd="0" presId="urn:microsoft.com/office/officeart/2008/layout/LinedList"/>
    <dgm:cxn modelId="{6212B96E-2ED7-4F77-A64F-C4527A2F91D6}" type="presOf" srcId="{9636D35B-0605-4BF5-8F04-D067C569369B}" destId="{20DF6F96-F30A-41BD-9D1A-0C16D6AC0A76}" srcOrd="0" destOrd="0" presId="urn:microsoft.com/office/officeart/2008/layout/LinedList"/>
    <dgm:cxn modelId="{495FD252-FC8E-460C-A054-A3C8B54C2065}" type="presOf" srcId="{E9F9322B-A633-4692-AB76-1431AB2B0DEB}" destId="{A6C63A82-4F30-47DB-9427-A7898E01882C}" srcOrd="0" destOrd="0" presId="urn:microsoft.com/office/officeart/2008/layout/LinedList"/>
    <dgm:cxn modelId="{E897317B-6E62-43BC-A1C6-E964D1FC0288}" srcId="{113AC19B-4B38-4587-96D1-D249DB091B38}" destId="{9636D35B-0605-4BF5-8F04-D067C569369B}" srcOrd="6" destOrd="0" parTransId="{E10D4B5B-4012-4021-8FFB-6B6220591FB7}" sibTransId="{EB967D28-1E50-4915-A2F6-03FA3C99359D}"/>
    <dgm:cxn modelId="{C593AE9B-DDF0-41B5-B862-366CA4D58DD1}" type="presOf" srcId="{113AC19B-4B38-4587-96D1-D249DB091B38}" destId="{9BC050A7-3BBD-4294-9E83-52B6A2C39FB6}" srcOrd="0" destOrd="0" presId="urn:microsoft.com/office/officeart/2008/layout/LinedList"/>
    <dgm:cxn modelId="{F8CD29A7-A248-497A-9265-4BC130D91AAF}" srcId="{113AC19B-4B38-4587-96D1-D249DB091B38}" destId="{E9F9322B-A633-4692-AB76-1431AB2B0DEB}" srcOrd="0" destOrd="0" parTransId="{4C0D14B5-EAB9-40EE-B8F7-F0DC32E17AE9}" sibTransId="{6E824C26-D6E4-41ED-9C17-E2AAB3A14C09}"/>
    <dgm:cxn modelId="{3D9317B5-2E67-4096-B031-4287E6EC278F}" srcId="{113AC19B-4B38-4587-96D1-D249DB091B38}" destId="{87874208-F86C-4E5A-81C6-AA109AFC3254}" srcOrd="4" destOrd="0" parTransId="{7D8EC6F3-8FB9-42E9-ADAA-FA11E38AB7AA}" sibTransId="{4DC2D5CB-DEA0-44E4-B7A1-952CF973190D}"/>
    <dgm:cxn modelId="{F57748B5-50FE-4DC6-8965-B9641D232AF7}" type="presOf" srcId="{87874208-F86C-4E5A-81C6-AA109AFC3254}" destId="{26D46700-E168-4A05-AFC9-B42A70B25FF1}" srcOrd="0" destOrd="0" presId="urn:microsoft.com/office/officeart/2008/layout/LinedList"/>
    <dgm:cxn modelId="{AE9EDEB9-99F2-4261-B5D6-30EBBDF2BF9F}" srcId="{113AC19B-4B38-4587-96D1-D249DB091B38}" destId="{9FFEEBAF-EE56-41E6-B28E-BECD08279D3C}" srcOrd="3" destOrd="0" parTransId="{5D45F6C1-005A-43C9-B17E-62C55255A56D}" sibTransId="{4EE4AC1D-A05B-40CE-8A54-C96CB046EAB2}"/>
    <dgm:cxn modelId="{2FC58EEE-DC6B-4FD5-96FF-B866321DC90A}" srcId="{113AC19B-4B38-4587-96D1-D249DB091B38}" destId="{0BBB335C-72E1-4903-9952-77A81AAB57F3}" srcOrd="1" destOrd="0" parTransId="{5BA7EEF3-3481-4F3F-A9FF-6E438C22C317}" sibTransId="{5E5BFE03-77CA-4FC3-832D-11F69BF791D9}"/>
    <dgm:cxn modelId="{AACC57F9-F3B7-4F45-BC40-82C4315FDC8D}" type="presOf" srcId="{4FEFF288-F286-43B3-89CA-34B2BE4F2422}" destId="{D1BD1CB4-5C79-4BA4-A7B9-04CCBD839359}" srcOrd="0" destOrd="0" presId="urn:microsoft.com/office/officeart/2008/layout/LinedList"/>
    <dgm:cxn modelId="{02154876-2C73-4F74-B894-26A47821ADD4}" type="presParOf" srcId="{9BC050A7-3BBD-4294-9E83-52B6A2C39FB6}" destId="{FEEDB4D0-A9A2-4855-BEE1-025BBE7ADA12}" srcOrd="0" destOrd="0" presId="urn:microsoft.com/office/officeart/2008/layout/LinedList"/>
    <dgm:cxn modelId="{C1B62EBB-2D47-4308-8C39-99ADD88CB3B4}" type="presParOf" srcId="{9BC050A7-3BBD-4294-9E83-52B6A2C39FB6}" destId="{29146C99-837D-40F3-AC8C-B8483FCD1C47}" srcOrd="1" destOrd="0" presId="urn:microsoft.com/office/officeart/2008/layout/LinedList"/>
    <dgm:cxn modelId="{19B1451B-23EE-4A8D-8167-7E509EF28499}" type="presParOf" srcId="{29146C99-837D-40F3-AC8C-B8483FCD1C47}" destId="{A6C63A82-4F30-47DB-9427-A7898E01882C}" srcOrd="0" destOrd="0" presId="urn:microsoft.com/office/officeart/2008/layout/LinedList"/>
    <dgm:cxn modelId="{F59708B5-1980-43C1-91E6-C2FB9B10569C}" type="presParOf" srcId="{29146C99-837D-40F3-AC8C-B8483FCD1C47}" destId="{8BE96F0C-9EE2-4B41-B4FA-A4C469F1D92F}" srcOrd="1" destOrd="0" presId="urn:microsoft.com/office/officeart/2008/layout/LinedList"/>
    <dgm:cxn modelId="{805E80F8-0861-4F2A-81CA-68D21AE73712}" type="presParOf" srcId="{9BC050A7-3BBD-4294-9E83-52B6A2C39FB6}" destId="{52E773FE-8212-4E52-9563-F15BB264E16C}" srcOrd="2" destOrd="0" presId="urn:microsoft.com/office/officeart/2008/layout/LinedList"/>
    <dgm:cxn modelId="{CF54501C-76E5-4B0A-B767-B131BFF60F35}" type="presParOf" srcId="{9BC050A7-3BBD-4294-9E83-52B6A2C39FB6}" destId="{DBFEB7AC-6AF9-4CEC-9F4A-B396F0522A96}" srcOrd="3" destOrd="0" presId="urn:microsoft.com/office/officeart/2008/layout/LinedList"/>
    <dgm:cxn modelId="{3DAF306F-5D0C-4D04-97D1-408396B47FF4}" type="presParOf" srcId="{DBFEB7AC-6AF9-4CEC-9F4A-B396F0522A96}" destId="{F5A8C6B6-B4C1-4A37-A37B-2C74FA9CAAA8}" srcOrd="0" destOrd="0" presId="urn:microsoft.com/office/officeart/2008/layout/LinedList"/>
    <dgm:cxn modelId="{52DCF01F-2B79-474B-BA7D-09F13B0F73BB}" type="presParOf" srcId="{DBFEB7AC-6AF9-4CEC-9F4A-B396F0522A96}" destId="{1F871B73-3189-450E-AFC3-5FCEA03C5BD5}" srcOrd="1" destOrd="0" presId="urn:microsoft.com/office/officeart/2008/layout/LinedList"/>
    <dgm:cxn modelId="{FEB3894E-B92B-489A-8C70-CAF2DDCC2264}" type="presParOf" srcId="{9BC050A7-3BBD-4294-9E83-52B6A2C39FB6}" destId="{3EC4CFB3-5D39-43D5-859B-E3C6BD52DA81}" srcOrd="4" destOrd="0" presId="urn:microsoft.com/office/officeart/2008/layout/LinedList"/>
    <dgm:cxn modelId="{F23859D6-4A05-4754-ABE9-7D508547C05E}" type="presParOf" srcId="{9BC050A7-3BBD-4294-9E83-52B6A2C39FB6}" destId="{1ACC5401-7C2D-48E3-825B-0ECAF820BD5D}" srcOrd="5" destOrd="0" presId="urn:microsoft.com/office/officeart/2008/layout/LinedList"/>
    <dgm:cxn modelId="{6F22ECC4-9311-4051-B001-0566A345B192}" type="presParOf" srcId="{1ACC5401-7C2D-48E3-825B-0ECAF820BD5D}" destId="{D1BD1CB4-5C79-4BA4-A7B9-04CCBD839359}" srcOrd="0" destOrd="0" presId="urn:microsoft.com/office/officeart/2008/layout/LinedList"/>
    <dgm:cxn modelId="{763464ED-7D92-4B49-81C6-B1CE9845026A}" type="presParOf" srcId="{1ACC5401-7C2D-48E3-825B-0ECAF820BD5D}" destId="{E3FF20EF-6A8E-4860-8350-FEC4C2BD5B19}" srcOrd="1" destOrd="0" presId="urn:microsoft.com/office/officeart/2008/layout/LinedList"/>
    <dgm:cxn modelId="{0275215C-42C1-4D09-8104-5ED7466DCF4F}" type="presParOf" srcId="{9BC050A7-3BBD-4294-9E83-52B6A2C39FB6}" destId="{015E0504-F3AF-4765-B7FB-2E01DB444B1A}" srcOrd="6" destOrd="0" presId="urn:microsoft.com/office/officeart/2008/layout/LinedList"/>
    <dgm:cxn modelId="{2622DFA1-5C6A-48DC-AC53-E909604E18AF}" type="presParOf" srcId="{9BC050A7-3BBD-4294-9E83-52B6A2C39FB6}" destId="{17F1492E-4D4C-4030-BA30-1A18B53E0EF7}" srcOrd="7" destOrd="0" presId="urn:microsoft.com/office/officeart/2008/layout/LinedList"/>
    <dgm:cxn modelId="{796A1165-B09D-4C41-B3FA-5B4ADA53345A}" type="presParOf" srcId="{17F1492E-4D4C-4030-BA30-1A18B53E0EF7}" destId="{A50518E2-E8D8-4948-B959-DB47EB3A8A15}" srcOrd="0" destOrd="0" presId="urn:microsoft.com/office/officeart/2008/layout/LinedList"/>
    <dgm:cxn modelId="{71E288D7-882A-4B69-BDF7-4B8513FEC6C4}" type="presParOf" srcId="{17F1492E-4D4C-4030-BA30-1A18B53E0EF7}" destId="{3BE720F8-E5AC-4B74-9322-7A4617CD93A4}" srcOrd="1" destOrd="0" presId="urn:microsoft.com/office/officeart/2008/layout/LinedList"/>
    <dgm:cxn modelId="{B9101529-DFB7-472E-B658-420E13033BB9}" type="presParOf" srcId="{9BC050A7-3BBD-4294-9E83-52B6A2C39FB6}" destId="{9FDE525C-E7BF-4F99-AA64-28B32B30218C}" srcOrd="8" destOrd="0" presId="urn:microsoft.com/office/officeart/2008/layout/LinedList"/>
    <dgm:cxn modelId="{3E3F2ED4-8173-4F7C-9183-3D8E5B3965E6}" type="presParOf" srcId="{9BC050A7-3BBD-4294-9E83-52B6A2C39FB6}" destId="{8E499ED5-5E54-4809-B751-98706352C8F5}" srcOrd="9" destOrd="0" presId="urn:microsoft.com/office/officeart/2008/layout/LinedList"/>
    <dgm:cxn modelId="{33446613-B2CD-450E-83EE-C35783A837F5}" type="presParOf" srcId="{8E499ED5-5E54-4809-B751-98706352C8F5}" destId="{26D46700-E168-4A05-AFC9-B42A70B25FF1}" srcOrd="0" destOrd="0" presId="urn:microsoft.com/office/officeart/2008/layout/LinedList"/>
    <dgm:cxn modelId="{FA7F1632-8D15-4859-B199-77F7D51A595A}" type="presParOf" srcId="{8E499ED5-5E54-4809-B751-98706352C8F5}" destId="{4EFCB938-B36B-4533-A03F-C5659722011F}" srcOrd="1" destOrd="0" presId="urn:microsoft.com/office/officeart/2008/layout/LinedList"/>
    <dgm:cxn modelId="{3644D6D9-2EE4-45FA-ADB7-8A253F695B98}" type="presParOf" srcId="{9BC050A7-3BBD-4294-9E83-52B6A2C39FB6}" destId="{BDA0AFA5-FB08-42E4-97A8-8AD51B57A57B}" srcOrd="10" destOrd="0" presId="urn:microsoft.com/office/officeart/2008/layout/LinedList"/>
    <dgm:cxn modelId="{DBA8C732-AC35-4E58-87E7-C830FE15ADB9}" type="presParOf" srcId="{9BC050A7-3BBD-4294-9E83-52B6A2C39FB6}" destId="{D3686675-6778-48E6-9602-9CF186BFAE62}" srcOrd="11" destOrd="0" presId="urn:microsoft.com/office/officeart/2008/layout/LinedList"/>
    <dgm:cxn modelId="{2CE00079-B1BA-4E7A-AE41-3A4142BD2B45}" type="presParOf" srcId="{D3686675-6778-48E6-9602-9CF186BFAE62}" destId="{FBA7AA6D-2C95-4EDB-A7F3-344B55D74631}" srcOrd="0" destOrd="0" presId="urn:microsoft.com/office/officeart/2008/layout/LinedList"/>
    <dgm:cxn modelId="{210174DD-37B5-4487-BFB5-3347C7383AFD}" type="presParOf" srcId="{D3686675-6778-48E6-9602-9CF186BFAE62}" destId="{8E665455-DBBA-43B5-82E3-0E9D80477657}" srcOrd="1" destOrd="0" presId="urn:microsoft.com/office/officeart/2008/layout/LinedList"/>
    <dgm:cxn modelId="{5708DD32-2C90-4057-9ED9-68762ED1378A}" type="presParOf" srcId="{9BC050A7-3BBD-4294-9E83-52B6A2C39FB6}" destId="{71B81CD3-6F71-4761-A9E4-B2647E1A9454}" srcOrd="12" destOrd="0" presId="urn:microsoft.com/office/officeart/2008/layout/LinedList"/>
    <dgm:cxn modelId="{878275BC-95E9-4FEE-BD45-DD437BCB8DD4}" type="presParOf" srcId="{9BC050A7-3BBD-4294-9E83-52B6A2C39FB6}" destId="{A83452AF-0753-426F-AC18-55DA340FE4EA}" srcOrd="13" destOrd="0" presId="urn:microsoft.com/office/officeart/2008/layout/LinedList"/>
    <dgm:cxn modelId="{A851C6A5-9A02-4846-BA74-7FC0851213A8}" type="presParOf" srcId="{A83452AF-0753-426F-AC18-55DA340FE4EA}" destId="{20DF6F96-F30A-41BD-9D1A-0C16D6AC0A76}" srcOrd="0" destOrd="0" presId="urn:microsoft.com/office/officeart/2008/layout/LinedList"/>
    <dgm:cxn modelId="{0CF10888-2E3D-45A9-971A-BD383659BAB4}" type="presParOf" srcId="{A83452AF-0753-426F-AC18-55DA340FE4EA}" destId="{83148141-05A7-4F23-8A98-6B20850AB41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B6420-2641-4498-A285-6B52A7784D93}">
      <dsp:nvSpPr>
        <dsp:cNvPr id="0" name=""/>
        <dsp:cNvSpPr/>
      </dsp:nvSpPr>
      <dsp:spPr>
        <a:xfrm>
          <a:off x="0" y="675"/>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B7A302-4949-463E-A19D-4283883347F4}">
      <dsp:nvSpPr>
        <dsp:cNvPr id="0" name=""/>
        <dsp:cNvSpPr/>
      </dsp:nvSpPr>
      <dsp:spPr>
        <a:xfrm>
          <a:off x="0" y="675"/>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Threes-story healthcare institution with 7 clinical departments [9].</a:t>
          </a:r>
        </a:p>
      </dsp:txBody>
      <dsp:txXfrm>
        <a:off x="0" y="675"/>
        <a:ext cx="6900512" cy="1106957"/>
      </dsp:txXfrm>
    </dsp:sp>
    <dsp:sp modelId="{B804466E-C0DE-4B95-A4B3-5B6B1077CAD6}">
      <dsp:nvSpPr>
        <dsp:cNvPr id="0" name=""/>
        <dsp:cNvSpPr/>
      </dsp:nvSpPr>
      <dsp:spPr>
        <a:xfrm>
          <a:off x="0" y="1107633"/>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030724-3532-4F71-8984-309BC6B31E11}">
      <dsp:nvSpPr>
        <dsp:cNvPr id="0" name=""/>
        <dsp:cNvSpPr/>
      </dsp:nvSpPr>
      <dsp:spPr>
        <a:xfrm>
          <a:off x="0" y="110763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Veteran infrastructure, which creates bottlenecks in its operations [2].</a:t>
          </a:r>
        </a:p>
      </dsp:txBody>
      <dsp:txXfrm>
        <a:off x="0" y="1107633"/>
        <a:ext cx="6900512" cy="1106957"/>
      </dsp:txXfrm>
    </dsp:sp>
    <dsp:sp modelId="{728F34D3-FD3D-486B-9287-1D33A036B9CA}">
      <dsp:nvSpPr>
        <dsp:cNvPr id="0" name=""/>
        <dsp:cNvSpPr/>
      </dsp:nvSpPr>
      <dsp:spPr>
        <a:xfrm>
          <a:off x="0" y="2214591"/>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3D3F7-88D9-4B60-84A9-3F9654AA2840}">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Assess the performance of hardware and determine what needs modernization.</a:t>
          </a:r>
        </a:p>
      </dsp:txBody>
      <dsp:txXfrm>
        <a:off x="0" y="2214591"/>
        <a:ext cx="6900512" cy="1106957"/>
      </dsp:txXfrm>
    </dsp:sp>
    <dsp:sp modelId="{34991F95-DD56-4234-830E-868D64136FED}">
      <dsp:nvSpPr>
        <dsp:cNvPr id="0" name=""/>
        <dsp:cNvSpPr/>
      </dsp:nvSpPr>
      <dsp:spPr>
        <a:xfrm>
          <a:off x="0" y="3321549"/>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8AA54C-598F-4AEF-B1F2-58413D66A9AB}">
      <dsp:nvSpPr>
        <dsp:cNvPr id="0" name=""/>
        <dsp:cNvSpPr/>
      </dsp:nvSpPr>
      <dsp:spPr>
        <a:xfrm>
          <a:off x="0" y="332154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Secure and scalable design network to support clinical workflows.</a:t>
          </a:r>
        </a:p>
      </dsp:txBody>
      <dsp:txXfrm>
        <a:off x="0" y="3321549"/>
        <a:ext cx="6900512" cy="1106957"/>
      </dsp:txXfrm>
    </dsp:sp>
    <dsp:sp modelId="{1FA9764F-3926-4070-85C0-50AC08E4D15C}">
      <dsp:nvSpPr>
        <dsp:cNvPr id="0" name=""/>
        <dsp:cNvSpPr/>
      </dsp:nvSpPr>
      <dsp:spPr>
        <a:xfrm>
          <a:off x="0" y="4428507"/>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B8AC39-D575-48EA-9A90-1CD1EA2CFCBB}">
      <dsp:nvSpPr>
        <dsp:cNvPr id="0" name=""/>
        <dsp:cNvSpPr/>
      </dsp:nvSpPr>
      <dsp:spPr>
        <a:xfrm>
          <a:off x="0" y="4428507"/>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Provide the evidence-based recommendations consistent with the needs of healthcare.</a:t>
          </a:r>
        </a:p>
      </dsp:txBody>
      <dsp:txXfrm>
        <a:off x="0" y="4428507"/>
        <a:ext cx="6900512" cy="1106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8C1786-BB7B-4A31-A598-94C132AC1FB0}">
      <dsp:nvSpPr>
        <dsp:cNvPr id="0" name=""/>
        <dsp:cNvSpPr/>
      </dsp:nvSpPr>
      <dsp:spPr>
        <a:xfrm>
          <a:off x="3201" y="445489"/>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Novabench score 408, 69 percent below base line [3].</a:t>
          </a:r>
        </a:p>
      </dsp:txBody>
      <dsp:txXfrm>
        <a:off x="3201" y="445489"/>
        <a:ext cx="2539866" cy="1523919"/>
      </dsp:txXfrm>
    </dsp:sp>
    <dsp:sp modelId="{189ACD6B-B6CC-4E92-8929-449DFB50BE6F}">
      <dsp:nvSpPr>
        <dsp:cNvPr id="0" name=""/>
        <dsp:cNvSpPr/>
      </dsp:nvSpPr>
      <dsp:spPr>
        <a:xfrm>
          <a:off x="2797054" y="445489"/>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Tripled slower than reference clinical workstation [4].</a:t>
          </a:r>
        </a:p>
      </dsp:txBody>
      <dsp:txXfrm>
        <a:off x="2797054" y="445489"/>
        <a:ext cx="2539866" cy="1523919"/>
      </dsp:txXfrm>
    </dsp:sp>
    <dsp:sp modelId="{FA5A121F-B369-4C77-9F06-F7BBFF43EF4B}">
      <dsp:nvSpPr>
        <dsp:cNvPr id="0" name=""/>
        <dsp:cNvSpPr/>
      </dsp:nvSpPr>
      <dsp:spPr>
        <a:xfrm>
          <a:off x="5590907" y="445489"/>
          <a:ext cx="2539866" cy="1523919"/>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3.7 times slower than high performance macbook Pro.</a:t>
          </a:r>
        </a:p>
      </dsp:txBody>
      <dsp:txXfrm>
        <a:off x="5590907" y="445489"/>
        <a:ext cx="2539866" cy="1523919"/>
      </dsp:txXfrm>
    </dsp:sp>
    <dsp:sp modelId="{A5270EED-6705-4AFE-8692-CB4674158BCA}">
      <dsp:nvSpPr>
        <dsp:cNvPr id="0" name=""/>
        <dsp:cNvSpPr/>
      </dsp:nvSpPr>
      <dsp:spPr>
        <a:xfrm>
          <a:off x="8384760" y="445489"/>
          <a:ext cx="2539866" cy="1523919"/>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Execution time 0.3662s/ 0.10s target.</a:t>
          </a:r>
        </a:p>
      </dsp:txBody>
      <dsp:txXfrm>
        <a:off x="8384760" y="445489"/>
        <a:ext cx="2539866" cy="1523919"/>
      </dsp:txXfrm>
    </dsp:sp>
    <dsp:sp modelId="{B99D59F7-93EF-4887-A2D0-46DE695318AB}">
      <dsp:nvSpPr>
        <dsp:cNvPr id="0" name=""/>
        <dsp:cNvSpPr/>
      </dsp:nvSpPr>
      <dsp:spPr>
        <a:xfrm>
          <a:off x="1400128" y="2223395"/>
          <a:ext cx="2539866" cy="1523919"/>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Probably the hardware is degrading or harshly thermal throttling [7].</a:t>
          </a:r>
        </a:p>
      </dsp:txBody>
      <dsp:txXfrm>
        <a:off x="1400128" y="2223395"/>
        <a:ext cx="2539866" cy="1523919"/>
      </dsp:txXfrm>
    </dsp:sp>
    <dsp:sp modelId="{E8C72F1E-2DD4-4266-B737-C5CD439FC36A}">
      <dsp:nvSpPr>
        <dsp:cNvPr id="0" name=""/>
        <dsp:cNvSpPr/>
      </dsp:nvSpPr>
      <dsp:spPr>
        <a:xfrm>
          <a:off x="4193981" y="2223395"/>
          <a:ext cx="2539866" cy="15239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Potential bottleneck with HDD, malware or misidentified CPU.</a:t>
          </a:r>
        </a:p>
      </dsp:txBody>
      <dsp:txXfrm>
        <a:off x="4193981" y="2223395"/>
        <a:ext cx="2539866" cy="1523919"/>
      </dsp:txXfrm>
    </dsp:sp>
    <dsp:sp modelId="{C55F043F-15AD-4206-9052-33968E36EC64}">
      <dsp:nvSpPr>
        <dsp:cNvPr id="0" name=""/>
        <dsp:cNvSpPr/>
      </dsp:nvSpPr>
      <dsp:spPr>
        <a:xfrm>
          <a:off x="6987834" y="2223395"/>
          <a:ext cx="2539866" cy="152391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 clinical liability; not eligible in any job in the department.</a:t>
          </a:r>
        </a:p>
      </dsp:txBody>
      <dsp:txXfrm>
        <a:off x="6987834" y="2223395"/>
        <a:ext cx="2539866" cy="15239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EDB4D0-A9A2-4855-BEE1-025BBE7ADA12}">
      <dsp:nvSpPr>
        <dsp:cNvPr id="0" name=""/>
        <dsp:cNvSpPr/>
      </dsp:nvSpPr>
      <dsp:spPr>
        <a:xfrm>
          <a:off x="0" y="675"/>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C63A82-4F30-47DB-9427-A7898E01882C}">
      <dsp:nvSpPr>
        <dsp:cNvPr id="0" name=""/>
        <dsp:cNvSpPr/>
      </dsp:nvSpPr>
      <dsp:spPr>
        <a:xfrm>
          <a:off x="0" y="675"/>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Radiology: MacBook Pro (0.10s) - quickest DICOM system of rendering [4].</a:t>
          </a:r>
        </a:p>
      </dsp:txBody>
      <dsp:txXfrm>
        <a:off x="0" y="675"/>
        <a:ext cx="6900512" cy="790684"/>
      </dsp:txXfrm>
    </dsp:sp>
    <dsp:sp modelId="{52E773FE-8212-4E52-9563-F15BB264E16C}">
      <dsp:nvSpPr>
        <dsp:cNvPr id="0" name=""/>
        <dsp:cNvSpPr/>
      </dsp:nvSpPr>
      <dsp:spPr>
        <a:xfrm>
          <a:off x="0" y="791359"/>
          <a:ext cx="6900512" cy="0"/>
        </a:xfrm>
        <a:prstGeom prst="line">
          <a:avLst/>
        </a:prstGeom>
        <a:solidFill>
          <a:schemeClr val="accent2">
            <a:hueOff val="1073936"/>
            <a:satOff val="-3082"/>
            <a:lumOff val="-4935"/>
            <a:alphaOff val="0"/>
          </a:schemeClr>
        </a:solidFill>
        <a:ln w="19050" cap="flat" cmpd="sng" algn="ctr">
          <a:solidFill>
            <a:schemeClr val="accent2">
              <a:hueOff val="1073936"/>
              <a:satOff val="-3082"/>
              <a:lumOff val="-49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A8C6B6-B4C1-4A37-A37B-2C74FA9CAAA8}">
      <dsp:nvSpPr>
        <dsp:cNvPr id="0" name=""/>
        <dsp:cNvSpPr/>
      </dsp:nvSpPr>
      <dsp:spPr>
        <a:xfrm>
          <a:off x="0" y="791359"/>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Emergency: real time patient data reliability- ASUS ZenBook Duo (0.1094s) - ASUS ZenBook Duo [9].</a:t>
          </a:r>
        </a:p>
      </dsp:txBody>
      <dsp:txXfrm>
        <a:off x="0" y="791359"/>
        <a:ext cx="6900512" cy="790684"/>
      </dsp:txXfrm>
    </dsp:sp>
    <dsp:sp modelId="{3EC4CFB3-5D39-43D5-859B-E3C6BD52DA81}">
      <dsp:nvSpPr>
        <dsp:cNvPr id="0" name=""/>
        <dsp:cNvSpPr/>
      </dsp:nvSpPr>
      <dsp:spPr>
        <a:xfrm>
          <a:off x="0" y="1582044"/>
          <a:ext cx="6900512" cy="0"/>
        </a:xfrm>
        <a:prstGeom prst="lin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D1CB4-5C79-4BA4-A7B9-04CCBD839359}">
      <dsp:nvSpPr>
        <dsp:cNvPr id="0" name=""/>
        <dsp:cNvSpPr/>
      </dsp:nvSpPr>
      <dsp:spPr>
        <a:xfrm>
          <a:off x="0" y="1582044"/>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Laboratory: ASUS ZenBook 14 Unit 1 (0.1092s) - fast LIS turnaround.</a:t>
          </a:r>
        </a:p>
      </dsp:txBody>
      <dsp:txXfrm>
        <a:off x="0" y="1582044"/>
        <a:ext cx="6900512" cy="790684"/>
      </dsp:txXfrm>
    </dsp:sp>
    <dsp:sp modelId="{015E0504-F3AF-4765-B7FB-2E01DB444B1A}">
      <dsp:nvSpPr>
        <dsp:cNvPr id="0" name=""/>
        <dsp:cNvSpPr/>
      </dsp:nvSpPr>
      <dsp:spPr>
        <a:xfrm>
          <a:off x="0" y="2372728"/>
          <a:ext cx="6900512"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0518E2-E8D8-4948-B959-DB47EB3A8A15}">
      <dsp:nvSpPr>
        <dsp:cNvPr id="0" name=""/>
        <dsp:cNvSpPr/>
      </dsp:nvSpPr>
      <dsp:spPr>
        <a:xfrm>
          <a:off x="0" y="2372728"/>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Pharmacy: ASUS zenbook 14 U1 0.1092s - drug verification response time.</a:t>
          </a:r>
        </a:p>
      </dsp:txBody>
      <dsp:txXfrm>
        <a:off x="0" y="2372728"/>
        <a:ext cx="6900512" cy="790684"/>
      </dsp:txXfrm>
    </dsp:sp>
    <dsp:sp modelId="{9FDE525C-E7BF-4F99-AA64-28B32B30218C}">
      <dsp:nvSpPr>
        <dsp:cNvPr id="0" name=""/>
        <dsp:cNvSpPr/>
      </dsp:nvSpPr>
      <dsp:spPr>
        <a:xfrm>
          <a:off x="0" y="3163412"/>
          <a:ext cx="6900512" cy="0"/>
        </a:xfrm>
        <a:prstGeom prst="lin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D46700-E168-4A05-AFC9-B42A70B25FF1}">
      <dsp:nvSpPr>
        <dsp:cNvPr id="0" name=""/>
        <dsp:cNvSpPr/>
      </dsp:nvSpPr>
      <dsp:spPr>
        <a:xfrm>
          <a:off x="0" y="3163412"/>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Outpatient: Yoga 7 (0.1111s) Lenovo - standard EHR functions [1].</a:t>
          </a:r>
        </a:p>
      </dsp:txBody>
      <dsp:txXfrm>
        <a:off x="0" y="3163412"/>
        <a:ext cx="6900512" cy="790684"/>
      </dsp:txXfrm>
    </dsp:sp>
    <dsp:sp modelId="{BDA0AFA5-FB08-42E4-97A8-8AD51B57A57B}">
      <dsp:nvSpPr>
        <dsp:cNvPr id="0" name=""/>
        <dsp:cNvSpPr/>
      </dsp:nvSpPr>
      <dsp:spPr>
        <a:xfrm>
          <a:off x="0" y="3954096"/>
          <a:ext cx="6900512" cy="0"/>
        </a:xfrm>
        <a:prstGeom prst="line">
          <a:avLst/>
        </a:prstGeom>
        <a:solidFill>
          <a:schemeClr val="accent2">
            <a:hueOff val="5369678"/>
            <a:satOff val="-15411"/>
            <a:lumOff val="-24674"/>
            <a:alphaOff val="0"/>
          </a:schemeClr>
        </a:solidFill>
        <a:ln w="19050" cap="flat" cmpd="sng" algn="ctr">
          <a:solidFill>
            <a:schemeClr val="accent2">
              <a:hueOff val="5369678"/>
              <a:satOff val="-15411"/>
              <a:lumOff val="-2467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A7AA6D-2C95-4EDB-A7F3-344B55D74631}">
      <dsp:nvSpPr>
        <dsp:cNvPr id="0" name=""/>
        <dsp:cNvSpPr/>
      </dsp:nvSpPr>
      <dsp:spPr>
        <a:xfrm>
          <a:off x="0" y="3954096"/>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Management: MSI 9th Gen (0.1356s) - non-office work that is not important.</a:t>
          </a:r>
        </a:p>
      </dsp:txBody>
      <dsp:txXfrm>
        <a:off x="0" y="3954096"/>
        <a:ext cx="6900512" cy="790684"/>
      </dsp:txXfrm>
    </dsp:sp>
    <dsp:sp modelId="{71B81CD3-6F71-4761-A9E4-B2647E1A9454}">
      <dsp:nvSpPr>
        <dsp:cNvPr id="0" name=""/>
        <dsp:cNvSpPr/>
      </dsp:nvSpPr>
      <dsp:spPr>
        <a:xfrm>
          <a:off x="0" y="4744781"/>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DF6F96-F30A-41BD-9D1A-0C16D6AC0A76}">
      <dsp:nvSpPr>
        <dsp:cNvPr id="0" name=""/>
        <dsp:cNvSpPr/>
      </dsp:nvSpPr>
      <dsp:spPr>
        <a:xfrm>
          <a:off x="0" y="4744781"/>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Backup: Lenovo Ideapad (0.1249s) - back-up emergency cover.</a:t>
          </a:r>
        </a:p>
      </dsp:txBody>
      <dsp:txXfrm>
        <a:off x="0" y="4744781"/>
        <a:ext cx="6900512" cy="79068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AFF9F-B0F2-4BD3-BF96-85137C877D4D}" type="datetimeFigureOut">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6D37F-390F-4CC8-AA93-2CCD96483DE1}" type="slidenum">
              <a:t>‹#›</a:t>
            </a:fld>
            <a:endParaRPr lang="en-US"/>
          </a:p>
        </p:txBody>
      </p:sp>
    </p:spTree>
    <p:extLst>
      <p:ext uri="{BB962C8B-B14F-4D97-AF65-F5344CB8AC3E}">
        <p14:creationId xmlns:p14="http://schemas.microsoft.com/office/powerpoint/2010/main" val="949116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City Health Clinic is a multi-departmental healthcare organization comprising of three stories and seven different operating departments with varying computational requirements and levels of urgency. This IT infrastructure that the clinic is currently using is highly heterogeneous, and it is typified by the availability of old systems that coexist with new hardware and led to operational inefficiency and performance bottlenecks directly affecting clinical processes. These infrastructural shortages are evident in the sluggish access to patient records, slowness in rendering diagnostic images, and broken workflow in administration that impairs efficiency in the operations [1], [3]. The evaluation of these systemic issues is contained in the rigorous and evidence-based evaluation framework that involves four coordinated analyses including: hardware performance benchmarking based on synthetic metrics as well as algorithmic simulation [4], detection of parallelization to improve throughput within the key departments [6], design of a secure and scalable network architecture and budgetary analysis in order to modernize it in a cost effective manner. The retrospective aim is to provide strategic, evidence-based practices that support the alignment of technological investment and clinical operations needs to provide security to patients, efficiency to the workflow and reliability to the IT infrastructure.</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E66D37F-390F-4CC8-AA93-2CCD96483DE1}" type="slidenum">
              <a:t>2</a:t>
            </a:fld>
            <a:endParaRPr lang="en-US"/>
          </a:p>
        </p:txBody>
      </p:sp>
    </p:spTree>
    <p:extLst>
      <p:ext uri="{BB962C8B-B14F-4D97-AF65-F5344CB8AC3E}">
        <p14:creationId xmlns:p14="http://schemas.microsoft.com/office/powerpoint/2010/main" val="2371908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benchmarking approach utilizes a two-layer profiling framework that is able to offer a broad range of hardware performance analysis based on the clinical operational requirement. The synthetic benchmarking element makes use of the </a:t>
            </a:r>
            <a:r>
              <a:rPr lang="en-US" dirty="0" err="1"/>
              <a:t>Novabench</a:t>
            </a:r>
            <a:r>
              <a:rPr lang="en-US" dirty="0"/>
              <a:t> CPU scoring which is an industry scores standard which is a composite score which takes into account the processor speed, cache performance, as well as the multi-core performance using the heterogeneous architectures [3]. In conjunction with this, an algorithmic simulation on the Sieve of Eratosthenes algorithm (N=100,000) exerts sustained computational load on the ALU and memory hierarchy or reflects the healthcare information system loads of the real world, such as patient record queries, appointment scheduling, and billing computations [6]. The reference baseline is set up with the execution with Intel Core i5 -10400F (1317 </a:t>
            </a:r>
            <a:r>
              <a:rPr lang="en-US" dirty="0" err="1"/>
              <a:t>Novabench</a:t>
            </a:r>
            <a:r>
              <a:rPr lang="en-US" dirty="0"/>
              <a:t> score, 0.1135 seconds execution time) as the base point against which to carry out comparative analysis [4]. This two-way methodology transcends the abstract benchmark measures and converts the raw performance data into workflow efficient and patient care timeframe directly corresponding clinically quantifiable latency measures in seconds [2]. The clinical relevance of the framework is its ability to determine which devices have computers with adequate capacity to facilitate real-time clinical processes without posing any dangerous operational delays at critical departments.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E66D37F-390F-4CC8-AA93-2CCD96483DE1}" type="slidenum">
              <a:t>3</a:t>
            </a:fld>
            <a:endParaRPr lang="en-US"/>
          </a:p>
        </p:txBody>
      </p:sp>
    </p:spTree>
    <p:extLst>
      <p:ext uri="{BB962C8B-B14F-4D97-AF65-F5344CB8AC3E}">
        <p14:creationId xmlns:p14="http://schemas.microsoft.com/office/powerpoint/2010/main" val="2185185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performance profiling of the entire ten clinic computing devices indicates rather significant performance stratification with the results showing continuum performance clustering into three distinct performance levels. The MacBook Pro, ASUS ZenBook Duo, and ASUS ZenBook 14 units and Lenovo Yoga 7 are Tier 1 premium systems with execution times of between 2 and 12 percent of the reference base with a latency of between 0.10 and 0.1111 seconds </a:t>
            </a:r>
            <a:r>
              <a:rPr lang="en-US" b="1" dirty="0"/>
              <a:t>[4]</a:t>
            </a:r>
            <a:r>
              <a:rPr lang="en-US" dirty="0"/>
              <a:t>. These systems have a high level of consistency and reliability that is appropriate in clinically challenging areas such as real-time patient monitoring, diagnostic imaging and laboratory information systems </a:t>
            </a:r>
            <a:r>
              <a:rPr lang="en-US" b="1" dirty="0"/>
              <a:t>[1]</a:t>
            </a:r>
            <a:r>
              <a:rPr lang="en-US" dirty="0"/>
              <a:t>. Tier 2 mid-range systems (including the MSI 9 </a:t>
            </a:r>
            <a:r>
              <a:rPr lang="en-US" dirty="0" err="1"/>
              <a:t>th</a:t>
            </a:r>
            <a:r>
              <a:rPr lang="en-US" dirty="0"/>
              <a:t> Generation and Lenovo </a:t>
            </a:r>
            <a:r>
              <a:rPr lang="en-US" dirty="0" err="1"/>
              <a:t>Ideapad</a:t>
            </a:r>
            <a:r>
              <a:rPr lang="en-US" dirty="0"/>
              <a:t>) have 9-16 percent performance loss over baseline, with computational tasks time 0.1249-0.1356 seconds—great in administrative tasks and non-critical office applications but poorer in clinical workflow </a:t>
            </a:r>
            <a:r>
              <a:rPr lang="en-US" b="1" dirty="0"/>
              <a:t>[2]</a:t>
            </a:r>
            <a:r>
              <a:rPr lang="en-US" dirty="0"/>
              <a:t>. Tier 3 legacy and unproductive systems such as the HP Envy transports, and the Microsoft Surface Pro have ten- to twenty-fold performance shortages of between 36-69 percent below baseline, and a maximum response time of 0.3662 seconds, comparatively making them unsuitable to use in clinical settings </a:t>
            </a:r>
            <a:r>
              <a:rPr lang="en-US" b="1" dirty="0"/>
              <a:t>[3]</a:t>
            </a:r>
            <a:r>
              <a:rPr lang="en-US" dirty="0"/>
              <a:t>. The strategic implication is intriguing: 70 percent of the clinic infrastructure is ready to deploy instantaneously, and the 30 percent urgently needs to retire and be substituted to allow the clinic to stay operational and not to put patients at risk of health complications.</a:t>
            </a:r>
          </a:p>
        </p:txBody>
      </p:sp>
      <p:sp>
        <p:nvSpPr>
          <p:cNvPr id="4" name="Slide Number Placeholder 3"/>
          <p:cNvSpPr>
            <a:spLocks noGrp="1"/>
          </p:cNvSpPr>
          <p:nvPr>
            <p:ph type="sldNum" sz="quarter" idx="5"/>
          </p:nvPr>
        </p:nvSpPr>
        <p:spPr/>
        <p:txBody>
          <a:bodyPr/>
          <a:lstStyle/>
          <a:p>
            <a:fld id="{0E66D37F-390F-4CC8-AA93-2CCD96483DE1}" type="slidenum">
              <a:t>4</a:t>
            </a:fld>
            <a:endParaRPr lang="en-US"/>
          </a:p>
        </p:txBody>
      </p:sp>
    </p:spTree>
    <p:extLst>
      <p:ext uri="{BB962C8B-B14F-4D97-AF65-F5344CB8AC3E}">
        <p14:creationId xmlns:p14="http://schemas.microsoft.com/office/powerpoint/2010/main" val="2394855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crippling of performance as witnessed in the HP Envy (11thGen), the performance </a:t>
            </a:r>
            <a:r>
              <a:rPr lang="en-US" dirty="0" err="1"/>
              <a:t>Novabench</a:t>
            </a:r>
            <a:r>
              <a:rPr lang="en-US" dirty="0"/>
              <a:t> scores 408, which is about 69 percent lower than the reference baseline [3]. It takes 0.3662 seconds to execute the benchmark task in latency, which is almost three times slower than the reference PC and three point seven times slower than the MacBook Pro, although classified as a modern-generation device [4]. This kind of a disproportionate underperformance is highly suggestive of a system flaw, such as possible CPU, RAM, or SSD degradation, long-term thermal throttling as a result of improper cooling, improperly configured storage, such as usage of an HDD as opposed to a SSD, resource contention caused by malware, or even improperly identified CPU [7]. This performance profile is intolerable in a clinical setting since it turns regular computational tasks into delay sources in time-bound workflows of emergency, radiology, and patient administration [1]. The device, therefore, is tactically categorized as inadmissible to any departmental deployment, and poses direct threat to the patient safety and allowable resilience.</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E66D37F-390F-4CC8-AA93-2CCD96483DE1}" type="slidenum">
              <a:t>5</a:t>
            </a:fld>
            <a:endParaRPr lang="en-US"/>
          </a:p>
        </p:txBody>
      </p:sp>
    </p:spTree>
    <p:extLst>
      <p:ext uri="{BB962C8B-B14F-4D97-AF65-F5344CB8AC3E}">
        <p14:creationId xmlns:p14="http://schemas.microsoft.com/office/powerpoint/2010/main" val="4148620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level of alignment between the characteristics of computational performances and operational criticality is necessary when a strategic allocation of computing resources between units of departments takes place [2]. The assignment model focuses on the clinical departments with the longest time-sensitivity, as the Radiology, Emergency, and Laboratory, in order to implement the Tier 1 premium system, to provide sub-110-millisecond latencies to the mission-critical processes [1]. The MacBook Pro (0.10s execution) which is the quickest system available is shipped to radiology where quick image DICOM image creation is required, and it must supply multiple users at the same time thereby supporting the diagnostic processes [4]. The ASUS ZenBook Duo (0.1094s) is assigned to Emergency Department and will make sure that very few cases of freezing will occur when it comes to the real-time patient admission and tracking of vital signs in which any delays under 200 milliseconds are going to negatively impact the patient outcome [9]. ASUS ZenBook 14 Unit 1 (0.1092s) goes to laboratory where it is used to track LIS samples and obtain results fast. The second ZenBook unit (0.1092s) is to be supplied to pharmacy to check drugs on the spot and screen contraindications. Outpatient Consultation has been assigned the Lenovo Yoga 7 (0.1111s) to make standard EHR insertion and appointment, the activities that are not as time-constrained as emergency operations. The MSI 9th Generation system (0.1356s) is offered to administrative purposes, with its performance difference of 16 percent being sufficient in spreadsheets, billing, and payroll. </a:t>
            </a:r>
            <a:r>
              <a:rPr lang="en-US" dirty="0" err="1"/>
              <a:t>Ideapad</a:t>
            </a:r>
            <a:r>
              <a:rPr lang="en-US" dirty="0"/>
              <a:t> (0.1249s) of Lenovo is the emergency backup to facilitate a fast failover deployment. Such </a:t>
            </a:r>
            <a:r>
              <a:rPr lang="en-US" dirty="0" err="1"/>
              <a:t>sectoration</a:t>
            </a:r>
            <a:r>
              <a:rPr lang="en-US" dirty="0"/>
              <a:t> approach guarantees the safety of the patient in that hardware performance is adjusted to departmental risk profile as well as operational requirements.</a:t>
            </a:r>
          </a:p>
        </p:txBody>
      </p:sp>
      <p:sp>
        <p:nvSpPr>
          <p:cNvPr id="4" name="Slide Number Placeholder 3"/>
          <p:cNvSpPr>
            <a:spLocks noGrp="1"/>
          </p:cNvSpPr>
          <p:nvPr>
            <p:ph type="sldNum" sz="quarter" idx="5"/>
          </p:nvPr>
        </p:nvSpPr>
        <p:spPr/>
        <p:txBody>
          <a:bodyPr/>
          <a:lstStyle/>
          <a:p>
            <a:fld id="{0E66D37F-390F-4CC8-AA93-2CCD96483DE1}" type="slidenum">
              <a:t>6</a:t>
            </a:fld>
            <a:endParaRPr lang="en-US"/>
          </a:p>
        </p:txBody>
      </p:sp>
    </p:spTree>
    <p:extLst>
      <p:ext uri="{BB962C8B-B14F-4D97-AF65-F5344CB8AC3E}">
        <p14:creationId xmlns:p14="http://schemas.microsoft.com/office/powerpoint/2010/main" val="2519431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Discretionary disposition is a risk stratified approach which balances the urgent operational needs with the budget sustainability [1]. The retention group consists of seven devices that covered Tier 1 premium and Tier 2 mid-range systems that had exhibited good operation in the allocated clinical and administration duties [2]. These held assets need urgent deployment of protective infrastructure, such as Tier-1 clinical equipment backup uninterruptible power supply (UPS), scheduled higher-priority maintenance, and cybersecurity-enhanced to meet the requirements of healthcare data protection [7]. The repurposing strategy reserves the MSI 9thGeneration and Lenovo Ideapad systems to the non-critical administrative tasks such as billing, payroll, and overall office productivity, where relations of moderate performance shortfall can be tolerated. Nevertheless, these equipment have to be replaced in well-monitored lines within 12-18 months due to aging architecture as the risk of failure increases with age and they will finally become obsolete [5]. The retirement list included three systems that are underperforming critically and need retirement as soon as possible: the HP Envy 11th generation device, which poses a direct threat to patient safety, should be decommissioned immediately; the HP Envy 7th and Microsoft Surface Pro should also be retired either in the next 6-12 months depending on the budgeting period. Replacement cost of capital expenditure on three retired systems is estimated to be £6,000-9,000 which is the cost of about £2,000-3,000 per modern laptop system. This disposition plan offers a maximum operational continuity and manages the capital investment and minimizes exposure to infrastructure risks.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E66D37F-390F-4CC8-AA93-2CCD96483DE1}" type="slidenum">
              <a:t>7</a:t>
            </a:fld>
            <a:endParaRPr lang="en-US"/>
          </a:p>
        </p:txBody>
      </p:sp>
    </p:spTree>
    <p:extLst>
      <p:ext uri="{BB962C8B-B14F-4D97-AF65-F5344CB8AC3E}">
        <p14:creationId xmlns:p14="http://schemas.microsoft.com/office/powerpoint/2010/main" val="4156564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Parallelization architecture deliberation within the departmental workflows will demand accurate conformity that obtains the computational attributes and architectural paradigms [5]. Data parallelism at pixel-massive scales and the ubiquitous Single Instruction Multiple Data (SIMD) parallelism of DICOM image rendering and reconstruction algorithms have availed Java Radiology workflows strongly of the improvements brought about by acceleration in GPUs through their parallel processing properties of Single Instruction Multiple Data (SIMD) [4]. Diverse operations of the Emergency Department require immediate access to common patient databases when multiple clinical staff monitor vital signs and carry out admissions indicated that Shared Memory Multiprocessor (SMP) architectures can be used to accelerate the data coherence and synchronization of cache during parallel use of common patient data under such workload environments, preventing serialization latency when accessing, slightly modified datasets [1]. Distributed Memory cluster architectures that allow horizontal scalability by message-passing protocols can be used in the laboratory sample processing, including high-volume batch operations, across distributed specimen databases and longitudinal analysis [5]. Administration process, which involves concurrent billing calculations, payroll, and financial reconciliation, uses SMP architectures to achieve efficiency in shared memory parallelism among many simultaneous users. Parallelization advantages are, however, limited by the Amdahl Law, which states that any theory of speed up is necessarily limited by the percentage of the sequential overheads of an algorithm performed, and thus parallelizable portions of an algorithm must be identified and optimized thoroughly to meet hypothetical speed up goals [6]. The estimated results are improved times in patient waiting among other things, faster diagnostic turnaround, shorter clinical decision-making latency, and high staff efficiency by ending the computational bottlenecks, which have hitherto limited operational throughputs.</a:t>
            </a:r>
          </a:p>
        </p:txBody>
      </p:sp>
      <p:sp>
        <p:nvSpPr>
          <p:cNvPr id="4" name="Slide Number Placeholder 3"/>
          <p:cNvSpPr>
            <a:spLocks noGrp="1"/>
          </p:cNvSpPr>
          <p:nvPr>
            <p:ph type="sldNum" sz="quarter" idx="5"/>
          </p:nvPr>
        </p:nvSpPr>
        <p:spPr/>
        <p:txBody>
          <a:bodyPr/>
          <a:lstStyle/>
          <a:p>
            <a:fld id="{0E66D37F-390F-4CC8-AA93-2CCD96483DE1}" type="slidenum">
              <a:t>9</a:t>
            </a:fld>
            <a:endParaRPr lang="en-US"/>
          </a:p>
        </p:txBody>
      </p:sp>
    </p:spTree>
    <p:extLst>
      <p:ext uri="{BB962C8B-B14F-4D97-AF65-F5344CB8AC3E}">
        <p14:creationId xmlns:p14="http://schemas.microsoft.com/office/powerpoint/2010/main" val="3467450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Updating the network infrastructure requires hierarchical architecture to be designed with performance, security, and scalability to be balanced in a multi-departmental clinical setting [5]. The topology suggested utilizes a Hierarchical Star topology, which distributes traffic centrally using a controlled core switch, which has access to a Cisco 2911 router, which sports advanced routing services, the ability to inter-VLAN communicate, and wide-area network connectivity [8]. Virtual Local Area Network (VLAN) division separate the departmental traffic into four separate broadcast areas, with particular performance and security needs. Emergency Department is powered by VLAN 10 (192.168.10.0/24) hybrid wireless and wired connected networks with real-time patient monitoring and access to critical data with minimum constraints on the latency [9]. Radiology (VLAN 20: 192.168.20.0/24) elects to use Gigabit wired infrastructure dedicated to high bandwidth DICOM image transfer and diagnostic workstations clustering [10]. The utilization of VLAN 30 interface (192.168.30.0/24) with the support of flexible wireless and wired access patterns to consulting physicians and staff scheduling are used in the Outpatient/Consultation services. The functions of administration are provided based on VLAN 40 (192.168.40.0/24) and provide only wired connectivity, requiring higher security posture of sensitive financial and personnel information [7]. VLAN broadcast isolation offers vital performance advantages: Radiology bandwidth-sensitive imaging tasks do not have to eat the network bandwidth required by Emergency vital sign monitoring radiology, and catastrophic cascade of latency in times of need will be avoided. This is through subnetting of 254 networks of all devices with an address range of Class C by each departmental subnet, allowing the addition of devices without any change to the architecture. Such modular design philosophy would be able to provide long term working space due to the capacity to build more departmental infrastructure and introduce special computing facilities in the clinic.</a:t>
            </a:r>
          </a:p>
        </p:txBody>
      </p:sp>
      <p:sp>
        <p:nvSpPr>
          <p:cNvPr id="4" name="Slide Number Placeholder 3"/>
          <p:cNvSpPr>
            <a:spLocks noGrp="1"/>
          </p:cNvSpPr>
          <p:nvPr>
            <p:ph type="sldNum" sz="quarter" idx="5"/>
          </p:nvPr>
        </p:nvSpPr>
        <p:spPr/>
        <p:txBody>
          <a:bodyPr/>
          <a:lstStyle/>
          <a:p>
            <a:fld id="{0E66D37F-390F-4CC8-AA93-2CCD96483DE1}" type="slidenum">
              <a:t>10</a:t>
            </a:fld>
            <a:endParaRPr lang="en-US"/>
          </a:p>
        </p:txBody>
      </p:sp>
    </p:spTree>
    <p:extLst>
      <p:ext uri="{BB962C8B-B14F-4D97-AF65-F5344CB8AC3E}">
        <p14:creationId xmlns:p14="http://schemas.microsoft.com/office/powerpoint/2010/main" val="1648041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Network implementation architecture is exposed to technical complexity/ simplicity and operational stability by choosing hardware elements and protocol models. The Cisco 2911 router acts as a centralized gateway with a control of wide area network connections, inter-VLAN </a:t>
            </a:r>
            <a:r>
              <a:rPr lang="en-US" dirty="0" err="1"/>
              <a:t>Routering</a:t>
            </a:r>
            <a:r>
              <a:rPr lang="en-US" dirty="0"/>
              <a:t> usage Router-on-Stick architecture, and external internet access and maintenance of isolated departmental cast area [7]. There are 5 switches of Cisco, 2960-X, which are used to distribute and access levels, supporting tagging of IEEE 802.1Q VLAN configuration to isolate departmental traffic and advanced quality of service prioritization to be utilized in clinical applications [9]. Two wireless access stations provide a sense of mobility needed by the Emergency and Outpatient departments to access patient records and vital sign monitoring systems at the bedside without being limited by the infrastructure [1]. PACS imaging server is a central and dedicated server connected through Gigabit infrastructure to store DICOM files, retrieve and distribute in Radiology workflows, thus eliminating pressure or bottlenecks of bandwidth associated with image transmission that occur on old networks [10]. Dynamic Host configuration protocol (DHCP) is a protocol that computerizes the allocation of IP address in every VLAN minimizing administration and mistakes in configuration [8]. The deterministic paths of the traffic are offered by the static routing protocols that eliminate convergence delays caused by the dynamic routing algorithms that do not meet the healthcare environment. The implementation is to be in phases of deployment strategy where the key critical clinical systems (Emergency, Radiology, Laboratory) would be implemented with continuity of operations in the rest of the non-affected departments. Such a staged process will make sure that network modernization will improve and not interfere with the clinical workflow, and access paths, and the other whose presence has become redundant will be used as graceful fallback mechanisms to prevent service interruptions during a transition period.</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E66D37F-390F-4CC8-AA93-2CCD96483DE1}" type="slidenum">
              <a:t>11</a:t>
            </a:fld>
            <a:endParaRPr lang="en-US"/>
          </a:p>
        </p:txBody>
      </p:sp>
    </p:spTree>
    <p:extLst>
      <p:ext uri="{BB962C8B-B14F-4D97-AF65-F5344CB8AC3E}">
        <p14:creationId xmlns:p14="http://schemas.microsoft.com/office/powerpoint/2010/main" val="2265318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IT infrastructure modernization requires strict market estimation of capital expenditure based on technical requirements and fiscal restraint [5]. The overall network </a:t>
            </a:r>
            <a:r>
              <a:rPr lang="en-US" dirty="0" err="1"/>
              <a:t>modernisation</a:t>
            </a:r>
            <a:r>
              <a:rPr lang="en-US" dirty="0"/>
              <a:t> project is associated with the total capital investment amount of PS24,860 which models the target plan of the central network infrastructure covering as well as the clinical imaging facilities. £1,050 investment is represented by Cisco 2911 router, which is the centralized gateway and inter-VLAN router [7]. PS4,750 includes five Cisco 2960-X switches as managed devices to deliver the connectivity distribution-access layer to the departmental networks with support of VLAN in the network [9]. Accounts of £760 is covered by wireless access point infrastructure which facilitates mobility at Emergency and Outpatient departments [1]. The largest component at £15,500 is a high-specification PACS imaging server, with redundant storage, enterprise grade reliability of the file system and Gigabit connection with DICOM file management [10]. The whole Cat6 cabling infrastructure and work of professionals to install the infrastructure on three floors of the clinic will amount to £2,800. A modest 15-percent contingency buffer (£1,162) is added to allow fluctuation in price, market changes, and other unexpected structural problems of multi-floor deployment network. The strategic cost reduction strategies involve the purchase of the Cisco Certified Refurbished network equipment, which come at 30-percent discount in terms of costs without performance and warranty issues, utilization of operating system and network management software licensing discounts available through educational and non-profit organizations. In the case of insufficient capital, staged implementation plans the deployment of critical clinical infrastructure (Phase 1: Cisco 2911 router and PACS imaging server, £16,550) with immediate deployment in place that ensures that patients are not put at risk and that regulatory standards are also met, and that the non-critical administrative and outpatient </a:t>
            </a:r>
            <a:r>
              <a:rPr lang="en-US" dirty="0" err="1"/>
              <a:t>uprides</a:t>
            </a:r>
            <a:r>
              <a:rPr lang="en-US" dirty="0"/>
              <a:t> (Phase 2) are postponed until later budgetary rounds. This is a rigorous financial policy that will be used to achieve maximum clinical impact with limited capital expenditure and have flexibility in operations.</a:t>
            </a:r>
          </a:p>
        </p:txBody>
      </p:sp>
      <p:sp>
        <p:nvSpPr>
          <p:cNvPr id="4" name="Slide Number Placeholder 3"/>
          <p:cNvSpPr>
            <a:spLocks noGrp="1"/>
          </p:cNvSpPr>
          <p:nvPr>
            <p:ph type="sldNum" sz="quarter" idx="5"/>
          </p:nvPr>
        </p:nvSpPr>
        <p:spPr/>
        <p:txBody>
          <a:bodyPr/>
          <a:lstStyle/>
          <a:p>
            <a:fld id="{0E66D37F-390F-4CC8-AA93-2CCD96483DE1}" type="slidenum">
              <a:t>12</a:t>
            </a:fld>
            <a:endParaRPr lang="en-US"/>
          </a:p>
        </p:txBody>
      </p:sp>
    </p:spTree>
    <p:extLst>
      <p:ext uri="{BB962C8B-B14F-4D97-AF65-F5344CB8AC3E}">
        <p14:creationId xmlns:p14="http://schemas.microsoft.com/office/powerpoint/2010/main" val="1006533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evaluation of the IT infrastructure modernization project at City Health clinic can demonstrate strong strategic reasons on the basis of performance data, their operational risk analysis, and financial optimizing [5]. As performance profiling shows, seventy percent of the current computing infrastructure is deployable within reasonable latency limits, and Tier 1 systems with sub-110-milliseconds execution times, crucial in patient safety in time-sensitive units, are obtained [2]. This will result in improved throughput of up to 4-7 times the current throughput, with the disparate Emergency, Radiology, and Laboratory departments implementation projects that the current throughput challenges to be alleviated through parallelization architecture implementation [4]. Redesigned network infrastructure based on VLAN-based segmentation yields multidimensional value in the form of: broadcast isolation to avoid any bandwidth-intensive Radiology DICOM transfers to use Emergency vital sign monitoring capacity [7], security/architecture to limit access to sensitive financial data to administrative-only networks, and flexible Class C subnet architecture to support future departmental growth, without architectural redesign [8]. The £24,860 capital investment, provides the complete process of modernization including network gateway infrastructure, switching systems, wireless mobility, enterprise grade PACS imaging servers, and physical deployment of cabling on three clinic floors [10]. The implementation strategy focuses on key clinical systems in a priority of compressed three months of implementation, which attains operational implementation of Emergency and Radiology modernization operations before nine months completion of administrative infrastructure modernization [1]. By taking the three highest performing devices offline that might be shut down at once, especially the HP Envy 11th Generation system with 69% performance loss, the immediate risk mitigation will be the absence of direct patient safety risks and indirect clinical operations cascades that might occur in times of maximum demand [3].</a:t>
            </a:r>
          </a:p>
        </p:txBody>
      </p:sp>
      <p:sp>
        <p:nvSpPr>
          <p:cNvPr id="4" name="Slide Number Placeholder 3"/>
          <p:cNvSpPr>
            <a:spLocks noGrp="1"/>
          </p:cNvSpPr>
          <p:nvPr>
            <p:ph type="sldNum" sz="quarter" idx="5"/>
          </p:nvPr>
        </p:nvSpPr>
        <p:spPr/>
        <p:txBody>
          <a:bodyPr/>
          <a:lstStyle/>
          <a:p>
            <a:fld id="{0E66D37F-390F-4CC8-AA93-2CCD96483DE1}" type="slidenum">
              <a:t>13</a:t>
            </a:fld>
            <a:endParaRPr lang="en-US"/>
          </a:p>
        </p:txBody>
      </p:sp>
    </p:spTree>
    <p:extLst>
      <p:ext uri="{BB962C8B-B14F-4D97-AF65-F5344CB8AC3E}">
        <p14:creationId xmlns:p14="http://schemas.microsoft.com/office/powerpoint/2010/main" val="614522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 infrastructure modernization of City Health Clinic is a strategic requirement that is based on stringent performance research, clinical risk reduction and effective financial planning. The evaluation shows conclusively that the gradual roll out of the suggested infrastructure roadmap will bring transformational operational value at the same time being non-fiscally maleficent and operationally consistent. Predicted results include 3-7 fold computational acceleration in Radiology, Emergency, and Laboratory divisions, allowing diagnostic process models that used to be cumbersome due to sequential process bottlenecks to run at throughput rates that could be maintained in line with modern day clinical requirements. Access to real-time patient data without any computational delays removes perilous latency cascades that had affected clinical decision-making when overhead capacity was at its maximum. Network modernization will be used to create scalable and secure foundation enabling departmental growth and new clinical technologies with avoiding architectural redesign. Cost Optimization in the form of procurement of Cisco Certified Refurbished network equipment together with effective exploitation of educational organization software license provides PS24,860 investment with extraordinary capital efficiency. The implementation roadmap gives priority to the instant stakeholder approval and resource allocation which would later be followed with Letters of Requests to Quotation to a list of qualified vendors who would guarantee a competitive price and responsibility of vendors. The schedule of the network implementation focuses on off-hours deployment of the implementation that will cause minimal disruption to the clinical workflows. Extensive training </a:t>
            </a:r>
            <a:r>
              <a:rPr lang="en-US" dirty="0" err="1"/>
              <a:t>programmes</a:t>
            </a:r>
            <a:r>
              <a:rPr lang="en-US" dirty="0"/>
              <a:t> of the staff make sure clinicians and IT people gain competence in modernized processes and </a:t>
            </a:r>
            <a:r>
              <a:rPr lang="en-US" dirty="0" err="1"/>
              <a:t>acclimatise</a:t>
            </a:r>
            <a:r>
              <a:rPr lang="en-US" dirty="0"/>
              <a:t> themselves in </a:t>
            </a:r>
            <a:r>
              <a:rPr lang="en-US" dirty="0" err="1"/>
              <a:t>modernised</a:t>
            </a:r>
            <a:r>
              <a:rPr lang="en-US" dirty="0"/>
              <a:t> systems. The post-deployment monitoring regulations define the performance thresholds, determine optimization areas, and initiate preventive maintenance before the operations used by clinics have been impaired by degradation. This EBP modernization plan is not just technological update but radical improvement of the capacity to operate, patient safety, and organizational stability.</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E66D37F-390F-4CC8-AA93-2CCD96483DE1}" type="slidenum">
              <a:t>14</a:t>
            </a:fld>
            <a:endParaRPr lang="en-US"/>
          </a:p>
        </p:txBody>
      </p:sp>
    </p:spTree>
    <p:extLst>
      <p:ext uri="{BB962C8B-B14F-4D97-AF65-F5344CB8AC3E}">
        <p14:creationId xmlns:p14="http://schemas.microsoft.com/office/powerpoint/2010/main" val="218232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novabench.com/result/6cc9e4db-1c5d-4a57-8197-438525329a5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194716" y="739978"/>
            <a:ext cx="5334930" cy="3004145"/>
          </a:xfrm>
        </p:spPr>
        <p:txBody>
          <a:bodyPr>
            <a:normAutofit/>
          </a:bodyPr>
          <a:lstStyle/>
          <a:p>
            <a:r>
              <a:rPr lang="en-US" sz="5100" b="1">
                <a:ea typeface="+mj-lt"/>
                <a:cs typeface="+mj-lt"/>
              </a:rPr>
              <a:t>City Health Clinic IT Infrastructure Modernization</a:t>
            </a:r>
          </a:p>
        </p:txBody>
      </p:sp>
      <p:sp>
        <p:nvSpPr>
          <p:cNvPr id="3" name="Subtitle 2"/>
          <p:cNvSpPr>
            <a:spLocks noGrp="1"/>
          </p:cNvSpPr>
          <p:nvPr>
            <p:ph type="subTitle" idx="1"/>
          </p:nvPr>
        </p:nvSpPr>
        <p:spPr>
          <a:xfrm>
            <a:off x="6194715" y="3836197"/>
            <a:ext cx="5334931" cy="1127411"/>
          </a:xfrm>
        </p:spPr>
        <p:txBody>
          <a:bodyPr>
            <a:normAutofit/>
          </a:bodyPr>
          <a:lstStyle/>
          <a:p>
            <a:r>
              <a:rPr lang="en-US">
                <a:ea typeface="+mn-lt"/>
                <a:cs typeface="+mn-lt"/>
              </a:rPr>
              <a:t>System Performance Analysis, Parallel Computing Strategy, Network Design &amp; Budget Planning</a:t>
            </a:r>
            <a:endParaRPr lang="en-US"/>
          </a:p>
        </p:txBody>
      </p:sp>
      <p:sp>
        <p:nvSpPr>
          <p:cNvPr id="18" name="Freeform: Shape 17">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4" name="Picture 3" descr="A building with windows and a blue sky&#10;&#10;AI-generated content may be incorrect.">
            <a:extLst>
              <a:ext uri="{FF2B5EF4-FFF2-40B4-BE49-F238E27FC236}">
                <a16:creationId xmlns:a16="http://schemas.microsoft.com/office/drawing/2014/main" id="{403BB7D5-DB61-E071-1AD2-F418BC271E9E}"/>
              </a:ext>
            </a:extLst>
          </p:cNvPr>
          <p:cNvPicPr>
            <a:picLocks noChangeAspect="1"/>
          </p:cNvPicPr>
          <p:nvPr/>
        </p:nvPicPr>
        <p:blipFill>
          <a:blip r:embed="rId2"/>
          <a:srcRect l="9729" r="34020" b="-2"/>
          <a:stretch>
            <a:fill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8" name="Freeform: Shape 27">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Subtitle 2">
            <a:extLst>
              <a:ext uri="{FF2B5EF4-FFF2-40B4-BE49-F238E27FC236}">
                <a16:creationId xmlns:a16="http://schemas.microsoft.com/office/drawing/2014/main" id="{8601C6B1-863D-1F42-9C2A-AE293FC784A4}"/>
              </a:ext>
            </a:extLst>
          </p:cNvPr>
          <p:cNvSpPr txBox="1">
            <a:spLocks/>
          </p:cNvSpPr>
          <p:nvPr/>
        </p:nvSpPr>
        <p:spPr>
          <a:xfrm>
            <a:off x="7406944" y="5128022"/>
            <a:ext cx="2895600" cy="644907"/>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solidFill>
                  <a:schemeClr val="tx1">
                    <a:lumMod val="85000"/>
                    <a:lumOff val="15000"/>
                  </a:schemeClr>
                </a:solidFill>
                <a:ea typeface="+mn-lt"/>
                <a:cs typeface="+mn-lt"/>
              </a:rPr>
              <a:t>[NAME]</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2D450-443F-B499-E347-D6E6AEC8BB83}"/>
              </a:ext>
            </a:extLst>
          </p:cNvPr>
          <p:cNvSpPr>
            <a:spLocks noGrp="1"/>
          </p:cNvSpPr>
          <p:nvPr>
            <p:ph type="title"/>
          </p:nvPr>
        </p:nvSpPr>
        <p:spPr>
          <a:xfrm>
            <a:off x="635000" y="640823"/>
            <a:ext cx="3418659" cy="5583148"/>
          </a:xfrm>
        </p:spPr>
        <p:txBody>
          <a:bodyPr anchor="ctr">
            <a:normAutofit/>
          </a:bodyPr>
          <a:lstStyle/>
          <a:p>
            <a:r>
              <a:rPr lang="en-US" sz="5400" b="1">
                <a:ea typeface="+mj-lt"/>
                <a:cs typeface="+mj-lt"/>
              </a:rPr>
              <a:t>Scenario Overview</a:t>
            </a:r>
            <a:endParaRPr lang="en-US" sz="5400" b="1"/>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C647565-A449-2AA6-7B34-A4DBD3ED9284}"/>
              </a:ext>
            </a:extLst>
          </p:cNvPr>
          <p:cNvGraphicFramePr>
            <a:graphicFrameLocks noGrp="1"/>
          </p:cNvGraphicFramePr>
          <p:nvPr>
            <p:ph idx="1"/>
            <p:extLst>
              <p:ext uri="{D42A27DB-BD31-4B8C-83A1-F6EECF244321}">
                <p14:modId xmlns:p14="http://schemas.microsoft.com/office/powerpoint/2010/main" val="302029398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6528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8D5C6A-1AA8-E864-8736-EC2FA4FE4080}"/>
              </a:ext>
            </a:extLst>
          </p:cNvPr>
          <p:cNvSpPr>
            <a:spLocks noGrp="1"/>
          </p:cNvSpPr>
          <p:nvPr>
            <p:ph type="title"/>
          </p:nvPr>
        </p:nvSpPr>
        <p:spPr>
          <a:xfrm>
            <a:off x="630936" y="640080"/>
            <a:ext cx="4818888" cy="1481328"/>
          </a:xfrm>
        </p:spPr>
        <p:txBody>
          <a:bodyPr anchor="b">
            <a:normAutofit/>
          </a:bodyPr>
          <a:lstStyle/>
          <a:p>
            <a:r>
              <a:rPr lang="en-US" sz="3800" b="1">
                <a:ea typeface="+mj-lt"/>
                <a:cs typeface="+mj-lt"/>
              </a:rPr>
              <a:t>Part A - Benchmarking Methodology</a:t>
            </a:r>
            <a:endParaRPr lang="en-US" sz="3800">
              <a:ea typeface="+mj-lt"/>
              <a:cs typeface="+mj-lt"/>
            </a:endParaRPr>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954EA1-12C5-8B3D-95DF-35F4DCAE864D}"/>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1700">
                <a:ea typeface="+mn-lt"/>
                <a:cs typeface="+mn-lt"/>
              </a:rPr>
              <a:t>Dual-layer profiling: Algorithm simulation and Novabench synthetic scores [3].</a:t>
            </a:r>
          </a:p>
          <a:p>
            <a:r>
              <a:rPr lang="en-US" sz="1700">
                <a:ea typeface="+mn-lt"/>
                <a:cs typeface="+mn-lt"/>
              </a:rPr>
              <a:t>ALU pressure is measured by Sieve of Eratosthenes algorithm (100,000 primes) [6].</a:t>
            </a:r>
          </a:p>
          <a:p>
            <a:r>
              <a:rPr lang="en-US" sz="1700">
                <a:ea typeface="+mn-lt"/>
                <a:cs typeface="+mn-lt"/>
              </a:rPr>
              <a:t>Reference base: Intel i5-10400F (1317 score, 0.1135s run score).</a:t>
            </a:r>
          </a:p>
          <a:p>
            <a:r>
              <a:rPr lang="en-US" sz="1700">
                <a:ea typeface="+mn-lt"/>
                <a:cs typeface="+mn-lt"/>
              </a:rPr>
              <a:t>Converts unprocessed performance into clinically significant latency measurements.</a:t>
            </a:r>
          </a:p>
          <a:p>
            <a:r>
              <a:rPr lang="en-US" sz="1700">
                <a:ea typeface="+mn-lt"/>
                <a:cs typeface="+mn-lt"/>
              </a:rPr>
              <a:t>Finds equipment that can support real-time clinical processes.</a:t>
            </a:r>
          </a:p>
        </p:txBody>
      </p:sp>
      <p:pic>
        <p:nvPicPr>
          <p:cNvPr id="4" name="Picture 3" descr="A screenshot of a computer&#10;&#10;AI-generated content may be incorrect.">
            <a:extLst>
              <a:ext uri="{FF2B5EF4-FFF2-40B4-BE49-F238E27FC236}">
                <a16:creationId xmlns:a16="http://schemas.microsoft.com/office/drawing/2014/main" id="{E259597D-EB5E-4FE1-8704-733D9E0C5470}"/>
              </a:ext>
            </a:extLst>
          </p:cNvPr>
          <p:cNvPicPr>
            <a:picLocks noChangeAspect="1"/>
          </p:cNvPicPr>
          <p:nvPr/>
        </p:nvPicPr>
        <p:blipFill>
          <a:blip r:embed="rId3"/>
          <a:stretch>
            <a:fillRect/>
          </a:stretch>
        </p:blipFill>
        <p:spPr>
          <a:xfrm>
            <a:off x="6151168" y="640080"/>
            <a:ext cx="5354727" cy="5577840"/>
          </a:xfrm>
          <a:prstGeom prst="rect">
            <a:avLst/>
          </a:prstGeom>
        </p:spPr>
      </p:pic>
    </p:spTree>
    <p:extLst>
      <p:ext uri="{BB962C8B-B14F-4D97-AF65-F5344CB8AC3E}">
        <p14:creationId xmlns:p14="http://schemas.microsoft.com/office/powerpoint/2010/main" val="4028427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FFE51B-B728-FC94-F7BC-4DA40AD222DF}"/>
              </a:ext>
            </a:extLst>
          </p:cNvPr>
          <p:cNvSpPr>
            <a:spLocks noGrp="1"/>
          </p:cNvSpPr>
          <p:nvPr>
            <p:ph type="title"/>
          </p:nvPr>
        </p:nvSpPr>
        <p:spPr>
          <a:xfrm>
            <a:off x="630936" y="640823"/>
            <a:ext cx="3419856" cy="5583148"/>
          </a:xfrm>
        </p:spPr>
        <p:txBody>
          <a:bodyPr anchor="ctr">
            <a:normAutofit/>
          </a:bodyPr>
          <a:lstStyle/>
          <a:p>
            <a:r>
              <a:rPr lang="en-US" sz="4600" b="1">
                <a:ea typeface="+mj-lt"/>
                <a:cs typeface="+mj-lt"/>
              </a:rPr>
              <a:t>Performance Results - Asset Inventory</a:t>
            </a:r>
            <a:endParaRPr lang="en-US" sz="4600">
              <a:ea typeface="+mj-lt"/>
              <a:cs typeface="+mj-lt"/>
            </a:endParaRPr>
          </a:p>
        </p:txBody>
      </p:sp>
      <p:sp>
        <p:nvSpPr>
          <p:cNvPr id="19"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24EDB41-8259-CE8C-C9BF-EEB7DAA9365E}"/>
              </a:ext>
            </a:extLst>
          </p:cNvPr>
          <p:cNvPicPr>
            <a:picLocks noChangeAspect="1"/>
          </p:cNvPicPr>
          <p:nvPr/>
        </p:nvPicPr>
        <p:blipFill>
          <a:blip r:embed="rId3"/>
          <a:stretch>
            <a:fillRect/>
          </a:stretch>
        </p:blipFill>
        <p:spPr>
          <a:xfrm>
            <a:off x="4654296" y="864107"/>
            <a:ext cx="6894576" cy="3447289"/>
          </a:xfrm>
          <a:prstGeom prst="rect">
            <a:avLst/>
          </a:prstGeom>
        </p:spPr>
      </p:pic>
      <p:sp>
        <p:nvSpPr>
          <p:cNvPr id="3" name="Content Placeholder 2">
            <a:extLst>
              <a:ext uri="{FF2B5EF4-FFF2-40B4-BE49-F238E27FC236}">
                <a16:creationId xmlns:a16="http://schemas.microsoft.com/office/drawing/2014/main" id="{F8915C2A-68BF-C593-D9DA-1B5434B8AD90}"/>
              </a:ext>
            </a:extLst>
          </p:cNvPr>
          <p:cNvSpPr>
            <a:spLocks noGrp="1"/>
          </p:cNvSpPr>
          <p:nvPr>
            <p:ph idx="1"/>
          </p:nvPr>
        </p:nvSpPr>
        <p:spPr>
          <a:xfrm>
            <a:off x="4654296" y="4798577"/>
            <a:ext cx="6894576" cy="1428487"/>
          </a:xfrm>
        </p:spPr>
        <p:txBody>
          <a:bodyPr vert="horz" lIns="91440" tIns="45720" rIns="91440" bIns="45720" rtlCol="0" anchor="t">
            <a:normAutofit/>
          </a:bodyPr>
          <a:lstStyle/>
          <a:p>
            <a:r>
              <a:rPr lang="en-US" sz="1200">
                <a:ea typeface="+mn-lt"/>
                <a:cs typeface="+mn-lt"/>
              </a:rPr>
              <a:t>Tier 1 Premium: 2–12% faster (0.10–0.1111s execution time) [4]</a:t>
            </a:r>
          </a:p>
          <a:p>
            <a:r>
              <a:rPr lang="en-US" sz="1200">
                <a:ea typeface="+mn-lt"/>
                <a:cs typeface="+mn-lt"/>
              </a:rPr>
              <a:t>Tier 2 Mid-Range: 9–16% ratio (0.1249–0.1356s execution time) [2]</a:t>
            </a:r>
          </a:p>
          <a:p>
            <a:r>
              <a:rPr lang="en-US" sz="1200">
                <a:ea typeface="+mn-lt"/>
                <a:cs typeface="+mn-lt"/>
              </a:rPr>
              <a:t>Tier 3 Legacy/Failed: 36–69 percent slower (0.1783–0.3662s execution time)</a:t>
            </a:r>
          </a:p>
          <a:p>
            <a:r>
              <a:rPr lang="en-US" sz="1200">
                <a:ea typeface="+mn-lt"/>
                <a:cs typeface="+mn-lt"/>
              </a:rPr>
              <a:t>Seventy percent of the devices that can be immediately applied to clinical use.</a:t>
            </a:r>
          </a:p>
          <a:p>
            <a:r>
              <a:rPr lang="en-US" sz="1200">
                <a:ea typeface="+mn-lt"/>
                <a:cs typeface="+mn-lt"/>
              </a:rPr>
              <a:t>A third of the devices need immediate retirement and replacement.</a:t>
            </a:r>
          </a:p>
        </p:txBody>
      </p:sp>
    </p:spTree>
    <p:extLst>
      <p:ext uri="{BB962C8B-B14F-4D97-AF65-F5344CB8AC3E}">
        <p14:creationId xmlns:p14="http://schemas.microsoft.com/office/powerpoint/2010/main" val="2550304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A18D48-1ED4-D179-505B-5C272F8706F4}"/>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ea typeface="+mj-lt"/>
                <a:cs typeface="+mj-lt"/>
              </a:rPr>
              <a:t>Critical Anomaly – HP Envy (11th Gen)</a:t>
            </a:r>
            <a:endParaRPr lang="en-US" sz="4000">
              <a:solidFill>
                <a:srgbClr val="FFFFFF"/>
              </a:solidFill>
              <a:ea typeface="+mj-lt"/>
              <a:cs typeface="+mj-lt"/>
            </a:endParaRPr>
          </a:p>
        </p:txBody>
      </p:sp>
      <p:graphicFrame>
        <p:nvGraphicFramePr>
          <p:cNvPr id="5" name="Content Placeholder 2">
            <a:extLst>
              <a:ext uri="{FF2B5EF4-FFF2-40B4-BE49-F238E27FC236}">
                <a16:creationId xmlns:a16="http://schemas.microsoft.com/office/drawing/2014/main" id="{89BCD445-6C30-0941-D62C-F3AF5E86D9C7}"/>
              </a:ext>
            </a:extLst>
          </p:cNvPr>
          <p:cNvGraphicFramePr>
            <a:graphicFrameLocks noGrp="1"/>
          </p:cNvGraphicFramePr>
          <p:nvPr>
            <p:ph idx="1"/>
            <p:extLst>
              <p:ext uri="{D42A27DB-BD31-4B8C-83A1-F6EECF244321}">
                <p14:modId xmlns:p14="http://schemas.microsoft.com/office/powerpoint/2010/main" val="74950572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2139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694C43-1F30-1193-EDDC-1682B3A3E830}"/>
              </a:ext>
            </a:extLst>
          </p:cNvPr>
          <p:cNvSpPr>
            <a:spLocks noGrp="1"/>
          </p:cNvSpPr>
          <p:nvPr>
            <p:ph type="title"/>
          </p:nvPr>
        </p:nvSpPr>
        <p:spPr>
          <a:xfrm>
            <a:off x="635000" y="640823"/>
            <a:ext cx="3418659" cy="5583148"/>
          </a:xfrm>
        </p:spPr>
        <p:txBody>
          <a:bodyPr anchor="ctr">
            <a:normAutofit/>
          </a:bodyPr>
          <a:lstStyle/>
          <a:p>
            <a:r>
              <a:rPr lang="en-US" sz="4600" b="1">
                <a:ea typeface="+mj-lt"/>
                <a:cs typeface="+mj-lt"/>
              </a:rPr>
              <a:t>Department Assignment Matrix</a:t>
            </a:r>
            <a:endParaRPr lang="en-US" sz="4600">
              <a:ea typeface="+mj-lt"/>
              <a:cs typeface="+mj-lt"/>
            </a:endParaRP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1042614-C37F-B558-06AF-501CB5418CEB}"/>
              </a:ext>
            </a:extLst>
          </p:cNvPr>
          <p:cNvGraphicFramePr>
            <a:graphicFrameLocks noGrp="1"/>
          </p:cNvGraphicFramePr>
          <p:nvPr>
            <p:ph idx="1"/>
            <p:extLst>
              <p:ext uri="{D42A27DB-BD31-4B8C-83A1-F6EECF244321}">
                <p14:modId xmlns:p14="http://schemas.microsoft.com/office/powerpoint/2010/main" val="298833554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6439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42F626-32C6-7317-5D6C-920B94BF1CE5}"/>
              </a:ext>
            </a:extLst>
          </p:cNvPr>
          <p:cNvSpPr>
            <a:spLocks noGrp="1"/>
          </p:cNvSpPr>
          <p:nvPr>
            <p:ph type="title"/>
          </p:nvPr>
        </p:nvSpPr>
        <p:spPr>
          <a:xfrm>
            <a:off x="686834" y="1153572"/>
            <a:ext cx="3200400" cy="4461163"/>
          </a:xfrm>
        </p:spPr>
        <p:txBody>
          <a:bodyPr>
            <a:normAutofit/>
          </a:bodyPr>
          <a:lstStyle/>
          <a:p>
            <a:r>
              <a:rPr lang="en-US" sz="2800" b="1">
                <a:solidFill>
                  <a:srgbClr val="FFFFFF"/>
                </a:solidFill>
                <a:ea typeface="+mj-lt"/>
                <a:cs typeface="+mj-lt"/>
              </a:rPr>
              <a:t>Asset Disposition Recommendations</a:t>
            </a:r>
            <a:endParaRPr lang="en-US" sz="2800">
              <a:solidFill>
                <a:srgbClr val="FFFFFF"/>
              </a:solidFill>
              <a:ea typeface="+mj-lt"/>
              <a:cs typeface="+mj-lt"/>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30360DF-431A-1D55-4BE5-6C7FE6BAC705}"/>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sz="2400">
                <a:ea typeface="+mn-lt"/>
                <a:cs typeface="+mn-lt"/>
              </a:rPr>
              <a:t>Retain 7 devices: Tier 1, 2 system to roll out [2].</a:t>
            </a:r>
          </a:p>
          <a:p>
            <a:r>
              <a:rPr lang="en-US" sz="2400">
                <a:ea typeface="+mn-lt"/>
                <a:cs typeface="+mn-lt"/>
              </a:rPr>
              <a:t>Introduce UPS safety and scheduled planned maintenance [7].</a:t>
            </a:r>
          </a:p>
          <a:p>
            <a:r>
              <a:rPr lang="en-US" sz="2400">
                <a:ea typeface="+mn-lt"/>
                <a:cs typeface="+mn-lt"/>
              </a:rPr>
              <a:t>Uses MSI and Ideapad specifically in administrative functions.</a:t>
            </a:r>
          </a:p>
          <a:p>
            <a:r>
              <a:rPr lang="en-US" sz="2400">
                <a:ea typeface="+mn-lt"/>
                <a:cs typeface="+mn-lt"/>
              </a:rPr>
              <a:t>Displaced devices to be placed in a plan within 1218 months.</a:t>
            </a:r>
          </a:p>
          <a:p>
            <a:r>
              <a:rPr lang="en-US" sz="2400">
                <a:ea typeface="+mn-lt"/>
                <a:cs typeface="+mn-lt"/>
              </a:rPr>
              <a:t>Recall HP Envy 11th Gen as there is risk to patient safety.</a:t>
            </a:r>
          </a:p>
          <a:p>
            <a:r>
              <a:rPr lang="en-US" sz="2400">
                <a:ea typeface="+mn-lt"/>
                <a:cs typeface="+mn-lt"/>
              </a:rPr>
              <a:t>Refrigerate HP Envy 7th Gen and Surface Pro in 6-12 months.</a:t>
            </a:r>
          </a:p>
          <a:p>
            <a:r>
              <a:rPr lang="en-US" sz="2400">
                <a:ea typeface="+mn-lt"/>
                <a:cs typeface="+mn-lt"/>
              </a:rPr>
              <a:t>Projected capital cost: £6000-9000 on replacements [10].</a:t>
            </a:r>
          </a:p>
        </p:txBody>
      </p:sp>
    </p:spTree>
    <p:extLst>
      <p:ext uri="{BB962C8B-B14F-4D97-AF65-F5344CB8AC3E}">
        <p14:creationId xmlns:p14="http://schemas.microsoft.com/office/powerpoint/2010/main" val="4187004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90CAF6-BBA7-6770-DFF7-FB4A32E82329}"/>
              </a:ext>
            </a:extLst>
          </p:cNvPr>
          <p:cNvSpPr>
            <a:spLocks noGrp="1"/>
          </p:cNvSpPr>
          <p:nvPr>
            <p:ph type="title"/>
          </p:nvPr>
        </p:nvSpPr>
        <p:spPr>
          <a:xfrm>
            <a:off x="630936" y="640080"/>
            <a:ext cx="4818888" cy="1481328"/>
          </a:xfrm>
        </p:spPr>
        <p:txBody>
          <a:bodyPr anchor="b">
            <a:normAutofit/>
          </a:bodyPr>
          <a:lstStyle/>
          <a:p>
            <a:r>
              <a:rPr lang="en-US" sz="3000" b="1">
                <a:ea typeface="+mj-lt"/>
                <a:cs typeface="+mj-lt"/>
              </a:rPr>
              <a:t>Part B - Parallel Computing Needs Analysis</a:t>
            </a: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8D6C69-08B6-45AC-C281-D5F80464D501}"/>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1400"/>
              <a:t>Chain of meddling in Emergency and Radiology departments [1].</a:t>
            </a:r>
          </a:p>
          <a:p>
            <a:r>
              <a:rPr lang="en-US" sz="1400"/>
              <a:t>Parallel processing allows simultaneous processing [6].</a:t>
            </a:r>
          </a:p>
          <a:p>
            <a:r>
              <a:rPr lang="en-US" sz="1400"/>
              <a:t>Shared Memory (SMP): coherence of patient databases at a very fast rate.</a:t>
            </a:r>
          </a:p>
          <a:p>
            <a:r>
              <a:rPr lang="en-US" sz="1400"/>
              <a:t>Cluster memory (Distributed Memory): record archiving and backup scalable memory.</a:t>
            </a:r>
          </a:p>
          <a:p>
            <a:r>
              <a:rPr lang="en-US" sz="1400"/>
              <a:t>GPU Acceleration (SIMD): medical imaging massive parallelism.</a:t>
            </a:r>
          </a:p>
          <a:p>
            <a:r>
              <a:rPr lang="en-US" sz="1400"/>
              <a:t>Radiology imaging (7.5x faster) with GPU acceleration.</a:t>
            </a:r>
          </a:p>
          <a:p>
            <a:r>
              <a:rPr lang="en-US" sz="1400"/>
              <a:t>Database architecture: 4 times faster when there are emergency queries.</a:t>
            </a:r>
          </a:p>
        </p:txBody>
      </p:sp>
      <p:pic>
        <p:nvPicPr>
          <p:cNvPr id="4" name="Picture 3" descr="A diagram of a program&#10;&#10;AI-generated content may be incorrect.">
            <a:extLst>
              <a:ext uri="{FF2B5EF4-FFF2-40B4-BE49-F238E27FC236}">
                <a16:creationId xmlns:a16="http://schemas.microsoft.com/office/drawing/2014/main" id="{7B74EEE1-2AFD-734F-9765-6BE56AE3DCBE}"/>
              </a:ext>
            </a:extLst>
          </p:cNvPr>
          <p:cNvPicPr>
            <a:picLocks noChangeAspect="1"/>
          </p:cNvPicPr>
          <p:nvPr/>
        </p:nvPicPr>
        <p:blipFill>
          <a:blip r:embed="rId2"/>
          <a:stretch>
            <a:fillRect/>
          </a:stretch>
        </p:blipFill>
        <p:spPr>
          <a:xfrm>
            <a:off x="6099048" y="1443300"/>
            <a:ext cx="5458968" cy="3971400"/>
          </a:xfrm>
          <a:prstGeom prst="rect">
            <a:avLst/>
          </a:prstGeom>
        </p:spPr>
      </p:pic>
    </p:spTree>
    <p:extLst>
      <p:ext uri="{BB962C8B-B14F-4D97-AF65-F5344CB8AC3E}">
        <p14:creationId xmlns:p14="http://schemas.microsoft.com/office/powerpoint/2010/main" val="622305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47C42C-AD35-6688-344A-992E74BF3806}"/>
              </a:ext>
            </a:extLst>
          </p:cNvPr>
          <p:cNvSpPr>
            <a:spLocks noGrp="1"/>
          </p:cNvSpPr>
          <p:nvPr>
            <p:ph type="title"/>
          </p:nvPr>
        </p:nvSpPr>
        <p:spPr>
          <a:xfrm>
            <a:off x="621792" y="1161288"/>
            <a:ext cx="3602736" cy="4526280"/>
          </a:xfrm>
        </p:spPr>
        <p:txBody>
          <a:bodyPr>
            <a:normAutofit/>
          </a:bodyPr>
          <a:lstStyle/>
          <a:p>
            <a:r>
              <a:rPr lang="en-US" sz="4000" b="1">
                <a:ea typeface="+mj-lt"/>
                <a:cs typeface="+mj-lt"/>
              </a:rPr>
              <a:t>Parallel Computing Application Matrix</a:t>
            </a:r>
            <a:endParaRPr lang="en-US" sz="4000">
              <a:ea typeface="+mj-lt"/>
              <a:cs typeface="+mj-lt"/>
            </a:endParaRP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B1C9F78-CC0E-027C-6BCA-3A66AECACE6A}"/>
              </a:ext>
            </a:extLst>
          </p:cNvPr>
          <p:cNvSpPr>
            <a:spLocks noGrp="1"/>
          </p:cNvSpPr>
          <p:nvPr>
            <p:ph idx="1"/>
          </p:nvPr>
        </p:nvSpPr>
        <p:spPr>
          <a:xfrm>
            <a:off x="5434149" y="932688"/>
            <a:ext cx="5916603" cy="4992624"/>
          </a:xfrm>
        </p:spPr>
        <p:txBody>
          <a:bodyPr vert="horz" lIns="91440" tIns="45720" rIns="91440" bIns="45720" rtlCol="0" anchor="ctr">
            <a:normAutofit/>
          </a:bodyPr>
          <a:lstStyle/>
          <a:p>
            <a:r>
              <a:rPr lang="en-US" sz="2000">
                <a:ea typeface="+mn-lt"/>
                <a:cs typeface="+mn-lt"/>
              </a:rPr>
              <a:t>Radiology: DICOM with millions of parallel pixels in gpu-accelerated rendering [4].</a:t>
            </a:r>
          </a:p>
          <a:p>
            <a:r>
              <a:rPr lang="en-US" sz="2000">
                <a:ea typeface="+mn-lt"/>
                <a:cs typeface="+mn-lt"/>
              </a:rPr>
              <a:t>Emergency: Communal vital sign database to update vital signs in real time [1].</a:t>
            </a:r>
          </a:p>
          <a:p>
            <a:r>
              <a:rPr lang="en-US" sz="2000">
                <a:ea typeface="+mn-lt"/>
                <a:cs typeface="+mn-lt"/>
              </a:rPr>
              <a:t>Laboratory: Distributed cluster to process a high amount of samples in one batch.</a:t>
            </a:r>
          </a:p>
          <a:p>
            <a:r>
              <a:rPr lang="en-US" sz="2000">
                <a:ea typeface="+mn-lt"/>
                <a:cs typeface="+mn-lt"/>
              </a:rPr>
              <a:t>Administration: SMP of concurrent billing and payroll calculations.</a:t>
            </a:r>
          </a:p>
          <a:p>
            <a:r>
              <a:rPr lang="en-US" sz="2000">
                <a:ea typeface="+mn-lt"/>
                <a:cs typeface="+mn-lt"/>
              </a:rPr>
              <a:t>The Law of Amdahl restricts speedup to sequential fraction optimisation.</a:t>
            </a:r>
          </a:p>
          <a:p>
            <a:r>
              <a:rPr lang="en-US" sz="2000">
                <a:ea typeface="+mn-lt"/>
                <a:cs typeface="+mn-lt"/>
              </a:rPr>
              <a:t>Shortened wait time of patients and increased turnaround of their diagnosis.</a:t>
            </a:r>
          </a:p>
          <a:p>
            <a:r>
              <a:rPr lang="en-US" sz="2000">
                <a:ea typeface="+mn-lt"/>
                <a:cs typeface="+mn-lt"/>
              </a:rPr>
              <a:t>Increased productivity of the staff by eliminating computational bottlenecks.</a:t>
            </a:r>
          </a:p>
        </p:txBody>
      </p:sp>
    </p:spTree>
    <p:extLst>
      <p:ext uri="{BB962C8B-B14F-4D97-AF65-F5344CB8AC3E}">
        <p14:creationId xmlns:p14="http://schemas.microsoft.com/office/powerpoint/2010/main" val="3900498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6C423-9035-7EA2-0105-6FEAC56BDA0F}"/>
              </a:ext>
            </a:extLst>
          </p:cNvPr>
          <p:cNvSpPr>
            <a:spLocks noGrp="1"/>
          </p:cNvSpPr>
          <p:nvPr>
            <p:ph type="title"/>
          </p:nvPr>
        </p:nvSpPr>
        <p:spPr>
          <a:xfrm>
            <a:off x="818984" y="4929633"/>
            <a:ext cx="4150581" cy="1163084"/>
          </a:xfrm>
        </p:spPr>
        <p:txBody>
          <a:bodyPr anchor="t">
            <a:normAutofit/>
          </a:bodyPr>
          <a:lstStyle/>
          <a:p>
            <a:pPr algn="r"/>
            <a:r>
              <a:rPr lang="en-US" sz="3600" b="1" dirty="0">
                <a:ea typeface="+mj-lt"/>
                <a:cs typeface="+mj-lt"/>
              </a:rPr>
              <a:t>Part C - Network Architecture Design</a:t>
            </a:r>
            <a:endParaRPr lang="en-US" sz="3600">
              <a:ea typeface="+mj-lt"/>
              <a:cs typeface="+mj-lt"/>
            </a:endParaRPr>
          </a:p>
        </p:txBody>
      </p:sp>
      <p:pic>
        <p:nvPicPr>
          <p:cNvPr id="4" name="Picture 3" descr="A diagram of a computer network&#10;&#10;AI-generated content may be incorrect.">
            <a:extLst>
              <a:ext uri="{FF2B5EF4-FFF2-40B4-BE49-F238E27FC236}">
                <a16:creationId xmlns:a16="http://schemas.microsoft.com/office/drawing/2014/main" id="{3A555165-42EB-8E38-1E5E-10A43C2A0632}"/>
              </a:ext>
            </a:extLst>
          </p:cNvPr>
          <p:cNvPicPr>
            <a:picLocks noChangeAspect="1"/>
          </p:cNvPicPr>
          <p:nvPr/>
        </p:nvPicPr>
        <p:blipFill>
          <a:blip r:embed="rId3"/>
          <a:stretch>
            <a:fillRect/>
          </a:stretch>
        </p:blipFill>
        <p:spPr>
          <a:xfrm>
            <a:off x="1375329" y="332282"/>
            <a:ext cx="9427350" cy="4242308"/>
          </a:xfrm>
          <a:prstGeom prst="rect">
            <a:avLst/>
          </a:prstGeom>
        </p:spPr>
      </p:pic>
      <p:sp>
        <p:nvSpPr>
          <p:cNvPr id="3" name="Content Placeholder 2">
            <a:extLst>
              <a:ext uri="{FF2B5EF4-FFF2-40B4-BE49-F238E27FC236}">
                <a16:creationId xmlns:a16="http://schemas.microsoft.com/office/drawing/2014/main" id="{DFD1F015-5312-E23D-79B6-2D91E790E43C}"/>
              </a:ext>
            </a:extLst>
          </p:cNvPr>
          <p:cNvSpPr>
            <a:spLocks noGrp="1"/>
          </p:cNvSpPr>
          <p:nvPr>
            <p:ph idx="1"/>
          </p:nvPr>
        </p:nvSpPr>
        <p:spPr>
          <a:xfrm>
            <a:off x="5246415" y="4704782"/>
            <a:ext cx="6235268" cy="1612787"/>
          </a:xfrm>
        </p:spPr>
        <p:txBody>
          <a:bodyPr vert="horz" lIns="91440" tIns="45720" rIns="91440" bIns="45720" rtlCol="0" anchor="t">
            <a:normAutofit lnSpcReduction="10000"/>
          </a:bodyPr>
          <a:lstStyle/>
          <a:p>
            <a:r>
              <a:rPr lang="en-US" sz="1100">
                <a:ea typeface="+mn-lt"/>
                <a:cs typeface="+mn-lt"/>
              </a:rPr>
              <a:t>Hierarchy Star, centralized Cisco 2911 router [8]</a:t>
            </a:r>
          </a:p>
          <a:p>
            <a:r>
              <a:rPr lang="en-US" sz="1100">
                <a:ea typeface="+mn-lt"/>
                <a:cs typeface="+mn-lt"/>
              </a:rPr>
              <a:t>Emergency- VLAN 10: 192.168.10.0/24 (wireless and wired, real-time) [9]</a:t>
            </a:r>
          </a:p>
          <a:p>
            <a:r>
              <a:rPr lang="en-US" sz="1100" dirty="0">
                <a:ea typeface="+mn-lt"/>
                <a:cs typeface="+mn-lt"/>
              </a:rPr>
              <a:t>VLAN 20 Radiology: 192.168.20.0/24 (Gigabit wired, high bandwidth)</a:t>
            </a:r>
          </a:p>
          <a:p>
            <a:r>
              <a:rPr lang="en-US" sz="1100" dirty="0">
                <a:ea typeface="+mn-lt"/>
                <a:cs typeface="+mn-lt"/>
              </a:rPr>
              <a:t>VLAN tag 30 Outpatient: 192.168.30.0/24 (wireless and wired, general access)</a:t>
            </a:r>
          </a:p>
          <a:p>
            <a:r>
              <a:rPr lang="en-US" sz="1100" dirty="0">
                <a:ea typeface="+mn-lt"/>
                <a:cs typeface="+mn-lt"/>
              </a:rPr>
              <a:t>VLAN 40 Admin: 192.168.40.0/24 (wired only, high security)</a:t>
            </a:r>
          </a:p>
          <a:p>
            <a:r>
              <a:rPr lang="en-US" sz="1100" dirty="0">
                <a:ea typeface="+mn-lt"/>
                <a:cs typeface="+mn-lt"/>
              </a:rPr>
              <a:t>Broadcast isolation ensures that the networks are not congested or traffic is not interfered with.</a:t>
            </a:r>
          </a:p>
        </p:txBody>
      </p:sp>
      <p:sp>
        <p:nvSpPr>
          <p:cNvPr id="34" name="Rectangle 33">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1216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62AF83-4A66-5CB7-431A-DCF2B5EC8C58}"/>
              </a:ext>
            </a:extLst>
          </p:cNvPr>
          <p:cNvSpPr>
            <a:spLocks noGrp="1"/>
          </p:cNvSpPr>
          <p:nvPr>
            <p:ph type="title"/>
          </p:nvPr>
        </p:nvSpPr>
        <p:spPr>
          <a:xfrm>
            <a:off x="1171074" y="1396686"/>
            <a:ext cx="3240506" cy="4064628"/>
          </a:xfrm>
        </p:spPr>
        <p:txBody>
          <a:bodyPr>
            <a:normAutofit/>
          </a:bodyPr>
          <a:lstStyle/>
          <a:p>
            <a:r>
              <a:rPr lang="en-US" sz="3400" b="1">
                <a:solidFill>
                  <a:srgbClr val="FFFFFF"/>
                </a:solidFill>
                <a:ea typeface="+mj-lt"/>
                <a:cs typeface="+mj-lt"/>
              </a:rPr>
              <a:t>Network Services &amp; Implementation</a:t>
            </a:r>
            <a:endParaRPr lang="en-US" sz="3400">
              <a:solidFill>
                <a:srgbClr val="FFFFFF"/>
              </a:solidFill>
              <a:ea typeface="+mj-lt"/>
              <a:cs typeface="+mj-lt"/>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0D566C2-98D6-B962-2F09-C6AE525EA092}"/>
              </a:ext>
            </a:extLst>
          </p:cNvPr>
          <p:cNvSpPr>
            <a:spLocks noGrp="1"/>
          </p:cNvSpPr>
          <p:nvPr>
            <p:ph idx="1"/>
          </p:nvPr>
        </p:nvSpPr>
        <p:spPr>
          <a:xfrm>
            <a:off x="5370153" y="1526033"/>
            <a:ext cx="5536397" cy="3935281"/>
          </a:xfrm>
        </p:spPr>
        <p:txBody>
          <a:bodyPr vert="horz" lIns="91440" tIns="45720" rIns="91440" bIns="45720" rtlCol="0">
            <a:normAutofit/>
          </a:bodyPr>
          <a:lstStyle/>
          <a:p>
            <a:r>
              <a:rPr lang="en-US" sz="1500">
                <a:ea typeface="+mn-lt"/>
                <a:cs typeface="+mn-lt"/>
              </a:rPr>
              <a:t>Cisco 2911 Router: WAN router, inter-VLAN router (Router-on-Stick) [7]</a:t>
            </a:r>
          </a:p>
          <a:p>
            <a:r>
              <a:rPr lang="en-US" sz="1500">
                <a:ea typeface="+mn-lt"/>
                <a:cs typeface="+mn-lt"/>
              </a:rPr>
              <a:t>VLAN support and managed distribution layer: 5x Cisco 2960-X Switches</a:t>
            </a:r>
          </a:p>
          <a:p>
            <a:r>
              <a:rPr lang="en-US" sz="1500">
                <a:ea typeface="+mn-lt"/>
                <a:cs typeface="+mn-lt"/>
              </a:rPr>
              <a:t>2x Wireless Access Points: Emergency and Outpatient Mobile Accessibility [9]</a:t>
            </a:r>
          </a:p>
          <a:p>
            <a:r>
              <a:rPr lang="en-US" sz="1500">
                <a:ea typeface="+mn-lt"/>
                <a:cs typeface="+mn-lt"/>
              </a:rPr>
              <a:t>PACS Imaging Server: DICOM file server connected to gigabit</a:t>
            </a:r>
          </a:p>
          <a:p>
            <a:r>
              <a:rPr lang="en-US" sz="1500">
                <a:ea typeface="+mn-lt"/>
                <a:cs typeface="+mn-lt"/>
              </a:rPr>
              <a:t>DHCP to assign and configure IP dynamically</a:t>
            </a:r>
          </a:p>
          <a:p>
            <a:r>
              <a:rPr lang="en-US" sz="1500">
                <a:ea typeface="+mn-lt"/>
                <a:cs typeface="+mn-lt"/>
              </a:rPr>
              <a:t>Departmental traffic isolation with IEEE 802.1Q VLAN tagging</a:t>
            </a:r>
          </a:p>
          <a:p>
            <a:r>
              <a:rPr lang="en-US" sz="1500">
                <a:ea typeface="+mn-lt"/>
                <a:cs typeface="+mn-lt"/>
              </a:rPr>
              <a:t>Operation continuity through static routing that will be deployed gradually.</a:t>
            </a:r>
          </a:p>
        </p:txBody>
      </p:sp>
    </p:spTree>
    <p:extLst>
      <p:ext uri="{BB962C8B-B14F-4D97-AF65-F5344CB8AC3E}">
        <p14:creationId xmlns:p14="http://schemas.microsoft.com/office/powerpoint/2010/main" val="3131852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ED44F3-CCD4-EDFD-5CE2-4F1AC788536C}"/>
              </a:ext>
            </a:extLst>
          </p:cNvPr>
          <p:cNvSpPr>
            <a:spLocks noGrp="1"/>
          </p:cNvSpPr>
          <p:nvPr>
            <p:ph type="title"/>
          </p:nvPr>
        </p:nvSpPr>
        <p:spPr>
          <a:xfrm>
            <a:off x="5596501" y="489508"/>
            <a:ext cx="5754896" cy="1667569"/>
          </a:xfrm>
        </p:spPr>
        <p:txBody>
          <a:bodyPr anchor="b">
            <a:normAutofit/>
          </a:bodyPr>
          <a:lstStyle/>
          <a:p>
            <a:r>
              <a:rPr lang="en-US" sz="3700" b="1">
                <a:ea typeface="+mj-lt"/>
                <a:cs typeface="+mj-lt"/>
              </a:rPr>
              <a:t>Part D - Budget Estimation &amp; Financial Strategy</a:t>
            </a:r>
            <a:endParaRPr lang="en-US" sz="3700"/>
          </a:p>
        </p:txBody>
      </p:sp>
      <p:sp>
        <p:nvSpPr>
          <p:cNvPr id="3" name="Content Placeholder 2">
            <a:extLst>
              <a:ext uri="{FF2B5EF4-FFF2-40B4-BE49-F238E27FC236}">
                <a16:creationId xmlns:a16="http://schemas.microsoft.com/office/drawing/2014/main" id="{EA686129-ECD1-1B8A-3AF0-11735DEC330E}"/>
              </a:ext>
            </a:extLst>
          </p:cNvPr>
          <p:cNvSpPr>
            <a:spLocks noGrp="1"/>
          </p:cNvSpPr>
          <p:nvPr>
            <p:ph idx="1"/>
          </p:nvPr>
        </p:nvSpPr>
        <p:spPr>
          <a:xfrm>
            <a:off x="5596502" y="2405894"/>
            <a:ext cx="5754896" cy="3197464"/>
          </a:xfrm>
        </p:spPr>
        <p:txBody>
          <a:bodyPr vert="horz" lIns="91440" tIns="45720" rIns="91440" bIns="45720" rtlCol="0" anchor="t">
            <a:normAutofit/>
          </a:bodyPr>
          <a:lstStyle/>
          <a:p>
            <a:r>
              <a:rPr lang="en-US" sz="1100">
                <a:ea typeface="+mn-lt"/>
                <a:cs typeface="+mn-lt"/>
              </a:rPr>
              <a:t>Capital expenditure in totality: £24,860 on complete modernization.</a:t>
            </a:r>
            <a:endParaRPr lang="en-US" sz="1100"/>
          </a:p>
          <a:p>
            <a:r>
              <a:rPr lang="en-US" sz="1100">
                <a:ea typeface="+mn-lt"/>
                <a:cs typeface="+mn-lt"/>
              </a:rPr>
              <a:t>Cisco 2911 Router: £1,050 (core gateway and routing) [7]</a:t>
            </a:r>
            <a:endParaRPr lang="en-US" sz="1100"/>
          </a:p>
          <a:p>
            <a:r>
              <a:rPr lang="en-US" sz="1100">
                <a:ea typeface="+mn-lt"/>
                <a:cs typeface="+mn-lt"/>
              </a:rPr>
              <a:t>5x Cisco 2960-X Switches: £4750 (distribution and access layers) [9]</a:t>
            </a:r>
            <a:endParaRPr lang="en-US" sz="1100"/>
          </a:p>
          <a:p>
            <a:r>
              <a:rPr lang="en-US" sz="1100">
                <a:ea typeface="+mn-lt"/>
                <a:cs typeface="+mn-lt"/>
              </a:rPr>
              <a:t>2x Wireless Access points: £760 (Both the emergency mobility and the outpatient mobility)</a:t>
            </a:r>
            <a:endParaRPr lang="en-US" sz="1100"/>
          </a:p>
          <a:p>
            <a:r>
              <a:rPr lang="en-US" sz="1100">
                <a:ea typeface="+mn-lt"/>
                <a:cs typeface="+mn-lt"/>
              </a:rPr>
              <a:t>PACS Imaging Server(high-spec): £15,500 (DICOM management) [10]</a:t>
            </a:r>
            <a:endParaRPr lang="en-US" sz="1100"/>
          </a:p>
          <a:p>
            <a:r>
              <a:rPr lang="en-US" sz="1100">
                <a:ea typeface="+mn-lt"/>
                <a:cs typeface="+mn-lt"/>
              </a:rPr>
              <a:t>Cat6 Cabling and manpower (3 floors): £2,800 (infrastructure installation)</a:t>
            </a:r>
            <a:endParaRPr lang="en-US" sz="1100"/>
          </a:p>
          <a:p>
            <a:r>
              <a:rPr lang="en-US" sz="1100">
                <a:ea typeface="+mn-lt"/>
                <a:cs typeface="+mn-lt"/>
              </a:rPr>
              <a:t>Contingency buffer (15 percent): £1,162 (price fluctuation and unexpected expenses)</a:t>
            </a:r>
            <a:endParaRPr lang="en-US" sz="1100"/>
          </a:p>
          <a:p>
            <a:r>
              <a:rPr lang="en-US" sz="1100">
                <a:ea typeface="+mn-lt"/>
                <a:cs typeface="+mn-lt"/>
              </a:rPr>
              <a:t>Cost saving: 30% savings through Certified Refurbished equipment.</a:t>
            </a:r>
            <a:endParaRPr lang="en-US" sz="1100"/>
          </a:p>
          <a:p>
            <a:r>
              <a:rPr lang="en-US" sz="1100">
                <a:ea typeface="+mn-lt"/>
                <a:cs typeface="+mn-lt"/>
              </a:rPr>
              <a:t>Phased implementation focuses on the most important clinical systems (Phase 1).</a:t>
            </a:r>
            <a:endParaRPr lang="en-US" sz="1100"/>
          </a:p>
        </p:txBody>
      </p:sp>
      <p:sp>
        <p:nvSpPr>
          <p:cNvPr id="24" name="Rectangle 23">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BC37A16E-D0FB-A267-37EF-4AF7B4A3600D}"/>
              </a:ext>
            </a:extLst>
          </p:cNvPr>
          <p:cNvGraphicFramePr>
            <a:graphicFrameLocks noGrp="1"/>
          </p:cNvGraphicFramePr>
          <p:nvPr>
            <p:extLst>
              <p:ext uri="{D42A27DB-BD31-4B8C-83A1-F6EECF244321}">
                <p14:modId xmlns:p14="http://schemas.microsoft.com/office/powerpoint/2010/main" val="2332753689"/>
              </p:ext>
            </p:extLst>
          </p:nvPr>
        </p:nvGraphicFramePr>
        <p:xfrm>
          <a:off x="1068130" y="1504230"/>
          <a:ext cx="3876167" cy="3417850"/>
        </p:xfrm>
        <a:graphic>
          <a:graphicData uri="http://schemas.openxmlformats.org/drawingml/2006/table">
            <a:tbl>
              <a:tblPr firstRow="1" firstCol="1" bandRow="1">
                <a:tableStyleId>{5C22544A-7EE6-4342-B048-85BDC9FD1C3A}</a:tableStyleId>
              </a:tblPr>
              <a:tblGrid>
                <a:gridCol w="1363929">
                  <a:extLst>
                    <a:ext uri="{9D8B030D-6E8A-4147-A177-3AD203B41FA5}">
                      <a16:colId xmlns:a16="http://schemas.microsoft.com/office/drawing/2014/main" val="60249698"/>
                    </a:ext>
                  </a:extLst>
                </a:gridCol>
                <a:gridCol w="737124">
                  <a:extLst>
                    <a:ext uri="{9D8B030D-6E8A-4147-A177-3AD203B41FA5}">
                      <a16:colId xmlns:a16="http://schemas.microsoft.com/office/drawing/2014/main" val="3522356440"/>
                    </a:ext>
                  </a:extLst>
                </a:gridCol>
                <a:gridCol w="845770">
                  <a:extLst>
                    <a:ext uri="{9D8B030D-6E8A-4147-A177-3AD203B41FA5}">
                      <a16:colId xmlns:a16="http://schemas.microsoft.com/office/drawing/2014/main" val="1757811120"/>
                    </a:ext>
                  </a:extLst>
                </a:gridCol>
                <a:gridCol w="929344">
                  <a:extLst>
                    <a:ext uri="{9D8B030D-6E8A-4147-A177-3AD203B41FA5}">
                      <a16:colId xmlns:a16="http://schemas.microsoft.com/office/drawing/2014/main" val="662573970"/>
                    </a:ext>
                  </a:extLst>
                </a:gridCol>
              </a:tblGrid>
              <a:tr h="385110">
                <a:tc>
                  <a:txBody>
                    <a:bodyPr/>
                    <a:lstStyle/>
                    <a:p>
                      <a:pPr algn="ctr">
                        <a:buNone/>
                      </a:pPr>
                      <a:r>
                        <a:rPr lang="en-US" sz="1200" dirty="0">
                          <a:solidFill>
                            <a:srgbClr val="FFFFFF"/>
                          </a:solidFill>
                          <a:effectLst/>
                          <a:cs typeface="Times New Roman"/>
                        </a:rPr>
                        <a:t>Item Description</a:t>
                      </a:r>
                      <a:endParaRPr lang="en-US" sz="1200" dirty="0">
                        <a:effectLst/>
                        <a:cs typeface="Times New Roman"/>
                      </a:endParaRPr>
                    </a:p>
                  </a:txBody>
                  <a:tcPr marL="45130" marR="45130" marT="0" marB="0">
                    <a:lnL w="12700" cap="flat" cmpd="sng" algn="ctr">
                      <a:solidFill>
                        <a:srgbClr val="156082"/>
                      </a:solidFill>
                      <a:prstDash val="solid"/>
                      <a:round/>
                      <a:headEnd type="none" w="med" len="med"/>
                      <a:tailEnd type="none" w="med" len="med"/>
                    </a:lnL>
                    <a:lnR>
                      <a:noFill/>
                    </a:lnR>
                    <a:lnT w="12700" cap="flat" cmpd="sng" algn="ctr">
                      <a:solidFill>
                        <a:srgbClr val="156082"/>
                      </a:solidFill>
                      <a:prstDash val="solid"/>
                      <a:round/>
                      <a:headEnd type="none" w="med" len="med"/>
                      <a:tailEnd type="none" w="med" len="med"/>
                    </a:lnT>
                    <a:lnB w="12700" cap="flat" cmpd="sng" algn="ctr">
                      <a:solidFill>
                        <a:srgbClr val="156082"/>
                      </a:solidFill>
                      <a:prstDash val="solid"/>
                      <a:round/>
                      <a:headEnd type="none" w="med" len="med"/>
                      <a:tailEnd type="none" w="med" len="med"/>
                    </a:lnB>
                    <a:solidFill>
                      <a:srgbClr val="156082"/>
                    </a:solidFill>
                  </a:tcPr>
                </a:tc>
                <a:tc>
                  <a:txBody>
                    <a:bodyPr/>
                    <a:lstStyle/>
                    <a:p>
                      <a:pPr algn="ctr">
                        <a:buNone/>
                      </a:pPr>
                      <a:r>
                        <a:rPr lang="en-US" sz="1200" dirty="0">
                          <a:solidFill>
                            <a:srgbClr val="FFFFFF"/>
                          </a:solidFill>
                          <a:effectLst/>
                          <a:cs typeface="Times New Roman"/>
                        </a:rPr>
                        <a:t>Quantity</a:t>
                      </a:r>
                      <a:endParaRPr lang="en-US" sz="1200" dirty="0">
                        <a:effectLst/>
                        <a:cs typeface="Times New Roman"/>
                      </a:endParaRPr>
                    </a:p>
                  </a:txBody>
                  <a:tcPr marL="45130" marR="45130" marT="0" marB="0">
                    <a:lnL>
                      <a:noFill/>
                    </a:lnL>
                    <a:lnR>
                      <a:noFill/>
                    </a:lnR>
                    <a:lnT w="12700" cap="flat" cmpd="sng" algn="ctr">
                      <a:solidFill>
                        <a:srgbClr val="156082"/>
                      </a:solidFill>
                      <a:prstDash val="solid"/>
                      <a:round/>
                      <a:headEnd type="none" w="med" len="med"/>
                      <a:tailEnd type="none" w="med" len="med"/>
                    </a:lnT>
                    <a:lnB w="12700" cap="flat" cmpd="sng" algn="ctr">
                      <a:solidFill>
                        <a:srgbClr val="156082"/>
                      </a:solidFill>
                      <a:prstDash val="solid"/>
                      <a:round/>
                      <a:headEnd type="none" w="med" len="med"/>
                      <a:tailEnd type="none" w="med" len="med"/>
                    </a:lnB>
                    <a:solidFill>
                      <a:srgbClr val="156082"/>
                    </a:solidFill>
                  </a:tcPr>
                </a:tc>
                <a:tc>
                  <a:txBody>
                    <a:bodyPr/>
                    <a:lstStyle/>
                    <a:p>
                      <a:pPr algn="ctr">
                        <a:buNone/>
                      </a:pPr>
                      <a:r>
                        <a:rPr lang="en-US" sz="1200" dirty="0">
                          <a:solidFill>
                            <a:srgbClr val="FFFFFF"/>
                          </a:solidFill>
                          <a:effectLst/>
                          <a:cs typeface="Times New Roman"/>
                        </a:rPr>
                        <a:t>Unit Cost (£)</a:t>
                      </a:r>
                      <a:endParaRPr lang="en-US" sz="1200" dirty="0">
                        <a:effectLst/>
                        <a:cs typeface="Times New Roman"/>
                      </a:endParaRPr>
                    </a:p>
                  </a:txBody>
                  <a:tcPr marL="45130" marR="45130" marT="0" marB="0">
                    <a:lnL>
                      <a:noFill/>
                    </a:lnL>
                    <a:lnR>
                      <a:noFill/>
                    </a:lnR>
                    <a:lnT w="12700" cap="flat" cmpd="sng" algn="ctr">
                      <a:solidFill>
                        <a:srgbClr val="156082"/>
                      </a:solidFill>
                      <a:prstDash val="solid"/>
                      <a:round/>
                      <a:headEnd type="none" w="med" len="med"/>
                      <a:tailEnd type="none" w="med" len="med"/>
                    </a:lnT>
                    <a:lnB w="12700" cap="flat" cmpd="sng" algn="ctr">
                      <a:solidFill>
                        <a:srgbClr val="156082"/>
                      </a:solidFill>
                      <a:prstDash val="solid"/>
                      <a:round/>
                      <a:headEnd type="none" w="med" len="med"/>
                      <a:tailEnd type="none" w="med" len="med"/>
                    </a:lnB>
                    <a:solidFill>
                      <a:srgbClr val="156082"/>
                    </a:solidFill>
                  </a:tcPr>
                </a:tc>
                <a:tc>
                  <a:txBody>
                    <a:bodyPr/>
                    <a:lstStyle/>
                    <a:p>
                      <a:pPr algn="ctr">
                        <a:buNone/>
                      </a:pPr>
                      <a:r>
                        <a:rPr lang="en-US" sz="1200" dirty="0">
                          <a:solidFill>
                            <a:srgbClr val="FFFFFF"/>
                          </a:solidFill>
                          <a:effectLst/>
                          <a:cs typeface="Times New Roman"/>
                        </a:rPr>
                        <a:t>Total Cost (£)</a:t>
                      </a:r>
                      <a:endParaRPr lang="en-US" sz="1200" dirty="0">
                        <a:effectLst/>
                        <a:cs typeface="Times New Roman"/>
                      </a:endParaRPr>
                    </a:p>
                  </a:txBody>
                  <a:tcPr marL="45130" marR="45130" marT="0" marB="0">
                    <a:lnL>
                      <a:noFill/>
                    </a:lnL>
                    <a:lnR w="12700" cap="flat" cmpd="sng" algn="ctr">
                      <a:solidFill>
                        <a:srgbClr val="156082"/>
                      </a:solidFill>
                      <a:prstDash val="solid"/>
                      <a:round/>
                      <a:headEnd type="none" w="med" len="med"/>
                      <a:tailEnd type="none" w="med" len="med"/>
                    </a:lnR>
                    <a:lnT w="12700" cap="flat" cmpd="sng" algn="ctr">
                      <a:solidFill>
                        <a:srgbClr val="156082"/>
                      </a:solidFill>
                      <a:prstDash val="solid"/>
                      <a:round/>
                      <a:headEnd type="none" w="med" len="med"/>
                      <a:tailEnd type="none" w="med" len="med"/>
                    </a:lnT>
                    <a:lnB w="12700" cap="flat" cmpd="sng" algn="ctr">
                      <a:solidFill>
                        <a:srgbClr val="156082"/>
                      </a:solidFill>
                      <a:prstDash val="solid"/>
                      <a:round/>
                      <a:headEnd type="none" w="med" len="med"/>
                      <a:tailEnd type="none" w="med" len="med"/>
                    </a:lnB>
                    <a:solidFill>
                      <a:srgbClr val="156082"/>
                    </a:solidFill>
                  </a:tcPr>
                </a:tc>
                <a:extLst>
                  <a:ext uri="{0D108BD9-81ED-4DB2-BD59-A6C34878D82A}">
                    <a16:rowId xmlns:a16="http://schemas.microsoft.com/office/drawing/2014/main" val="2810148733"/>
                  </a:ext>
                </a:extLst>
              </a:tr>
              <a:tr h="385110">
                <a:tc>
                  <a:txBody>
                    <a:bodyPr/>
                    <a:lstStyle/>
                    <a:p>
                      <a:pPr algn="l">
                        <a:buNone/>
                      </a:pPr>
                      <a:r>
                        <a:rPr lang="en-US" sz="1200" b="1" dirty="0">
                          <a:solidFill>
                            <a:schemeClr val="tx1"/>
                          </a:solidFill>
                          <a:effectLst/>
                          <a:cs typeface="Times New Roman"/>
                        </a:rPr>
                        <a:t>Cisco 2911 Integrated Router</a:t>
                      </a: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156082"/>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1</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156082"/>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1,050.00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156082"/>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1,050.00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156082"/>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extLst>
                  <a:ext uri="{0D108BD9-81ED-4DB2-BD59-A6C34878D82A}">
                    <a16:rowId xmlns:a16="http://schemas.microsoft.com/office/drawing/2014/main" val="3777086815"/>
                  </a:ext>
                </a:extLst>
              </a:tr>
              <a:tr h="565630">
                <a:tc>
                  <a:txBody>
                    <a:bodyPr/>
                    <a:lstStyle/>
                    <a:p>
                      <a:pPr algn="l">
                        <a:buNone/>
                      </a:pPr>
                      <a:r>
                        <a:rPr lang="en-US" sz="1200" b="1" dirty="0">
                          <a:solidFill>
                            <a:schemeClr val="tx1"/>
                          </a:solidFill>
                          <a:effectLst/>
                          <a:cs typeface="Times New Roman"/>
                        </a:rPr>
                        <a:t>Cisco 2960-X Gigabit Switch (24-port)</a:t>
                      </a: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r>
                        <a:rPr lang="en-US" sz="1200" dirty="0">
                          <a:solidFill>
                            <a:schemeClr val="tx1"/>
                          </a:solidFill>
                          <a:effectLst/>
                          <a:cs typeface="Times New Roman"/>
                        </a:rPr>
                        <a:t>5</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r>
                        <a:rPr lang="en-US" sz="1200" dirty="0">
                          <a:solidFill>
                            <a:schemeClr val="tx1"/>
                          </a:solidFill>
                          <a:effectLst/>
                          <a:cs typeface="Times New Roman"/>
                        </a:rPr>
                        <a:t>950.00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r>
                        <a:rPr lang="en-US" sz="1200" dirty="0">
                          <a:solidFill>
                            <a:schemeClr val="tx1"/>
                          </a:solidFill>
                          <a:effectLst/>
                          <a:cs typeface="Times New Roman"/>
                        </a:rPr>
                        <a:t>4,750.00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4000095641"/>
                  </a:ext>
                </a:extLst>
              </a:tr>
              <a:tr h="565630">
                <a:tc>
                  <a:txBody>
                    <a:bodyPr/>
                    <a:lstStyle/>
                    <a:p>
                      <a:pPr algn="l">
                        <a:buNone/>
                      </a:pPr>
                      <a:r>
                        <a:rPr lang="en-US" sz="1200" b="1" dirty="0">
                          <a:solidFill>
                            <a:schemeClr val="tx1"/>
                          </a:solidFill>
                          <a:effectLst/>
                          <a:cs typeface="Times New Roman"/>
                        </a:rPr>
                        <a:t>Enterprise Wireless Access Points (WAP)</a:t>
                      </a: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2</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380.00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760.00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extLst>
                  <a:ext uri="{0D108BD9-81ED-4DB2-BD59-A6C34878D82A}">
                    <a16:rowId xmlns:a16="http://schemas.microsoft.com/office/drawing/2014/main" val="2833233717"/>
                  </a:ext>
                </a:extLst>
              </a:tr>
              <a:tr h="565630">
                <a:tc>
                  <a:txBody>
                    <a:bodyPr/>
                    <a:lstStyle/>
                    <a:p>
                      <a:pPr algn="l">
                        <a:buNone/>
                      </a:pPr>
                      <a:r>
                        <a:rPr lang="en-US" sz="1200" b="1" dirty="0">
                          <a:solidFill>
                            <a:schemeClr val="tx1"/>
                          </a:solidFill>
                          <a:effectLst/>
                          <a:cs typeface="Times New Roman"/>
                        </a:rPr>
                        <a:t>PACS Imaging Server (High Spec)</a:t>
                      </a: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r>
                        <a:rPr lang="en-US" sz="1200" dirty="0">
                          <a:solidFill>
                            <a:schemeClr val="tx1"/>
                          </a:solidFill>
                          <a:effectLst/>
                          <a:cs typeface="Times New Roman"/>
                        </a:rPr>
                        <a:t>1</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r>
                        <a:rPr lang="en-US" sz="1200" dirty="0">
                          <a:solidFill>
                            <a:schemeClr val="tx1"/>
                          </a:solidFill>
                          <a:effectLst/>
                          <a:cs typeface="Times New Roman"/>
                        </a:rPr>
                        <a:t>15,500.00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r>
                        <a:rPr lang="en-US" sz="1200" dirty="0">
                          <a:solidFill>
                            <a:schemeClr val="tx1"/>
                          </a:solidFill>
                          <a:effectLst/>
                          <a:cs typeface="Times New Roman"/>
                        </a:rPr>
                        <a:t>15,500.00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443115395"/>
                  </a:ext>
                </a:extLst>
              </a:tr>
              <a:tr h="565630">
                <a:tc>
                  <a:txBody>
                    <a:bodyPr/>
                    <a:lstStyle/>
                    <a:p>
                      <a:pPr algn="l">
                        <a:buNone/>
                      </a:pPr>
                      <a:r>
                        <a:rPr lang="en-US" sz="1200" b="1" dirty="0">
                          <a:solidFill>
                            <a:schemeClr val="tx1"/>
                          </a:solidFill>
                          <a:effectLst/>
                          <a:cs typeface="Times New Roman"/>
                        </a:rPr>
                        <a:t>Cat6 Cabling &amp; Install Labor (3 floors)</a:t>
                      </a: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1</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2,800.00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tc>
                  <a:txBody>
                    <a:bodyPr/>
                    <a:lstStyle/>
                    <a:p>
                      <a:pPr algn="l">
                        <a:buNone/>
                      </a:pPr>
                      <a:r>
                        <a:rPr lang="en-US" sz="1200" dirty="0">
                          <a:solidFill>
                            <a:schemeClr val="tx1"/>
                          </a:solidFill>
                          <a:effectLst/>
                          <a:cs typeface="Times New Roman"/>
                        </a:rPr>
                        <a:t>2,800.00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solidFill>
                      <a:srgbClr val="C1E4F5"/>
                    </a:solidFill>
                  </a:tcPr>
                </a:tc>
                <a:extLst>
                  <a:ext uri="{0D108BD9-81ED-4DB2-BD59-A6C34878D82A}">
                    <a16:rowId xmlns:a16="http://schemas.microsoft.com/office/drawing/2014/main" val="2886254938"/>
                  </a:ext>
                </a:extLst>
              </a:tr>
              <a:tr h="385110">
                <a:tc>
                  <a:txBody>
                    <a:bodyPr/>
                    <a:lstStyle/>
                    <a:p>
                      <a:pPr algn="l">
                        <a:buNone/>
                      </a:pPr>
                      <a:r>
                        <a:rPr lang="en-US" sz="1200" b="1" dirty="0">
                          <a:solidFill>
                            <a:schemeClr val="tx1"/>
                          </a:solidFill>
                          <a:effectLst/>
                          <a:cs typeface="Times New Roman"/>
                        </a:rPr>
                        <a:t>Total Estimated Cost</a:t>
                      </a: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endParaRPr lang="en-US" sz="1200" dirty="0">
                        <a:solidFill>
                          <a:schemeClr val="tx1"/>
                        </a:solidFill>
                        <a:effectLst/>
                        <a:cs typeface="Times New Roman"/>
                      </a:endParaRP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algn="l">
                        <a:buNone/>
                      </a:pPr>
                      <a:r>
                        <a:rPr lang="en-US" sz="1200" dirty="0">
                          <a:solidFill>
                            <a:schemeClr val="tx1"/>
                          </a:solidFill>
                          <a:effectLst/>
                          <a:cs typeface="Times New Roman"/>
                        </a:rPr>
                        <a:t>£24,860.00</a:t>
                      </a:r>
                    </a:p>
                  </a:txBody>
                  <a:tcPr marL="45130" marR="45130" marT="0" marB="0">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443433111"/>
                  </a:ext>
                </a:extLst>
              </a:tr>
            </a:tbl>
          </a:graphicData>
        </a:graphic>
      </p:graphicFrame>
    </p:spTree>
    <p:extLst>
      <p:ext uri="{BB962C8B-B14F-4D97-AF65-F5344CB8AC3E}">
        <p14:creationId xmlns:p14="http://schemas.microsoft.com/office/powerpoint/2010/main" val="1124864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5BACED0-8B24-D1F4-6465-B806B98929D9}"/>
              </a:ext>
            </a:extLst>
          </p:cNvPr>
          <p:cNvSpPr>
            <a:spLocks noGrp="1"/>
          </p:cNvSpPr>
          <p:nvPr>
            <p:ph type="title"/>
          </p:nvPr>
        </p:nvSpPr>
        <p:spPr>
          <a:xfrm>
            <a:off x="841246" y="673770"/>
            <a:ext cx="3644489" cy="2414488"/>
          </a:xfrm>
        </p:spPr>
        <p:txBody>
          <a:bodyPr anchor="t">
            <a:normAutofit/>
          </a:bodyPr>
          <a:lstStyle/>
          <a:p>
            <a:r>
              <a:rPr lang="en-US" sz="5000" b="1">
                <a:solidFill>
                  <a:srgbClr val="FFFFFF"/>
                </a:solidFill>
                <a:ea typeface="+mj-lt"/>
                <a:cs typeface="+mj-lt"/>
              </a:rPr>
              <a:t>Key Findings &amp; Strategic Implications</a:t>
            </a:r>
            <a:endParaRPr lang="en-US" sz="5000">
              <a:solidFill>
                <a:srgbClr val="FFFFFF"/>
              </a:solidFill>
              <a:ea typeface="+mj-lt"/>
              <a:cs typeface="+mj-lt"/>
            </a:endParaRPr>
          </a:p>
        </p:txBody>
      </p:sp>
      <p:sp>
        <p:nvSpPr>
          <p:cNvPr id="3" name="Content Placeholder 2">
            <a:extLst>
              <a:ext uri="{FF2B5EF4-FFF2-40B4-BE49-F238E27FC236}">
                <a16:creationId xmlns:a16="http://schemas.microsoft.com/office/drawing/2014/main" id="{21C0BCE3-D163-6730-13D1-E42FE2C4BF2A}"/>
              </a:ext>
            </a:extLst>
          </p:cNvPr>
          <p:cNvSpPr>
            <a:spLocks noGrp="1"/>
          </p:cNvSpPr>
          <p:nvPr>
            <p:ph idx="1"/>
          </p:nvPr>
        </p:nvSpPr>
        <p:spPr>
          <a:xfrm>
            <a:off x="6095999" y="882315"/>
            <a:ext cx="5254754" cy="5294647"/>
          </a:xfrm>
        </p:spPr>
        <p:txBody>
          <a:bodyPr vert="horz" lIns="91440" tIns="45720" rIns="91440" bIns="45720" rtlCol="0">
            <a:normAutofit/>
          </a:bodyPr>
          <a:lstStyle/>
          <a:p>
            <a:r>
              <a:rPr lang="en-US" sz="2200">
                <a:ea typeface="+mn-lt"/>
                <a:cs typeface="+mn-lt"/>
              </a:rPr>
              <a:t>70% of devices that are deployment-ready; Tier 1 systems are patient safe [2]</a:t>
            </a:r>
          </a:p>
          <a:p>
            <a:r>
              <a:rPr lang="en-US" sz="2200">
                <a:ea typeface="+mn-lt"/>
                <a:cs typeface="+mn-lt"/>
              </a:rPr>
              <a:t>Program 4-7x interdepartmental throughput enhancement [4]</a:t>
            </a:r>
          </a:p>
          <a:p>
            <a:r>
              <a:rPr lang="en-US" sz="2200">
                <a:ea typeface="+mn-lt"/>
                <a:cs typeface="+mn-lt"/>
              </a:rPr>
              <a:t>VLAN architecture provides isolation of broadcasts, security and scalability.</a:t>
            </a:r>
          </a:p>
          <a:p>
            <a:r>
              <a:rPr lang="en-US" sz="2200">
                <a:ea typeface="+mn-lt"/>
                <a:cs typeface="+mn-lt"/>
              </a:rPr>
              <a:t>PS24 860 investment provides complete modernization [10]</a:t>
            </a:r>
          </a:p>
          <a:p>
            <a:r>
              <a:rPr lang="en-US" sz="2200">
                <a:ea typeface="+mn-lt"/>
                <a:cs typeface="+mn-lt"/>
              </a:rPr>
              <a:t>Critical systems in operation in 3 months; complete in 9 months.</a:t>
            </a:r>
          </a:p>
          <a:p>
            <a:r>
              <a:rPr lang="en-US" sz="2200">
                <a:ea typeface="+mn-lt"/>
                <a:cs typeface="+mn-lt"/>
              </a:rPr>
              <a:t>Restructuring of 3 malfunctioning devices removes safety risks of patients [3]</a:t>
            </a:r>
          </a:p>
        </p:txBody>
      </p:sp>
    </p:spTree>
    <p:extLst>
      <p:ext uri="{BB962C8B-B14F-4D97-AF65-F5344CB8AC3E}">
        <p14:creationId xmlns:p14="http://schemas.microsoft.com/office/powerpoint/2010/main" val="1149684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3B028-E06C-D304-9F74-FAC1953086B1}"/>
              </a:ext>
            </a:extLst>
          </p:cNvPr>
          <p:cNvSpPr>
            <a:spLocks noGrp="1"/>
          </p:cNvSpPr>
          <p:nvPr>
            <p:ph type="title"/>
          </p:nvPr>
        </p:nvSpPr>
        <p:spPr>
          <a:xfrm>
            <a:off x="686834" y="1153572"/>
            <a:ext cx="3200400" cy="4461163"/>
          </a:xfrm>
        </p:spPr>
        <p:txBody>
          <a:bodyPr>
            <a:normAutofit/>
          </a:bodyPr>
          <a:lstStyle/>
          <a:p>
            <a:r>
              <a:rPr lang="en-US" b="1">
                <a:solidFill>
                  <a:srgbClr val="FFFFFF"/>
                </a:solidFill>
                <a:ea typeface="+mj-lt"/>
                <a:cs typeface="+mj-lt"/>
              </a:rPr>
              <a:t>Conclusion </a:t>
            </a:r>
            <a:endParaRPr lang="en-US">
              <a:solidFill>
                <a:srgbClr val="FFFFFF"/>
              </a:solidFill>
              <a:ea typeface="+mj-lt"/>
              <a:cs typeface="+mj-lt"/>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1C12FCB-C14B-4221-9B68-27FF85F0C640}"/>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sz="1800">
                <a:ea typeface="+mn-lt"/>
                <a:cs typeface="+mn-lt"/>
              </a:rPr>
              <a:t>Introduce modernization plan with a stage-by-stage execution plan.</a:t>
            </a:r>
          </a:p>
          <a:p>
            <a:r>
              <a:rPr lang="en-US" sz="1800">
                <a:ea typeface="+mn-lt"/>
                <a:cs typeface="+mn-lt"/>
              </a:rPr>
              <a:t>The anticipated results were that the computational workflows in departments would run faster by 3-7 times.</a:t>
            </a:r>
          </a:p>
          <a:p>
            <a:r>
              <a:rPr lang="en-US" sz="1800">
                <a:ea typeface="+mn-lt"/>
                <a:cs typeface="+mn-lt"/>
              </a:rPr>
              <a:t>Live information retrieval without clinical slowness and bottlenecks.</a:t>
            </a:r>
          </a:p>
          <a:p>
            <a:r>
              <a:rPr lang="en-US" sz="1800">
                <a:ea typeface="+mn-lt"/>
                <a:cs typeface="+mn-lt"/>
              </a:rPr>
              <a:t>Protective, accessible network with future departmental growth.</a:t>
            </a:r>
          </a:p>
          <a:p>
            <a:r>
              <a:rPr lang="en-US" sz="1800">
                <a:ea typeface="+mn-lt"/>
                <a:cs typeface="+mn-lt"/>
              </a:rPr>
              <a:t>Nevertheless, cost-optimized with refurbished equipment and </a:t>
            </a:r>
            <a:r>
              <a:rPr lang="en-US" sz="1800" err="1">
                <a:ea typeface="+mn-lt"/>
                <a:cs typeface="+mn-lt"/>
              </a:rPr>
              <a:t>non profit</a:t>
            </a:r>
            <a:r>
              <a:rPr lang="en-US" sz="1800">
                <a:ea typeface="+mn-lt"/>
                <a:cs typeface="+mn-lt"/>
              </a:rPr>
              <a:t> licensing.</a:t>
            </a:r>
          </a:p>
          <a:p>
            <a:r>
              <a:rPr lang="en-US" sz="1800">
                <a:ea typeface="+mn-lt"/>
                <a:cs typeface="+mn-lt"/>
              </a:rPr>
              <a:t>Get the approval and budget allocation of stakeholders.</a:t>
            </a:r>
          </a:p>
          <a:p>
            <a:r>
              <a:rPr lang="en-US" sz="1800">
                <a:ea typeface="+mn-lt"/>
                <a:cs typeface="+mn-lt"/>
              </a:rPr>
              <a:t>Send RFQ to suppliers to have bids on hardware.</a:t>
            </a:r>
          </a:p>
          <a:p>
            <a:r>
              <a:rPr lang="en-US" sz="1800">
                <a:ea typeface="+mn-lt"/>
                <a:cs typeface="+mn-lt"/>
              </a:rPr>
              <a:t>Implement the schedule network during off-hours in order to reduce the amount of disruption.</a:t>
            </a:r>
          </a:p>
          <a:p>
            <a:r>
              <a:rPr lang="en-US" sz="1800">
                <a:ea typeface="+mn-lt"/>
                <a:cs typeface="+mn-lt"/>
              </a:rPr>
              <a:t>Arrange extensive training of staff about new systems and workflow.</a:t>
            </a:r>
          </a:p>
          <a:p>
            <a:r>
              <a:rPr lang="en-US" sz="1800">
                <a:ea typeface="+mn-lt"/>
                <a:cs typeface="+mn-lt"/>
              </a:rPr>
              <a:t>Provide pre and post deployment monitoring and support procedures.</a:t>
            </a:r>
          </a:p>
        </p:txBody>
      </p:sp>
    </p:spTree>
    <p:extLst>
      <p:ext uri="{BB962C8B-B14F-4D97-AF65-F5344CB8AC3E}">
        <p14:creationId xmlns:p14="http://schemas.microsoft.com/office/powerpoint/2010/main" val="2642639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81A230-35D1-6C4E-A1FF-18563C3912C9}"/>
              </a:ext>
            </a:extLst>
          </p:cNvPr>
          <p:cNvSpPr>
            <a:spLocks noGrp="1"/>
          </p:cNvSpPr>
          <p:nvPr>
            <p:ph type="title"/>
          </p:nvPr>
        </p:nvSpPr>
        <p:spPr>
          <a:xfrm>
            <a:off x="841248" y="548640"/>
            <a:ext cx="3600860" cy="5431536"/>
          </a:xfrm>
        </p:spPr>
        <p:txBody>
          <a:bodyPr>
            <a:normAutofit/>
          </a:bodyPr>
          <a:lstStyle/>
          <a:p>
            <a:r>
              <a:rPr lang="en-US" sz="5400" b="1"/>
              <a:t>References</a:t>
            </a:r>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9F90FD-E22C-D303-3D62-7C933F49D5E9}"/>
              </a:ext>
            </a:extLst>
          </p:cNvPr>
          <p:cNvSpPr>
            <a:spLocks noGrp="1"/>
          </p:cNvSpPr>
          <p:nvPr>
            <p:ph idx="1"/>
          </p:nvPr>
        </p:nvSpPr>
        <p:spPr>
          <a:xfrm>
            <a:off x="5126418" y="552091"/>
            <a:ext cx="6224335" cy="5431536"/>
          </a:xfrm>
        </p:spPr>
        <p:txBody>
          <a:bodyPr vert="horz" lIns="91440" tIns="45720" rIns="91440" bIns="45720" rtlCol="0" anchor="ctr">
            <a:normAutofit/>
          </a:bodyPr>
          <a:lstStyle/>
          <a:p>
            <a:pPr marL="0" indent="0">
              <a:buNone/>
            </a:pPr>
            <a:r>
              <a:rPr lang="en-US" sz="1000">
                <a:ea typeface="+mn-lt"/>
                <a:cs typeface="+mn-lt"/>
              </a:rPr>
              <a:t>[1]    A. Abera et al., “Electronic medical record (EMR) pre-deployment assessment for adoption readiness, acceptability, and associated factors at Hiwot Fana comprehensive specialized university hospital,” BMC Med. Inform. Decis. Mak., vol. 25, no. 1, 2025, doi: 10.1186/s12911-025-03169-3.</a:t>
            </a:r>
            <a:endParaRPr lang="en-US" sz="1000"/>
          </a:p>
          <a:p>
            <a:pPr marL="0" indent="0">
              <a:buNone/>
            </a:pPr>
            <a:r>
              <a:rPr lang="en-US" sz="1000">
                <a:ea typeface="+mn-lt"/>
                <a:cs typeface="+mn-lt"/>
              </a:rPr>
              <a:t>[2]    L. Nissen et al., “Medicine on the Edge: Comparative Performance Analysis of On-Device LLMs for Clinical Reasoning,” ArXiv Cornell Univ., 2025, doi: 10.48550/arxiv.2502.08954.</a:t>
            </a:r>
            <a:endParaRPr lang="en-US" sz="1000"/>
          </a:p>
          <a:p>
            <a:pPr marL="0" indent="0">
              <a:buNone/>
            </a:pPr>
            <a:r>
              <a:rPr lang="en-US" sz="1000">
                <a:ea typeface="+mn-lt"/>
                <a:cs typeface="+mn-lt"/>
              </a:rPr>
              <a:t>[3]    “Novabench - My Reference PC Benchmark Result,” Novabench. [Online]. Available: </a:t>
            </a:r>
            <a:r>
              <a:rPr lang="en-US" sz="1000">
                <a:ea typeface="+mn-lt"/>
                <a:cs typeface="+mn-lt"/>
                <a:hlinkClick r:id="rId2"/>
              </a:rPr>
              <a:t>https://novabench.com/result/6cc9e4db-1c5d-4a57-8197-438525329a50</a:t>
            </a:r>
            <a:endParaRPr lang="en-US" sz="1000"/>
          </a:p>
          <a:p>
            <a:pPr marL="0" indent="0">
              <a:buNone/>
            </a:pPr>
            <a:r>
              <a:rPr lang="en-US" sz="1000">
                <a:ea typeface="+mn-lt"/>
                <a:cs typeface="+mn-lt"/>
              </a:rPr>
              <a:t>[4]    P. Hübner, A. Hu, I. Peng, and S. Markidis, “Apple vs. Oranges: Evaluating the Apple Silicon M-Series SoCs for HPC Performance and Efficiency,” ArXiv Cornell Univ., 2025, doi: 10.48550/arxiv.2502.05317.</a:t>
            </a:r>
            <a:endParaRPr lang="en-US" sz="1000"/>
          </a:p>
          <a:p>
            <a:pPr marL="0" indent="0">
              <a:buNone/>
            </a:pPr>
            <a:r>
              <a:rPr lang="en-US" sz="1000">
                <a:ea typeface="+mn-lt"/>
                <a:cs typeface="+mn-lt"/>
              </a:rPr>
              <a:t>[5]    Karthik Chakravarthy Cheekuri, “Distributed Computing Architectures: Scaling Modern Software in Multi-Cloud Environments,” World J. Adv. Eng. Technol. Sci., vol. 15, no. 3, pp. 508–515, 2025, doi: 10.30574/wjaets.2025.15.3.0949.</a:t>
            </a:r>
            <a:endParaRPr lang="en-US" sz="1000"/>
          </a:p>
          <a:p>
            <a:pPr marL="0" indent="0">
              <a:buNone/>
            </a:pPr>
            <a:r>
              <a:rPr lang="en-US" sz="1000">
                <a:ea typeface="+mn-lt"/>
                <a:cs typeface="+mn-lt"/>
              </a:rPr>
              <a:t>[6]    A. Sevin, “Implementation of a Data-Parallel Approach on a Lightweight Hash Function for IoT Devices,” Mathematics, vol. 13, no. 5, p. 734, 2025, doi: 10.3390/math13050734.</a:t>
            </a:r>
            <a:endParaRPr lang="en-US" sz="1000"/>
          </a:p>
          <a:p>
            <a:pPr marL="0" indent="0">
              <a:buNone/>
            </a:pPr>
            <a:r>
              <a:rPr lang="en-US" sz="1000">
                <a:ea typeface="+mn-lt"/>
                <a:cs typeface="+mn-lt"/>
              </a:rPr>
              <a:t>[7]     ritu rani and R. pal singh, “Analysis of intrusion detection system in switches-based gigabit networks,” 2024, doi: 10.21203/rs.3.rs-5024957/v1.</a:t>
            </a:r>
            <a:endParaRPr lang="en-US" sz="1000"/>
          </a:p>
          <a:p>
            <a:pPr marL="0" indent="0">
              <a:buNone/>
            </a:pPr>
            <a:r>
              <a:rPr lang="en-US" sz="1000">
                <a:ea typeface="+mn-lt"/>
                <a:cs typeface="+mn-lt"/>
              </a:rPr>
              <a:t>[8]    L. Colitti, “Using DHCPv6 Prefix Delegation (DHCPv6-PD) to Allocate Unique IPv6 Prefixes per Client in Large Broadcast Networks,” 2024, doi: 10.17487/rfc9663.</a:t>
            </a:r>
            <a:endParaRPr lang="en-US" sz="1000"/>
          </a:p>
          <a:p>
            <a:pPr marL="0" indent="0">
              <a:buNone/>
            </a:pPr>
            <a:r>
              <a:rPr lang="en-US" sz="1000">
                <a:ea typeface="+mn-lt"/>
                <a:cs typeface="+mn-lt"/>
              </a:rPr>
              <a:t>[9]    S. U. Khan, S. U. Jan, T. Hwang, and I.-S. Koo, “Hybrid Wi-Fi and PLC network for efficient e-health communication in hospitals: a prototype,” Bull. Electr. Eng. Inform., vol. 13, no. 2, pp. 1400–1410, 2024, doi: 10.11591/eei.v13i2.5309.</a:t>
            </a:r>
            <a:endParaRPr lang="en-US" sz="1000"/>
          </a:p>
          <a:p>
            <a:pPr marL="0" indent="0">
              <a:buNone/>
            </a:pPr>
            <a:r>
              <a:rPr lang="en-US" sz="1000">
                <a:ea typeface="+mn-lt"/>
                <a:cs typeface="+mn-lt"/>
              </a:rPr>
              <a:t>[10]    “How Much Does a PACS System Cost for Radiology Centers?,” sbs-me. [Online]. Available: https://sbs-me.com/how-much-pacs-system-radiology-cost/</a:t>
            </a:r>
            <a:endParaRPr lang="en-US" sz="1000"/>
          </a:p>
        </p:txBody>
      </p:sp>
    </p:spTree>
    <p:extLst>
      <p:ext uri="{BB962C8B-B14F-4D97-AF65-F5344CB8AC3E}">
        <p14:creationId xmlns:p14="http://schemas.microsoft.com/office/powerpoint/2010/main" val="13088368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5157</Words>
  <Application>Microsoft Office PowerPoint</Application>
  <PresentationFormat>Widescreen</PresentationFormat>
  <Paragraphs>165</Paragraphs>
  <Slides>15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Times New Roman</vt:lpstr>
      <vt:lpstr>office theme</vt:lpstr>
      <vt:lpstr>City Health Clinic IT Infrastructure Modernization</vt:lpstr>
      <vt:lpstr>Scenario Overview</vt:lpstr>
      <vt:lpstr>Part A - Benchmarking Methodology</vt:lpstr>
      <vt:lpstr>Performance Results - Asset Inventory</vt:lpstr>
      <vt:lpstr>Critical Anomaly – HP Envy (11th Gen)</vt:lpstr>
      <vt:lpstr>Department Assignment Matrix</vt:lpstr>
      <vt:lpstr>Asset Disposition Recommendations</vt:lpstr>
      <vt:lpstr>Part B - Parallel Computing Needs Analysis</vt:lpstr>
      <vt:lpstr>Parallel Computing Application Matrix</vt:lpstr>
      <vt:lpstr>Part C - Network Architecture Design</vt:lpstr>
      <vt:lpstr>Network Services &amp; Implementation</vt:lpstr>
      <vt:lpstr>Part D - Budget Estimation &amp; Financial Strategy</vt:lpstr>
      <vt:lpstr>Key Findings &amp; Strategic Implications</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2025-12-10T19:26:52Z</dcterms:created>
  <dcterms:modified xsi:type="dcterms:W3CDTF">2025-12-10T19:28:12Z</dcterms:modified>
</cp:coreProperties>
</file>