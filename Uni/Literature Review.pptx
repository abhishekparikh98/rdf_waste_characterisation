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5" r:id="rId3"/>
    <p:sldId id="347" r:id="rId4"/>
    <p:sldId id="345" r:id="rId5"/>
    <p:sldId id="261" r:id="rId6"/>
    <p:sldId id="348" r:id="rId7"/>
    <p:sldId id="326" r:id="rId8"/>
    <p:sldId id="334" r:id="rId9"/>
    <p:sldId id="349" r:id="rId10"/>
    <p:sldId id="327" r:id="rId11"/>
    <p:sldId id="328" r:id="rId12"/>
    <p:sldId id="258" r:id="rId13"/>
    <p:sldId id="260" r:id="rId14"/>
    <p:sldId id="350" r:id="rId15"/>
    <p:sldId id="351" r:id="rId16"/>
    <p:sldId id="352" r:id="rId17"/>
    <p:sldId id="265" r:id="rId18"/>
    <p:sldId id="353" r:id="rId19"/>
    <p:sldId id="355" r:id="rId20"/>
    <p:sldId id="266" r:id="rId21"/>
    <p:sldId id="269" r:id="rId22"/>
    <p:sldId id="268" r:id="rId23"/>
    <p:sldId id="356" r:id="rId24"/>
    <p:sldId id="357" r:id="rId25"/>
    <p:sldId id="270" r:id="rId26"/>
    <p:sldId id="331" r:id="rId27"/>
    <p:sldId id="332" r:id="rId28"/>
    <p:sldId id="336" r:id="rId29"/>
    <p:sldId id="338" r:id="rId30"/>
    <p:sldId id="337" r:id="rId31"/>
    <p:sldId id="340" r:id="rId32"/>
    <p:sldId id="344" r:id="rId33"/>
    <p:sldId id="271" r:id="rId34"/>
    <p:sldId id="26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5243"/>
    <a:srgbClr val="3075FF"/>
    <a:srgbClr val="119A92"/>
    <a:srgbClr val="870000"/>
    <a:srgbClr val="75C2AA"/>
    <a:srgbClr val="CBCCD2"/>
    <a:srgbClr val="F8F6CA"/>
    <a:srgbClr val="063532"/>
    <a:srgbClr val="F1F1F1"/>
    <a:srgbClr val="EED0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3" autoAdjust="0"/>
    <p:restoredTop sz="94660"/>
  </p:normalViewPr>
  <p:slideViewPr>
    <p:cSldViewPr snapToGrid="0">
      <p:cViewPr varScale="1">
        <p:scale>
          <a:sx n="95" d="100"/>
          <a:sy n="95" d="100"/>
        </p:scale>
        <p:origin x="130" y="53"/>
      </p:cViewPr>
      <p:guideLst>
        <p:guide orient="horz" pos="4178"/>
        <p:guide pos="3840"/>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Javaheri" userId="72c5dde4-b71e-4bed-a6d4-7809695308b0" providerId="ADAL" clId="{B40C4F06-D16E-4A15-9200-688015E24163}"/>
    <pc:docChg chg="undo custSel modSld">
      <pc:chgData name="Mohammad Javaheri" userId="72c5dde4-b71e-4bed-a6d4-7809695308b0" providerId="ADAL" clId="{B40C4F06-D16E-4A15-9200-688015E24163}" dt="2025-06-19T11:06:49.320" v="81" actId="20577"/>
      <pc:docMkLst>
        <pc:docMk/>
      </pc:docMkLst>
      <pc:sldChg chg="modSp mod">
        <pc:chgData name="Mohammad Javaheri" userId="72c5dde4-b71e-4bed-a6d4-7809695308b0" providerId="ADAL" clId="{B40C4F06-D16E-4A15-9200-688015E24163}" dt="2025-06-19T11:06:49.320" v="81" actId="20577"/>
        <pc:sldMkLst>
          <pc:docMk/>
          <pc:sldMk cId="3999230286" sldId="257"/>
        </pc:sldMkLst>
        <pc:spChg chg="mod">
          <ac:chgData name="Mohammad Javaheri" userId="72c5dde4-b71e-4bed-a6d4-7809695308b0" providerId="ADAL" clId="{B40C4F06-D16E-4A15-9200-688015E24163}" dt="2025-06-19T11:05:59.622" v="42" actId="20577"/>
          <ac:spMkLst>
            <pc:docMk/>
            <pc:sldMk cId="3999230286" sldId="257"/>
            <ac:spMk id="6" creationId="{D9B5EE0A-878A-594B-5E78-A954372A4F11}"/>
          </ac:spMkLst>
        </pc:spChg>
        <pc:spChg chg="mod">
          <ac:chgData name="Mohammad Javaheri" userId="72c5dde4-b71e-4bed-a6d4-7809695308b0" providerId="ADAL" clId="{B40C4F06-D16E-4A15-9200-688015E24163}" dt="2025-06-19T11:06:49.320" v="81" actId="20577"/>
          <ac:spMkLst>
            <pc:docMk/>
            <pc:sldMk cId="3999230286" sldId="257"/>
            <ac:spMk id="8" creationId="{192D4E25-4A15-F302-45AF-52408EC6981E}"/>
          </ac:spMkLst>
        </pc:spChg>
      </pc:sldChg>
    </pc:docChg>
  </pc:docChgLst>
  <pc:docChgLst>
    <pc:chgData name="Mohammad Javaheri" userId="72c5dde4-b71e-4bed-a6d4-7809695308b0" providerId="ADAL" clId="{6AC253F7-D0DC-4CE3-BF67-1ABD6B5094D0}"/>
    <pc:docChg chg="undo custSel addSld delSld modSld sldOrd">
      <pc:chgData name="Mohammad Javaheri" userId="72c5dde4-b71e-4bed-a6d4-7809695308b0" providerId="ADAL" clId="{6AC253F7-D0DC-4CE3-BF67-1ABD6B5094D0}" dt="2025-02-18T20:16:59.127" v="637" actId="114"/>
      <pc:docMkLst>
        <pc:docMk/>
      </pc:docMkLst>
      <pc:sldChg chg="modSp mod">
        <pc:chgData name="Mohammad Javaheri" userId="72c5dde4-b71e-4bed-a6d4-7809695308b0" providerId="ADAL" clId="{6AC253F7-D0DC-4CE3-BF67-1ABD6B5094D0}" dt="2025-02-18T18:54:35.295" v="47" actId="6549"/>
        <pc:sldMkLst>
          <pc:docMk/>
          <pc:sldMk cId="3999230286" sldId="257"/>
        </pc:sldMkLst>
      </pc:sldChg>
      <pc:sldChg chg="modSp mod">
        <pc:chgData name="Mohammad Javaheri" userId="72c5dde4-b71e-4bed-a6d4-7809695308b0" providerId="ADAL" clId="{6AC253F7-D0DC-4CE3-BF67-1ABD6B5094D0}" dt="2025-02-18T19:35:15.931" v="141" actId="27636"/>
        <pc:sldMkLst>
          <pc:docMk/>
          <pc:sldMk cId="2589793194" sldId="261"/>
        </pc:sldMkLst>
      </pc:sldChg>
      <pc:sldChg chg="del">
        <pc:chgData name="Mohammad Javaheri" userId="72c5dde4-b71e-4bed-a6d4-7809695308b0" providerId="ADAL" clId="{6AC253F7-D0DC-4CE3-BF67-1ABD6B5094D0}" dt="2025-02-18T19:55:24.975" v="349" actId="47"/>
        <pc:sldMkLst>
          <pc:docMk/>
          <pc:sldMk cId="1155237229" sldId="263"/>
        </pc:sldMkLst>
      </pc:sldChg>
      <pc:sldChg chg="del">
        <pc:chgData name="Mohammad Javaheri" userId="72c5dde4-b71e-4bed-a6d4-7809695308b0" providerId="ADAL" clId="{6AC253F7-D0DC-4CE3-BF67-1ABD6B5094D0}" dt="2025-02-18T19:55:27.417" v="350" actId="47"/>
        <pc:sldMkLst>
          <pc:docMk/>
          <pc:sldMk cId="3958538350" sldId="264"/>
        </pc:sldMkLst>
      </pc:sldChg>
      <pc:sldChg chg="modSp mod">
        <pc:chgData name="Mohammad Javaheri" userId="72c5dde4-b71e-4bed-a6d4-7809695308b0" providerId="ADAL" clId="{6AC253F7-D0DC-4CE3-BF67-1ABD6B5094D0}" dt="2025-02-18T19:58:41.026" v="412" actId="6549"/>
        <pc:sldMkLst>
          <pc:docMk/>
          <pc:sldMk cId="2480556252" sldId="265"/>
        </pc:sldMkLst>
      </pc:sldChg>
      <pc:sldChg chg="addSp modSp mod">
        <pc:chgData name="Mohammad Javaheri" userId="72c5dde4-b71e-4bed-a6d4-7809695308b0" providerId="ADAL" clId="{6AC253F7-D0DC-4CE3-BF67-1ABD6B5094D0}" dt="2025-02-18T20:03:21.522" v="477"/>
        <pc:sldMkLst>
          <pc:docMk/>
          <pc:sldMk cId="1850839543" sldId="266"/>
        </pc:sldMkLst>
      </pc:sldChg>
      <pc:sldChg chg="del">
        <pc:chgData name="Mohammad Javaheri" userId="72c5dde4-b71e-4bed-a6d4-7809695308b0" providerId="ADAL" clId="{6AC253F7-D0DC-4CE3-BF67-1ABD6B5094D0}" dt="2025-02-18T19:56:36.528" v="351" actId="47"/>
        <pc:sldMkLst>
          <pc:docMk/>
          <pc:sldMk cId="4048642779" sldId="267"/>
        </pc:sldMkLst>
      </pc:sldChg>
      <pc:sldChg chg="modSp mod">
        <pc:chgData name="Mohammad Javaheri" userId="72c5dde4-b71e-4bed-a6d4-7809695308b0" providerId="ADAL" clId="{6AC253F7-D0DC-4CE3-BF67-1ABD6B5094D0}" dt="2025-02-18T20:05:51.145" v="497" actId="6549"/>
        <pc:sldMkLst>
          <pc:docMk/>
          <pc:sldMk cId="3016425961" sldId="268"/>
        </pc:sldMkLst>
      </pc:sldChg>
      <pc:sldChg chg="modSp mod">
        <pc:chgData name="Mohammad Javaheri" userId="72c5dde4-b71e-4bed-a6d4-7809695308b0" providerId="ADAL" clId="{6AC253F7-D0DC-4CE3-BF67-1ABD6B5094D0}" dt="2025-02-18T20:05:20.306" v="489" actId="113"/>
        <pc:sldMkLst>
          <pc:docMk/>
          <pc:sldMk cId="3782214339" sldId="269"/>
        </pc:sldMkLst>
      </pc:sldChg>
      <pc:sldChg chg="modSp mod">
        <pc:chgData name="Mohammad Javaheri" userId="72c5dde4-b71e-4bed-a6d4-7809695308b0" providerId="ADAL" clId="{6AC253F7-D0DC-4CE3-BF67-1ABD6B5094D0}" dt="2025-02-18T20:11:55.431" v="584" actId="113"/>
        <pc:sldMkLst>
          <pc:docMk/>
          <pc:sldMk cId="3167054821" sldId="270"/>
        </pc:sldMkLst>
      </pc:sldChg>
      <pc:sldChg chg="modSp mod">
        <pc:chgData name="Mohammad Javaheri" userId="72c5dde4-b71e-4bed-a6d4-7809695308b0" providerId="ADAL" clId="{6AC253F7-D0DC-4CE3-BF67-1ABD6B5094D0}" dt="2025-02-18T20:16:59.127" v="637" actId="114"/>
        <pc:sldMkLst>
          <pc:docMk/>
          <pc:sldMk cId="3613293368" sldId="271"/>
        </pc:sldMkLst>
      </pc:sldChg>
      <pc:sldChg chg="modSp mod">
        <pc:chgData name="Mohammad Javaheri" userId="72c5dde4-b71e-4bed-a6d4-7809695308b0" providerId="ADAL" clId="{6AC253F7-D0DC-4CE3-BF67-1ABD6B5094D0}" dt="2025-02-18T19:40:48.218" v="219" actId="207"/>
        <pc:sldMkLst>
          <pc:docMk/>
          <pc:sldMk cId="1701290203" sldId="326"/>
        </pc:sldMkLst>
      </pc:sldChg>
      <pc:sldChg chg="modSp mod">
        <pc:chgData name="Mohammad Javaheri" userId="72c5dde4-b71e-4bed-a6d4-7809695308b0" providerId="ADAL" clId="{6AC253F7-D0DC-4CE3-BF67-1ABD6B5094D0}" dt="2025-02-18T19:43:52.457" v="248" actId="207"/>
        <pc:sldMkLst>
          <pc:docMk/>
          <pc:sldMk cId="1257309814" sldId="327"/>
        </pc:sldMkLst>
      </pc:sldChg>
      <pc:sldChg chg="modSp mod">
        <pc:chgData name="Mohammad Javaheri" userId="72c5dde4-b71e-4bed-a6d4-7809695308b0" providerId="ADAL" clId="{6AC253F7-D0DC-4CE3-BF67-1ABD6B5094D0}" dt="2025-02-18T19:47:13.082" v="274" actId="6549"/>
        <pc:sldMkLst>
          <pc:docMk/>
          <pc:sldMk cId="1916013656" sldId="328"/>
        </pc:sldMkLst>
      </pc:sldChg>
      <pc:sldChg chg="modSp mod">
        <pc:chgData name="Mohammad Javaheri" userId="72c5dde4-b71e-4bed-a6d4-7809695308b0" providerId="ADAL" clId="{6AC253F7-D0DC-4CE3-BF67-1ABD6B5094D0}" dt="2025-02-18T20:12:42.667" v="586" actId="20577"/>
        <pc:sldMkLst>
          <pc:docMk/>
          <pc:sldMk cId="1023765508" sldId="331"/>
        </pc:sldMkLst>
      </pc:sldChg>
      <pc:sldChg chg="modSp mod">
        <pc:chgData name="Mohammad Javaheri" userId="72c5dde4-b71e-4bed-a6d4-7809695308b0" providerId="ADAL" clId="{6AC253F7-D0DC-4CE3-BF67-1ABD6B5094D0}" dt="2025-02-18T20:13:32.771" v="587" actId="20577"/>
        <pc:sldMkLst>
          <pc:docMk/>
          <pc:sldMk cId="4001594715" sldId="332"/>
        </pc:sldMkLst>
      </pc:sldChg>
      <pc:sldChg chg="modSp mod">
        <pc:chgData name="Mohammad Javaheri" userId="72c5dde4-b71e-4bed-a6d4-7809695308b0" providerId="ADAL" clId="{6AC253F7-D0DC-4CE3-BF67-1ABD6B5094D0}" dt="2025-02-18T19:45:57.137" v="261" actId="6549"/>
        <pc:sldMkLst>
          <pc:docMk/>
          <pc:sldMk cId="2104291006" sldId="334"/>
        </pc:sldMkLst>
      </pc:sldChg>
      <pc:sldChg chg="modSp del mod">
        <pc:chgData name="Mohammad Javaheri" userId="72c5dde4-b71e-4bed-a6d4-7809695308b0" providerId="ADAL" clId="{6AC253F7-D0DC-4CE3-BF67-1ABD6B5094D0}" dt="2025-02-18T19:03:13.435" v="65" actId="47"/>
        <pc:sldMkLst>
          <pc:docMk/>
          <pc:sldMk cId="4060249239" sldId="335"/>
        </pc:sldMkLst>
      </pc:sldChg>
      <pc:sldChg chg="addSp modSp mod">
        <pc:chgData name="Mohammad Javaheri" userId="72c5dde4-b71e-4bed-a6d4-7809695308b0" providerId="ADAL" clId="{6AC253F7-D0DC-4CE3-BF67-1ABD6B5094D0}" dt="2025-02-18T20:14:39.933" v="605" actId="6549"/>
        <pc:sldMkLst>
          <pc:docMk/>
          <pc:sldMk cId="3828242980" sldId="336"/>
        </pc:sldMkLst>
      </pc:sldChg>
      <pc:sldChg chg="del">
        <pc:chgData name="Mohammad Javaheri" userId="72c5dde4-b71e-4bed-a6d4-7809695308b0" providerId="ADAL" clId="{6AC253F7-D0DC-4CE3-BF67-1ABD6B5094D0}" dt="2025-02-18T20:15:17.489" v="606" actId="47"/>
        <pc:sldMkLst>
          <pc:docMk/>
          <pc:sldMk cId="2728355057" sldId="339"/>
        </pc:sldMkLst>
      </pc:sldChg>
      <pc:sldChg chg="modSp mod">
        <pc:chgData name="Mohammad Javaheri" userId="72c5dde4-b71e-4bed-a6d4-7809695308b0" providerId="ADAL" clId="{6AC253F7-D0DC-4CE3-BF67-1ABD6B5094D0}" dt="2025-02-18T20:15:42.996" v="608" actId="20577"/>
        <pc:sldMkLst>
          <pc:docMk/>
          <pc:sldMk cId="3847113679" sldId="340"/>
        </pc:sldMkLst>
      </pc:sldChg>
      <pc:sldChg chg="modSp add mod ord">
        <pc:chgData name="Mohammad Javaheri" userId="72c5dde4-b71e-4bed-a6d4-7809695308b0" providerId="ADAL" clId="{6AC253F7-D0DC-4CE3-BF67-1ABD6B5094D0}" dt="2025-02-18T19:08:18.548" v="126"/>
        <pc:sldMkLst>
          <pc:docMk/>
          <pc:sldMk cId="1339203740" sldId="345"/>
        </pc:sldMkLst>
      </pc:sldChg>
      <pc:sldChg chg="addSp delSp modSp new del mod">
        <pc:chgData name="Mohammad Javaheri" userId="72c5dde4-b71e-4bed-a6d4-7809695308b0" providerId="ADAL" clId="{6AC253F7-D0DC-4CE3-BF67-1ABD6B5094D0}" dt="2025-02-18T19:34:33.914" v="131" actId="47"/>
        <pc:sldMkLst>
          <pc:docMk/>
          <pc:sldMk cId="99280085" sldId="346"/>
        </pc:sldMkLst>
      </pc:sldChg>
      <pc:sldChg chg="modSp new mod ord">
        <pc:chgData name="Mohammad Javaheri" userId="72c5dde4-b71e-4bed-a6d4-7809695308b0" providerId="ADAL" clId="{6AC253F7-D0DC-4CE3-BF67-1ABD6B5094D0}" dt="2025-02-18T19:33:40.729" v="130"/>
        <pc:sldMkLst>
          <pc:docMk/>
          <pc:sldMk cId="802697089" sldId="347"/>
        </pc:sldMkLst>
      </pc:sldChg>
      <pc:sldChg chg="modSp add mod">
        <pc:chgData name="Mohammad Javaheri" userId="72c5dde4-b71e-4bed-a6d4-7809695308b0" providerId="ADAL" clId="{6AC253F7-D0DC-4CE3-BF67-1ABD6B5094D0}" dt="2025-02-18T19:37:32.426" v="163" actId="313"/>
        <pc:sldMkLst>
          <pc:docMk/>
          <pc:sldMk cId="4128064812" sldId="348"/>
        </pc:sldMkLst>
      </pc:sldChg>
      <pc:sldChg chg="modSp add mod">
        <pc:chgData name="Mohammad Javaheri" userId="72c5dde4-b71e-4bed-a6d4-7809695308b0" providerId="ADAL" clId="{6AC253F7-D0DC-4CE3-BF67-1ABD6B5094D0}" dt="2025-02-18T19:42:25.411" v="237" actId="313"/>
        <pc:sldMkLst>
          <pc:docMk/>
          <pc:sldMk cId="3992504277" sldId="349"/>
        </pc:sldMkLst>
      </pc:sldChg>
      <pc:sldChg chg="modSp new mod">
        <pc:chgData name="Mohammad Javaheri" userId="72c5dde4-b71e-4bed-a6d4-7809695308b0" providerId="ADAL" clId="{6AC253F7-D0DC-4CE3-BF67-1ABD6B5094D0}" dt="2025-02-18T19:52:11.176" v="327" actId="114"/>
        <pc:sldMkLst>
          <pc:docMk/>
          <pc:sldMk cId="2109466123" sldId="350"/>
        </pc:sldMkLst>
      </pc:sldChg>
      <pc:sldChg chg="add del">
        <pc:chgData name="Mohammad Javaheri" userId="72c5dde4-b71e-4bed-a6d4-7809695308b0" providerId="ADAL" clId="{6AC253F7-D0DC-4CE3-BF67-1ABD6B5094D0}" dt="2025-02-18T19:47:31.695" v="277" actId="47"/>
        <pc:sldMkLst>
          <pc:docMk/>
          <pc:sldMk cId="2583068967" sldId="350"/>
        </pc:sldMkLst>
      </pc:sldChg>
      <pc:sldChg chg="add del">
        <pc:chgData name="Mohammad Javaheri" userId="72c5dde4-b71e-4bed-a6d4-7809695308b0" providerId="ADAL" clId="{6AC253F7-D0DC-4CE3-BF67-1ABD6B5094D0}" dt="2025-02-18T19:47:17.340" v="276" actId="2890"/>
        <pc:sldMkLst>
          <pc:docMk/>
          <pc:sldMk cId="2350045689" sldId="351"/>
        </pc:sldMkLst>
      </pc:sldChg>
      <pc:sldChg chg="modSp add mod">
        <pc:chgData name="Mohammad Javaheri" userId="72c5dde4-b71e-4bed-a6d4-7809695308b0" providerId="ADAL" clId="{6AC253F7-D0DC-4CE3-BF67-1ABD6B5094D0}" dt="2025-02-18T19:53:50.457" v="345" actId="20577"/>
        <pc:sldMkLst>
          <pc:docMk/>
          <pc:sldMk cId="2934293981" sldId="351"/>
        </pc:sldMkLst>
      </pc:sldChg>
      <pc:sldChg chg="modSp add mod">
        <pc:chgData name="Mohammad Javaheri" userId="72c5dde4-b71e-4bed-a6d4-7809695308b0" providerId="ADAL" clId="{6AC253F7-D0DC-4CE3-BF67-1ABD6B5094D0}" dt="2025-02-18T19:54:03.409" v="348" actId="403"/>
        <pc:sldMkLst>
          <pc:docMk/>
          <pc:sldMk cId="2321048934" sldId="352"/>
        </pc:sldMkLst>
      </pc:sldChg>
      <pc:sldChg chg="modSp add mod">
        <pc:chgData name="Mohammad Javaheri" userId="72c5dde4-b71e-4bed-a6d4-7809695308b0" providerId="ADAL" clId="{6AC253F7-D0DC-4CE3-BF67-1ABD6B5094D0}" dt="2025-02-18T20:00:33.496" v="436" actId="15"/>
        <pc:sldMkLst>
          <pc:docMk/>
          <pc:sldMk cId="2842909509" sldId="353"/>
        </pc:sldMkLst>
      </pc:sldChg>
      <pc:sldChg chg="modSp add del mod">
        <pc:chgData name="Mohammad Javaheri" userId="72c5dde4-b71e-4bed-a6d4-7809695308b0" providerId="ADAL" clId="{6AC253F7-D0DC-4CE3-BF67-1ABD6B5094D0}" dt="2025-02-18T20:00:45.688" v="438" actId="47"/>
        <pc:sldMkLst>
          <pc:docMk/>
          <pc:sldMk cId="962093748" sldId="354"/>
        </pc:sldMkLst>
      </pc:sldChg>
      <pc:sldChg chg="modSp add mod">
        <pc:chgData name="Mohammad Javaheri" userId="72c5dde4-b71e-4bed-a6d4-7809695308b0" providerId="ADAL" clId="{6AC253F7-D0DC-4CE3-BF67-1ABD6B5094D0}" dt="2025-02-18T20:01:37.839" v="456" actId="313"/>
        <pc:sldMkLst>
          <pc:docMk/>
          <pc:sldMk cId="1854404296" sldId="355"/>
        </pc:sldMkLst>
      </pc:sldChg>
      <pc:sldChg chg="modSp add mod">
        <pc:chgData name="Mohammad Javaheri" userId="72c5dde4-b71e-4bed-a6d4-7809695308b0" providerId="ADAL" clId="{6AC253F7-D0DC-4CE3-BF67-1ABD6B5094D0}" dt="2025-02-18T20:08:56.166" v="545" actId="113"/>
        <pc:sldMkLst>
          <pc:docMk/>
          <pc:sldMk cId="1751365458" sldId="356"/>
        </pc:sldMkLst>
      </pc:sldChg>
      <pc:sldChg chg="modSp add mod">
        <pc:chgData name="Mohammad Javaheri" userId="72c5dde4-b71e-4bed-a6d4-7809695308b0" providerId="ADAL" clId="{6AC253F7-D0DC-4CE3-BF67-1ABD6B5094D0}" dt="2025-02-18T20:09:30.260" v="550" actId="15"/>
        <pc:sldMkLst>
          <pc:docMk/>
          <pc:sldMk cId="853743342" sldId="3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1646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8F6CA"/>
        </a:solidFill>
        <a:effectLst/>
      </p:bgPr>
    </p:bg>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BCADC0BE-71CD-1525-CDEC-89FAE8A2143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dirty="0">
              <a:solidFill>
                <a:srgbClr val="F8F6CA"/>
              </a:solidFill>
              <a:latin typeface="+mn-lt"/>
            </a:endParaRPr>
          </a:p>
        </p:txBody>
      </p:sp>
    </p:spTree>
    <p:extLst>
      <p:ext uri="{BB962C8B-B14F-4D97-AF65-F5344CB8AC3E}">
        <p14:creationId xmlns:p14="http://schemas.microsoft.com/office/powerpoint/2010/main" val="1644869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4000" baseline="0">
                <a:solidFill>
                  <a:schemeClr val="tx1"/>
                </a:solidFill>
                <a:latin typeface="+mj-lt"/>
              </a:defRPr>
            </a:lvl1pPr>
          </a:lstStyle>
          <a:p>
            <a:r>
              <a:rPr lang="en-US" dirty="0"/>
              <a:t>Click to edit Master title style</a:t>
            </a:r>
            <a:endParaRPr lang="en-GB" dirty="0"/>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Slide Number Placeholder 6">
            <a:extLst>
              <a:ext uri="{FF2B5EF4-FFF2-40B4-BE49-F238E27FC236}">
                <a16:creationId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dirty="0">
              <a:solidFill>
                <a:srgbClr val="F8F6CA"/>
              </a:solidFill>
              <a:latin typeface="+mn-lt"/>
            </a:endParaRPr>
          </a:p>
        </p:txBody>
      </p:sp>
    </p:spTree>
    <p:extLst>
      <p:ext uri="{BB962C8B-B14F-4D97-AF65-F5344CB8AC3E}">
        <p14:creationId xmlns:p14="http://schemas.microsoft.com/office/powerpoint/2010/main" val="87387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Last">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94D09727-3B4F-EFAC-3780-2559B96DB7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42923" y="164269"/>
            <a:ext cx="7022689" cy="5641773"/>
          </a:xfrm>
          <a:prstGeom prst="rect">
            <a:avLst/>
          </a:prstGeom>
          <a:ln>
            <a:noFill/>
          </a:ln>
          <a:effectLst>
            <a:softEdge rad="112500"/>
          </a:effectLst>
        </p:spPr>
      </p:pic>
    </p:spTree>
    <p:extLst>
      <p:ext uri="{BB962C8B-B14F-4D97-AF65-F5344CB8AC3E}">
        <p14:creationId xmlns:p14="http://schemas.microsoft.com/office/powerpoint/2010/main" val="4230363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00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3600" baseline="0">
                <a:solidFill>
                  <a:schemeClr val="tx1"/>
                </a:solidFill>
                <a:latin typeface="+mj-lt"/>
              </a:defRPr>
            </a:lvl1pPr>
          </a:lstStyle>
          <a:p>
            <a:r>
              <a:rPr lang="en-US" dirty="0"/>
              <a:t>Click to edit Master title style</a:t>
            </a:r>
            <a:endParaRPr lang="en-GB" dirty="0"/>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Slide Number Placeholder 6">
            <a:extLst>
              <a:ext uri="{FF2B5EF4-FFF2-40B4-BE49-F238E27FC236}">
                <a16:creationId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dirty="0">
              <a:solidFill>
                <a:srgbClr val="F8F6CA"/>
              </a:solidFill>
              <a:latin typeface="+mn-lt"/>
            </a:endParaRPr>
          </a:p>
        </p:txBody>
      </p:sp>
    </p:spTree>
    <p:extLst>
      <p:ext uri="{BB962C8B-B14F-4D97-AF65-F5344CB8AC3E}">
        <p14:creationId xmlns:p14="http://schemas.microsoft.com/office/powerpoint/2010/main" val="2256833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Q-Last">
    <p:spTree>
      <p:nvGrpSpPr>
        <p:cNvPr id="1" name=""/>
        <p:cNvGrpSpPr/>
        <p:nvPr/>
      </p:nvGrpSpPr>
      <p:grpSpPr>
        <a:xfrm>
          <a:off x="0" y="0"/>
          <a:ext cx="0" cy="0"/>
          <a:chOff x="0" y="0"/>
          <a:chExt cx="0" cy="0"/>
        </a:xfrm>
      </p:grpSpPr>
      <p:pic>
        <p:nvPicPr>
          <p:cNvPr id="8" name="Content Placeholder 4">
            <a:extLst>
              <a:ext uri="{FF2B5EF4-FFF2-40B4-BE49-F238E27FC236}">
                <a16:creationId xmlns:a16="http://schemas.microsoft.com/office/drawing/2014/main" id="{94D09727-3B4F-EFAC-3780-2559B96DB7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42923" y="164269"/>
            <a:ext cx="7022689" cy="5641773"/>
          </a:xfrm>
          <a:prstGeom prst="rect">
            <a:avLst/>
          </a:prstGeom>
          <a:ln>
            <a:noFill/>
          </a:ln>
          <a:effectLst>
            <a:softEdge rad="112500"/>
          </a:effectLst>
        </p:spPr>
      </p:pic>
    </p:spTree>
    <p:extLst>
      <p:ext uri="{BB962C8B-B14F-4D97-AF65-F5344CB8AC3E}">
        <p14:creationId xmlns:p14="http://schemas.microsoft.com/office/powerpoint/2010/main" val="134781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2D74426-D56D-38CE-E271-D65CC9FC2D2A}"/>
              </a:ext>
            </a:extLst>
          </p:cNvPr>
          <p:cNvSpPr>
            <a:spLocks noGrp="1" noRot="1" noMove="1" noResize="1" noEditPoints="1" noAdjustHandles="1" noChangeArrowheads="1" noChangeShapeType="1"/>
          </p:cNvSpPr>
          <p:nvPr userDrawn="1"/>
        </p:nvSpPr>
        <p:spPr>
          <a:xfrm>
            <a:off x="0" y="6394704"/>
            <a:ext cx="12192000" cy="549248"/>
          </a:xfrm>
          <a:prstGeom prst="rect">
            <a:avLst/>
          </a:prstGeom>
          <a:solidFill>
            <a:srgbClr val="06353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GB" sz="1400" dirty="0">
              <a:solidFill>
                <a:schemeClr val="bg1"/>
              </a:solidFill>
              <a:latin typeface="Calibri" panose="020F0502020204030204" charset="0"/>
            </a:endParaRPr>
          </a:p>
        </p:txBody>
      </p:sp>
      <p:pic>
        <p:nvPicPr>
          <p:cNvPr id="3" name="Picture 2">
            <a:extLst>
              <a:ext uri="{FF2B5EF4-FFF2-40B4-BE49-F238E27FC236}">
                <a16:creationId xmlns:a16="http://schemas.microsoft.com/office/drawing/2014/main" id="{3EF52A3B-6CED-28DA-21B2-F0612361E3B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493943" y="6437688"/>
            <a:ext cx="408821" cy="408821"/>
          </a:xfrm>
          <a:prstGeom prst="rect">
            <a:avLst/>
          </a:prstGeom>
        </p:spPr>
      </p:pic>
    </p:spTree>
    <p:extLst>
      <p:ext uri="{BB962C8B-B14F-4D97-AF65-F5344CB8AC3E}">
        <p14:creationId xmlns:p14="http://schemas.microsoft.com/office/powerpoint/2010/main" val="2031883852"/>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4" r:id="rId3"/>
    <p:sldLayoutId id="2147483666" r:id="rId4"/>
    <p:sldLayoutId id="2147483724" r:id="rId5"/>
    <p:sldLayoutId id="2147483725" r:id="rId6"/>
    <p:sldLayoutId id="2147483726"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ons.gov.uk/" TargetMode="External"/><Relationship Id="rId2" Type="http://schemas.openxmlformats.org/officeDocument/2006/relationships/hyperlink" Target="https://www.statista.com/"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53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9B5EE0A-878A-594B-5E78-A954372A4F11}"/>
              </a:ext>
            </a:extLst>
          </p:cNvPr>
          <p:cNvSpPr txBox="1">
            <a:spLocks/>
          </p:cNvSpPr>
          <p:nvPr/>
        </p:nvSpPr>
        <p:spPr>
          <a:xfrm>
            <a:off x="1063487" y="884590"/>
            <a:ext cx="10058400" cy="2637543"/>
          </a:xfrm>
          <a:prstGeom prst="rect">
            <a:avLst/>
          </a:prstGeom>
          <a:noFill/>
        </p:spPr>
        <p:txBody>
          <a:bodyPr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7200" b="1" dirty="0">
                <a:solidFill>
                  <a:srgbClr val="00C487"/>
                </a:solidFill>
              </a:rPr>
              <a:t>MSc Project</a:t>
            </a:r>
            <a:endParaRPr lang="en-GB" sz="1600" b="1" dirty="0">
              <a:solidFill>
                <a:srgbClr val="00C487"/>
              </a:solidFill>
            </a:endParaRPr>
          </a:p>
          <a:p>
            <a:pPr algn="ctr">
              <a:lnSpc>
                <a:spcPct val="100000"/>
              </a:lnSpc>
            </a:pPr>
            <a:r>
              <a:rPr lang="en-GB" sz="3900" dirty="0">
                <a:solidFill>
                  <a:srgbClr val="00C487"/>
                </a:solidFill>
              </a:rPr>
              <a:t>CMP060L050</a:t>
            </a:r>
            <a:endParaRPr lang="en-GB" sz="1700" dirty="0">
              <a:solidFill>
                <a:srgbClr val="00C487"/>
              </a:solidFill>
            </a:endParaRPr>
          </a:p>
          <a:p>
            <a:pPr algn="ctr">
              <a:lnSpc>
                <a:spcPct val="100000"/>
              </a:lnSpc>
            </a:pPr>
            <a:r>
              <a:rPr lang="en-GB" sz="4800" dirty="0">
                <a:solidFill>
                  <a:srgbClr val="F8F6CA"/>
                </a:solidFill>
                <a:latin typeface="+mn-lt"/>
              </a:rPr>
              <a:t>Workshop: Literature Review</a:t>
            </a:r>
          </a:p>
        </p:txBody>
      </p:sp>
      <p:sp>
        <p:nvSpPr>
          <p:cNvPr id="8" name="Title 1">
            <a:extLst>
              <a:ext uri="{FF2B5EF4-FFF2-40B4-BE49-F238E27FC236}">
                <a16:creationId xmlns:a16="http://schemas.microsoft.com/office/drawing/2014/main" id="{192D4E25-4A15-F302-45AF-52408EC6981E}"/>
              </a:ext>
            </a:extLst>
          </p:cNvPr>
          <p:cNvSpPr txBox="1">
            <a:spLocks/>
          </p:cNvSpPr>
          <p:nvPr/>
        </p:nvSpPr>
        <p:spPr>
          <a:xfrm>
            <a:off x="2596551" y="3899141"/>
            <a:ext cx="6866625" cy="1675491"/>
          </a:xfrm>
          <a:prstGeom prst="rect">
            <a:avLst/>
          </a:prstGeom>
          <a:noFill/>
        </p:spPr>
        <p:txBody>
          <a:bodyPr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4400" dirty="0">
                <a:solidFill>
                  <a:srgbClr val="F8F6CA"/>
                </a:solidFill>
                <a:latin typeface="+mn-lt"/>
              </a:rPr>
              <a:t>Dr Mohammad Javaheri</a:t>
            </a:r>
          </a:p>
          <a:p>
            <a:pPr algn="ctr">
              <a:lnSpc>
                <a:spcPct val="100000"/>
              </a:lnSpc>
            </a:pPr>
            <a:r>
              <a:rPr lang="en-GB" sz="3600" dirty="0">
                <a:solidFill>
                  <a:srgbClr val="F8F6CA"/>
                </a:solidFill>
                <a:latin typeface="+mn-lt"/>
              </a:rPr>
              <a:t>Associate Professor in AI</a:t>
            </a:r>
          </a:p>
          <a:p>
            <a:pPr algn="ctr">
              <a:lnSpc>
                <a:spcPct val="100000"/>
              </a:lnSpc>
            </a:pPr>
            <a:endParaRPr lang="en-GB" sz="3600" dirty="0">
              <a:solidFill>
                <a:srgbClr val="F8F6CA"/>
              </a:solidFill>
              <a:latin typeface="+mn-lt"/>
            </a:endParaRPr>
          </a:p>
        </p:txBody>
      </p:sp>
    </p:spTree>
    <p:extLst>
      <p:ext uri="{BB962C8B-B14F-4D97-AF65-F5344CB8AC3E}">
        <p14:creationId xmlns:p14="http://schemas.microsoft.com/office/powerpoint/2010/main" val="3999230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0D0A2-FA1E-9275-40BD-1A574184F247}"/>
              </a:ext>
            </a:extLst>
          </p:cNvPr>
          <p:cNvSpPr>
            <a:spLocks noGrp="1"/>
          </p:cNvSpPr>
          <p:nvPr>
            <p:ph type="title"/>
          </p:nvPr>
        </p:nvSpPr>
        <p:spPr/>
        <p:txBody>
          <a:bodyPr>
            <a:noAutofit/>
          </a:bodyPr>
          <a:lstStyle/>
          <a:p>
            <a:r>
              <a:rPr lang="en-GB" sz="4000" dirty="0"/>
              <a:t>Agenda</a:t>
            </a:r>
          </a:p>
        </p:txBody>
      </p:sp>
      <p:sp>
        <p:nvSpPr>
          <p:cNvPr id="3" name="Content Placeholder 2">
            <a:extLst>
              <a:ext uri="{FF2B5EF4-FFF2-40B4-BE49-F238E27FC236}">
                <a16:creationId xmlns:a16="http://schemas.microsoft.com/office/drawing/2014/main" id="{B3D8BE41-72B7-2052-9EB9-9C51602780DC}"/>
              </a:ext>
            </a:extLst>
          </p:cNvPr>
          <p:cNvSpPr>
            <a:spLocks noGrp="1"/>
          </p:cNvSpPr>
          <p:nvPr>
            <p:ph sz="half" idx="1"/>
          </p:nvPr>
        </p:nvSpPr>
        <p:spPr/>
        <p:txBody>
          <a:bodyPr/>
          <a:lstStyle/>
          <a:p>
            <a:r>
              <a:rPr lang="en-GB" dirty="0"/>
              <a:t>Understanding Literature Reviews</a:t>
            </a:r>
          </a:p>
          <a:p>
            <a:r>
              <a:rPr lang="en-GB" dirty="0"/>
              <a:t>Preparing for a Literature Review</a:t>
            </a:r>
          </a:p>
          <a:p>
            <a:r>
              <a:rPr lang="en-GB" dirty="0"/>
              <a:t>Reading and Analysing Literature</a:t>
            </a:r>
          </a:p>
          <a:p>
            <a:r>
              <a:rPr lang="en-GB" dirty="0"/>
              <a:t>Organising and Structuring a Literature Review</a:t>
            </a:r>
          </a:p>
          <a:p>
            <a:r>
              <a:rPr lang="en-GB" dirty="0"/>
              <a:t>Writing and Drafting</a:t>
            </a:r>
          </a:p>
          <a:p>
            <a:r>
              <a:rPr lang="en-GB"/>
              <a:t>Critical Appraisal and Analysis</a:t>
            </a:r>
            <a:endParaRPr lang="en-GB" dirty="0"/>
          </a:p>
          <a:p>
            <a:pPr lvl="1"/>
            <a:endParaRPr lang="en-GB" dirty="0"/>
          </a:p>
        </p:txBody>
      </p:sp>
    </p:spTree>
    <p:extLst>
      <p:ext uri="{BB962C8B-B14F-4D97-AF65-F5344CB8AC3E}">
        <p14:creationId xmlns:p14="http://schemas.microsoft.com/office/powerpoint/2010/main" val="3119384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050F2-FC21-8B9C-AA19-61C3FC7D18DA}"/>
              </a:ext>
            </a:extLst>
          </p:cNvPr>
          <p:cNvSpPr>
            <a:spLocks noGrp="1"/>
          </p:cNvSpPr>
          <p:nvPr>
            <p:ph type="title"/>
          </p:nvPr>
        </p:nvSpPr>
        <p:spPr/>
        <p:txBody>
          <a:bodyPr/>
          <a:lstStyle/>
          <a:p>
            <a:r>
              <a:rPr lang="en-US" dirty="0"/>
              <a:t>What is a Literature Review?</a:t>
            </a:r>
            <a:endParaRPr lang="en-GB" dirty="0"/>
          </a:p>
        </p:txBody>
      </p:sp>
      <p:sp>
        <p:nvSpPr>
          <p:cNvPr id="3" name="Content Placeholder 2">
            <a:extLst>
              <a:ext uri="{FF2B5EF4-FFF2-40B4-BE49-F238E27FC236}">
                <a16:creationId xmlns:a16="http://schemas.microsoft.com/office/drawing/2014/main" id="{A05A4E37-5034-49A7-9D2A-B053820A5372}"/>
              </a:ext>
            </a:extLst>
          </p:cNvPr>
          <p:cNvSpPr>
            <a:spLocks noGrp="1"/>
          </p:cNvSpPr>
          <p:nvPr>
            <p:ph sz="half" idx="1"/>
          </p:nvPr>
        </p:nvSpPr>
        <p:spPr/>
        <p:txBody>
          <a:bodyPr/>
          <a:lstStyle/>
          <a:p>
            <a:r>
              <a:rPr lang="en-US" dirty="0"/>
              <a:t>A literature review is a </a:t>
            </a:r>
            <a:r>
              <a:rPr lang="en-US" dirty="0">
                <a:solidFill>
                  <a:schemeClr val="accent1">
                    <a:lumMod val="50000"/>
                    <a:lumOff val="50000"/>
                  </a:schemeClr>
                </a:solidFill>
              </a:rPr>
              <a:t>comprehensive summary </a:t>
            </a:r>
            <a:r>
              <a:rPr lang="en-US" dirty="0"/>
              <a:t>and </a:t>
            </a:r>
            <a:r>
              <a:rPr lang="en-US" dirty="0">
                <a:solidFill>
                  <a:schemeClr val="accent1">
                    <a:lumMod val="50000"/>
                    <a:lumOff val="50000"/>
                  </a:schemeClr>
                </a:solidFill>
              </a:rPr>
              <a:t>critical evaluation </a:t>
            </a:r>
            <a:r>
              <a:rPr lang="en-US" dirty="0"/>
              <a:t>of </a:t>
            </a:r>
            <a:r>
              <a:rPr lang="en-US" dirty="0">
                <a:solidFill>
                  <a:schemeClr val="accent1">
                    <a:lumMod val="50000"/>
                    <a:lumOff val="50000"/>
                  </a:schemeClr>
                </a:solidFill>
              </a:rPr>
              <a:t>existing research </a:t>
            </a:r>
            <a:r>
              <a:rPr lang="en-US" dirty="0"/>
              <a:t>on a specific topic. </a:t>
            </a:r>
          </a:p>
          <a:p>
            <a:r>
              <a:rPr lang="en-US" dirty="0"/>
              <a:t>It serves as the foundation for your project by </a:t>
            </a:r>
            <a:r>
              <a:rPr lang="en-US" dirty="0" err="1"/>
              <a:t>synthesising</a:t>
            </a:r>
            <a:r>
              <a:rPr lang="en-US" dirty="0"/>
              <a:t> previous </a:t>
            </a:r>
            <a:r>
              <a:rPr lang="en-US" dirty="0">
                <a:solidFill>
                  <a:schemeClr val="accent1">
                    <a:lumMod val="50000"/>
                    <a:lumOff val="50000"/>
                  </a:schemeClr>
                </a:solidFill>
              </a:rPr>
              <a:t>findings</a:t>
            </a:r>
            <a:r>
              <a:rPr lang="en-US" dirty="0"/>
              <a:t> and </a:t>
            </a:r>
            <a:r>
              <a:rPr lang="en-US" dirty="0">
                <a:solidFill>
                  <a:schemeClr val="accent1">
                    <a:lumMod val="50000"/>
                    <a:lumOff val="50000"/>
                  </a:schemeClr>
                </a:solidFill>
              </a:rPr>
              <a:t>identifying gaps</a:t>
            </a:r>
            <a:r>
              <a:rPr lang="en-US" dirty="0"/>
              <a:t>.</a:t>
            </a:r>
          </a:p>
          <a:p>
            <a:r>
              <a:rPr lang="en-US" b="1" dirty="0"/>
              <a:t>Example</a:t>
            </a:r>
            <a:r>
              <a:rPr lang="en-US" dirty="0"/>
              <a:t>: </a:t>
            </a:r>
          </a:p>
          <a:p>
            <a:pPr lvl="1"/>
            <a:r>
              <a:rPr lang="en-US" dirty="0"/>
              <a:t>For an MSc AI project focused on deep learning, the literature review could cover recent advancements in neural networks, comparing various architectures such as </a:t>
            </a:r>
            <a:r>
              <a:rPr lang="en-US" dirty="0" err="1"/>
              <a:t>CNNs</a:t>
            </a:r>
            <a:r>
              <a:rPr lang="en-US" dirty="0"/>
              <a:t>, </a:t>
            </a:r>
            <a:r>
              <a:rPr lang="en-US" dirty="0" err="1"/>
              <a:t>RNNs</a:t>
            </a:r>
            <a:r>
              <a:rPr lang="en-US" dirty="0"/>
              <a:t>, and </a:t>
            </a:r>
            <a:r>
              <a:rPr lang="en-US" dirty="0" err="1"/>
              <a:t>GANs</a:t>
            </a:r>
            <a:r>
              <a:rPr lang="en-US" dirty="0"/>
              <a:t>.</a:t>
            </a:r>
          </a:p>
          <a:p>
            <a:pPr lvl="1"/>
            <a:r>
              <a:rPr lang="en-US" dirty="0"/>
              <a:t>A literature review on web frameworks might compare React.js and Vue.js in terms of performance, ease of use, and developer community support.</a:t>
            </a:r>
            <a:endParaRPr lang="en-GB" dirty="0"/>
          </a:p>
        </p:txBody>
      </p:sp>
    </p:spTree>
    <p:extLst>
      <p:ext uri="{BB962C8B-B14F-4D97-AF65-F5344CB8AC3E}">
        <p14:creationId xmlns:p14="http://schemas.microsoft.com/office/powerpoint/2010/main" val="802697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49761-F330-08CC-590B-240371491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940FC-8B37-8DE7-58D7-0F99C1D21194}"/>
              </a:ext>
            </a:extLst>
          </p:cNvPr>
          <p:cNvSpPr>
            <a:spLocks noGrp="1"/>
          </p:cNvSpPr>
          <p:nvPr>
            <p:ph type="title"/>
          </p:nvPr>
        </p:nvSpPr>
        <p:spPr/>
        <p:txBody>
          <a:bodyPr>
            <a:normAutofit fontScale="90000"/>
          </a:bodyPr>
          <a:lstStyle/>
          <a:p>
            <a:r>
              <a:rPr lang="en-GB" dirty="0"/>
              <a:t>Objectives a Literature Review</a:t>
            </a:r>
            <a:br>
              <a:rPr lang="en-GB" b="1" u="sng" dirty="0"/>
            </a:br>
            <a:endParaRPr lang="en-GB" dirty="0"/>
          </a:p>
        </p:txBody>
      </p:sp>
      <p:sp>
        <p:nvSpPr>
          <p:cNvPr id="3" name="Content Placeholder 2">
            <a:extLst>
              <a:ext uri="{FF2B5EF4-FFF2-40B4-BE49-F238E27FC236}">
                <a16:creationId xmlns:a16="http://schemas.microsoft.com/office/drawing/2014/main" id="{81E1DB56-C42A-AE7E-E15B-E49E182D426D}"/>
              </a:ext>
            </a:extLst>
          </p:cNvPr>
          <p:cNvSpPr>
            <a:spLocks noGrp="1"/>
          </p:cNvSpPr>
          <p:nvPr>
            <p:ph sz="half" idx="1"/>
          </p:nvPr>
        </p:nvSpPr>
        <p:spPr>
          <a:xfrm>
            <a:off x="342000" y="855915"/>
            <a:ext cx="11665475" cy="5494085"/>
          </a:xfrm>
        </p:spPr>
        <p:txBody>
          <a:bodyPr>
            <a:normAutofit/>
          </a:bodyPr>
          <a:lstStyle/>
          <a:p>
            <a:r>
              <a:rPr lang="en-GB" dirty="0"/>
              <a:t>Four main objectives:</a:t>
            </a:r>
          </a:p>
          <a:p>
            <a:r>
              <a:rPr lang="en-GB" b="1" dirty="0"/>
              <a:t>Surveys</a:t>
            </a:r>
            <a:r>
              <a:rPr lang="en-GB" dirty="0"/>
              <a:t> the literature</a:t>
            </a:r>
          </a:p>
          <a:p>
            <a:pPr lvl="1"/>
            <a:r>
              <a:rPr lang="en-US" dirty="0" err="1"/>
              <a:t>Summarise</a:t>
            </a:r>
            <a:r>
              <a:rPr lang="en-US" dirty="0"/>
              <a:t> key findings from a wide range of sources.</a:t>
            </a:r>
          </a:p>
          <a:p>
            <a:r>
              <a:rPr lang="en-GB" b="1" dirty="0"/>
              <a:t>Synthesis of Information</a:t>
            </a:r>
          </a:p>
          <a:p>
            <a:pPr lvl="1"/>
            <a:r>
              <a:rPr lang="en-US" dirty="0"/>
              <a:t>Combine findings from various studies into a cohesive summary.</a:t>
            </a:r>
          </a:p>
          <a:p>
            <a:r>
              <a:rPr lang="en-GB" b="1" dirty="0"/>
              <a:t>Critical Analysis</a:t>
            </a:r>
          </a:p>
          <a:p>
            <a:pPr lvl="1"/>
            <a:r>
              <a:rPr lang="en-US" dirty="0"/>
              <a:t>Identify gaps, contradictions, and limitations in the existing research.</a:t>
            </a:r>
          </a:p>
          <a:p>
            <a:r>
              <a:rPr lang="en-GB" b="1" dirty="0"/>
              <a:t>Presentation of Information</a:t>
            </a:r>
          </a:p>
          <a:p>
            <a:r>
              <a:rPr lang="en-GB" dirty="0"/>
              <a:t> </a:t>
            </a:r>
            <a:r>
              <a:rPr lang="en-US" dirty="0"/>
              <a:t>Structure the review in a logical way.</a:t>
            </a:r>
            <a:endParaRPr lang="en-GB" dirty="0"/>
          </a:p>
        </p:txBody>
      </p:sp>
    </p:spTree>
    <p:extLst>
      <p:ext uri="{BB962C8B-B14F-4D97-AF65-F5344CB8AC3E}">
        <p14:creationId xmlns:p14="http://schemas.microsoft.com/office/powerpoint/2010/main" val="133920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What is a literature review?</a:t>
            </a:r>
            <a:br>
              <a:rPr lang="en-GB" b="1" u="sng" dirty="0"/>
            </a:br>
            <a:endParaRPr lang="en-GB" dirty="0"/>
          </a:p>
        </p:txBody>
      </p:sp>
      <p:sp>
        <p:nvSpPr>
          <p:cNvPr id="3" name="Content Placeholder 2"/>
          <p:cNvSpPr>
            <a:spLocks noGrp="1"/>
          </p:cNvSpPr>
          <p:nvPr>
            <p:ph sz="half" idx="1"/>
          </p:nvPr>
        </p:nvSpPr>
        <p:spPr>
          <a:xfrm>
            <a:off x="342000" y="855915"/>
            <a:ext cx="11665475" cy="5494085"/>
          </a:xfrm>
        </p:spPr>
        <p:txBody>
          <a:bodyPr>
            <a:normAutofit fontScale="92500"/>
          </a:bodyPr>
          <a:lstStyle/>
          <a:p>
            <a:r>
              <a:rPr lang="en-GB" dirty="0"/>
              <a:t>Not Just a Bibliography</a:t>
            </a:r>
          </a:p>
          <a:p>
            <a:pPr lvl="1"/>
            <a:r>
              <a:rPr lang="en-US" dirty="0"/>
              <a:t>A literature review involves critical engagement with sources and </a:t>
            </a:r>
            <a:r>
              <a:rPr lang="en-US" dirty="0" err="1"/>
              <a:t>synthesising</a:t>
            </a:r>
            <a:r>
              <a:rPr lang="en-US" dirty="0"/>
              <a:t> information. </a:t>
            </a:r>
          </a:p>
          <a:p>
            <a:pPr lvl="1"/>
            <a:r>
              <a:rPr lang="en-US" dirty="0"/>
              <a:t>It goes beyond merely listing articles to </a:t>
            </a:r>
            <a:r>
              <a:rPr lang="en-US" dirty="0" err="1"/>
              <a:t>analysing</a:t>
            </a:r>
            <a:r>
              <a:rPr lang="en-US" dirty="0"/>
              <a:t> their methodologies, strengths, and weaknesses.</a:t>
            </a:r>
          </a:p>
          <a:p>
            <a:r>
              <a:rPr lang="en-GB" dirty="0"/>
              <a:t>Develops an argument by summarising and presenting key information and </a:t>
            </a:r>
            <a:r>
              <a:rPr lang="en-GB" dirty="0">
                <a:solidFill>
                  <a:srgbClr val="0070C0"/>
                </a:solidFill>
              </a:rPr>
              <a:t>synthesis</a:t>
            </a:r>
            <a:r>
              <a:rPr lang="en-GB" dirty="0"/>
              <a:t> (reorganisation of information)</a:t>
            </a:r>
          </a:p>
          <a:p>
            <a:r>
              <a:rPr lang="en-GB" dirty="0"/>
              <a:t>Distinguishes </a:t>
            </a:r>
            <a:r>
              <a:rPr lang="en-GB" dirty="0">
                <a:solidFill>
                  <a:srgbClr val="0070C0"/>
                </a:solidFill>
              </a:rPr>
              <a:t>what has already been done </a:t>
            </a:r>
            <a:r>
              <a:rPr lang="en-GB" dirty="0"/>
              <a:t>and </a:t>
            </a:r>
            <a:r>
              <a:rPr lang="en-GB" dirty="0">
                <a:solidFill>
                  <a:srgbClr val="0070C0"/>
                </a:solidFill>
              </a:rPr>
              <a:t>identifies what needs to be done </a:t>
            </a:r>
            <a:r>
              <a:rPr lang="en-GB" dirty="0"/>
              <a:t>(Hart, 1998)</a:t>
            </a:r>
          </a:p>
          <a:p>
            <a:r>
              <a:rPr lang="en-GB" dirty="0"/>
              <a:t>How your work </a:t>
            </a:r>
            <a:r>
              <a:rPr lang="en-GB" dirty="0">
                <a:solidFill>
                  <a:srgbClr val="0070C0"/>
                </a:solidFill>
              </a:rPr>
              <a:t>connects </a:t>
            </a:r>
            <a:r>
              <a:rPr lang="en-GB" dirty="0"/>
              <a:t>with current literature needs to be explicit. </a:t>
            </a:r>
          </a:p>
          <a:p>
            <a:r>
              <a:rPr lang="en-GB" dirty="0"/>
              <a:t>Framework where new findings are compared to previous findings presented in the literature (comparative analysis)</a:t>
            </a:r>
          </a:p>
        </p:txBody>
      </p:sp>
    </p:spTree>
    <p:extLst>
      <p:ext uri="{BB962C8B-B14F-4D97-AF65-F5344CB8AC3E}">
        <p14:creationId xmlns:p14="http://schemas.microsoft.com/office/powerpoint/2010/main" val="2589793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1CD9-83AB-5B53-4D36-0243A94DD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99D2F-E4F8-779E-A116-6B5ACF17FD7A}"/>
              </a:ext>
            </a:extLst>
          </p:cNvPr>
          <p:cNvSpPr>
            <a:spLocks noGrp="1"/>
          </p:cNvSpPr>
          <p:nvPr>
            <p:ph type="title"/>
          </p:nvPr>
        </p:nvSpPr>
        <p:spPr/>
        <p:txBody>
          <a:bodyPr>
            <a:normAutofit fontScale="90000"/>
          </a:bodyPr>
          <a:lstStyle/>
          <a:p>
            <a:r>
              <a:rPr lang="en-GB" dirty="0"/>
              <a:t>What is a literature review?</a:t>
            </a:r>
            <a:br>
              <a:rPr lang="en-GB" b="1" u="sng" dirty="0"/>
            </a:br>
            <a:endParaRPr lang="en-GB" dirty="0"/>
          </a:p>
        </p:txBody>
      </p:sp>
      <p:sp>
        <p:nvSpPr>
          <p:cNvPr id="3" name="Content Placeholder 2">
            <a:extLst>
              <a:ext uri="{FF2B5EF4-FFF2-40B4-BE49-F238E27FC236}">
                <a16:creationId xmlns:a16="http://schemas.microsoft.com/office/drawing/2014/main" id="{EFC6D84F-0BB5-FCCE-590E-6FBC91CF0640}"/>
              </a:ext>
            </a:extLst>
          </p:cNvPr>
          <p:cNvSpPr>
            <a:spLocks noGrp="1"/>
          </p:cNvSpPr>
          <p:nvPr>
            <p:ph sz="half" idx="1"/>
          </p:nvPr>
        </p:nvSpPr>
        <p:spPr>
          <a:xfrm>
            <a:off x="342000" y="855915"/>
            <a:ext cx="11665475" cy="5494085"/>
          </a:xfrm>
        </p:spPr>
        <p:txBody>
          <a:bodyPr>
            <a:normAutofit/>
          </a:bodyPr>
          <a:lstStyle/>
          <a:p>
            <a:r>
              <a:rPr lang="en-GB" b="1" dirty="0"/>
              <a:t>Critical Engagement Example</a:t>
            </a:r>
            <a:r>
              <a:rPr lang="en-GB" dirty="0"/>
              <a:t>:</a:t>
            </a:r>
          </a:p>
          <a:p>
            <a:r>
              <a:rPr lang="en-US" dirty="0"/>
              <a:t>“The study by Lewis et al. (2019) focuses on </a:t>
            </a:r>
            <a:r>
              <a:rPr lang="en-US" dirty="0" err="1"/>
              <a:t>Angular’s</a:t>
            </a:r>
            <a:r>
              <a:rPr lang="en-US" dirty="0"/>
              <a:t> effectiveness in large-scale applications but fails to consider the challenge of integrating Angular with existing backend technologies like Node.js, which can limit its applicability.”</a:t>
            </a:r>
          </a:p>
          <a:p>
            <a:r>
              <a:rPr lang="en-US" dirty="0"/>
              <a:t>“Although Jones et al. (2020) argue that unsupervised learning methods outperform supervised models in terms of </a:t>
            </a:r>
            <a:r>
              <a:rPr lang="en-US" dirty="0" err="1"/>
              <a:t>generalisation</a:t>
            </a:r>
            <a:r>
              <a:rPr lang="en-US" dirty="0"/>
              <a:t>, their methodology lacks robustness in evaluating edge cases, which may lead to biased conclusions.”</a:t>
            </a:r>
            <a:endParaRPr lang="en-GB" dirty="0"/>
          </a:p>
        </p:txBody>
      </p:sp>
    </p:spTree>
    <p:extLst>
      <p:ext uri="{BB962C8B-B14F-4D97-AF65-F5344CB8AC3E}">
        <p14:creationId xmlns:p14="http://schemas.microsoft.com/office/powerpoint/2010/main" val="4128064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 A Process</a:t>
            </a:r>
          </a:p>
        </p:txBody>
      </p:sp>
      <p:sp>
        <p:nvSpPr>
          <p:cNvPr id="3" name="Subtitle 2"/>
          <p:cNvSpPr>
            <a:spLocks noGrp="1"/>
          </p:cNvSpPr>
          <p:nvPr>
            <p:ph sz="half" idx="1"/>
          </p:nvPr>
        </p:nvSpPr>
        <p:spPr/>
        <p:txBody>
          <a:bodyPr/>
          <a:lstStyle/>
          <a:p>
            <a:r>
              <a:rPr lang="en-GB" dirty="0"/>
              <a:t>The literature review: a </a:t>
            </a:r>
            <a:r>
              <a:rPr lang="en-GB" dirty="0">
                <a:solidFill>
                  <a:srgbClr val="0070C0"/>
                </a:solidFill>
              </a:rPr>
              <a:t>synthesis </a:t>
            </a:r>
            <a:r>
              <a:rPr lang="en-GB" dirty="0"/>
              <a:t>of studies on any given topic.</a:t>
            </a:r>
          </a:p>
          <a:p>
            <a:r>
              <a:rPr lang="en-US" dirty="0"/>
              <a:t>The process involves multiple stages: </a:t>
            </a:r>
            <a:r>
              <a:rPr lang="en-US" dirty="0">
                <a:solidFill>
                  <a:schemeClr val="accent1">
                    <a:lumMod val="50000"/>
                    <a:lumOff val="50000"/>
                  </a:schemeClr>
                </a:solidFill>
              </a:rPr>
              <a:t>identifying sources</a:t>
            </a:r>
            <a:r>
              <a:rPr lang="en-US" dirty="0"/>
              <a:t>, </a:t>
            </a:r>
            <a:r>
              <a:rPr lang="en-US" dirty="0" err="1">
                <a:solidFill>
                  <a:schemeClr val="accent1">
                    <a:lumMod val="50000"/>
                    <a:lumOff val="50000"/>
                  </a:schemeClr>
                </a:solidFill>
              </a:rPr>
              <a:t>analysing</a:t>
            </a:r>
            <a:r>
              <a:rPr lang="en-US" dirty="0"/>
              <a:t> and </a:t>
            </a:r>
            <a:r>
              <a:rPr lang="en-US" dirty="0" err="1">
                <a:solidFill>
                  <a:schemeClr val="accent1">
                    <a:lumMod val="50000"/>
                    <a:lumOff val="50000"/>
                  </a:schemeClr>
                </a:solidFill>
              </a:rPr>
              <a:t>synthesising</a:t>
            </a:r>
            <a:r>
              <a:rPr lang="en-US" dirty="0">
                <a:solidFill>
                  <a:schemeClr val="accent1">
                    <a:lumMod val="50000"/>
                    <a:lumOff val="50000"/>
                  </a:schemeClr>
                </a:solidFill>
              </a:rPr>
              <a:t> </a:t>
            </a:r>
            <a:r>
              <a:rPr lang="en-US" dirty="0"/>
              <a:t>them, and </a:t>
            </a:r>
            <a:r>
              <a:rPr lang="en-US" dirty="0">
                <a:solidFill>
                  <a:schemeClr val="accent1">
                    <a:lumMod val="50000"/>
                    <a:lumOff val="50000"/>
                  </a:schemeClr>
                </a:solidFill>
              </a:rPr>
              <a:t>drafting the review</a:t>
            </a:r>
            <a:r>
              <a:rPr lang="en-US" dirty="0"/>
              <a:t>.</a:t>
            </a:r>
          </a:p>
          <a:p>
            <a:r>
              <a:rPr lang="en-US" b="1" dirty="0"/>
              <a:t>Example</a:t>
            </a:r>
            <a:r>
              <a:rPr lang="en-US" dirty="0"/>
              <a:t>: </a:t>
            </a:r>
          </a:p>
          <a:p>
            <a:pPr lvl="1"/>
            <a:r>
              <a:rPr lang="en-US" dirty="0"/>
              <a:t>If writing a literature review on web accessibility, you would gather research on </a:t>
            </a:r>
            <a:r>
              <a:rPr lang="en-US" dirty="0" err="1"/>
              <a:t>WCAG</a:t>
            </a:r>
            <a:r>
              <a:rPr lang="en-US" dirty="0"/>
              <a:t> (Web Content Accessibility Guidelines), studies on improving website accessibility, and critiques of current best practices.</a:t>
            </a:r>
            <a:endParaRPr lang="en-GB" dirty="0"/>
          </a:p>
          <a:p>
            <a:pPr lvl="1"/>
            <a:r>
              <a:rPr lang="en-US" dirty="0"/>
              <a:t>A literature review on reinforcement learning might require examining both classical models and the latest research on deep Q-networks (</a:t>
            </a:r>
            <a:r>
              <a:rPr lang="en-US" dirty="0" err="1"/>
              <a:t>DQNs</a:t>
            </a:r>
            <a:r>
              <a:rPr lang="en-US" dirty="0"/>
              <a:t>), followed by a synthesis that critiques and highlights gaps in the existing models.</a:t>
            </a:r>
          </a:p>
          <a:p>
            <a:r>
              <a:rPr lang="en-US" dirty="0"/>
              <a:t>The process can take </a:t>
            </a:r>
            <a:r>
              <a:rPr lang="en-US" dirty="0">
                <a:solidFill>
                  <a:schemeClr val="accent1">
                    <a:lumMod val="50000"/>
                    <a:lumOff val="50000"/>
                  </a:schemeClr>
                </a:solidFill>
              </a:rPr>
              <a:t>months</a:t>
            </a:r>
            <a:r>
              <a:rPr lang="en-US" dirty="0"/>
              <a:t>!</a:t>
            </a:r>
            <a:endParaRPr lang="en-GB" dirty="0"/>
          </a:p>
        </p:txBody>
      </p:sp>
    </p:spTree>
    <p:extLst>
      <p:ext uri="{BB962C8B-B14F-4D97-AF65-F5344CB8AC3E}">
        <p14:creationId xmlns:p14="http://schemas.microsoft.com/office/powerpoint/2010/main" val="1701290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3C393-8416-F06D-BE0B-A498D1E6B56A}"/>
              </a:ext>
            </a:extLst>
          </p:cNvPr>
          <p:cNvSpPr>
            <a:spLocks noGrp="1"/>
          </p:cNvSpPr>
          <p:nvPr>
            <p:ph type="title"/>
          </p:nvPr>
        </p:nvSpPr>
        <p:spPr/>
        <p:txBody>
          <a:bodyPr/>
          <a:lstStyle/>
          <a:p>
            <a:r>
              <a:rPr lang="en-GB" dirty="0"/>
              <a:t>How is a literature review different to an essay?</a:t>
            </a:r>
            <a:br>
              <a:rPr lang="en-GB" sz="4000" b="1" dirty="0"/>
            </a:br>
            <a:endParaRPr lang="en-GB" dirty="0"/>
          </a:p>
        </p:txBody>
      </p:sp>
      <p:sp>
        <p:nvSpPr>
          <p:cNvPr id="3" name="Content Placeholder 2">
            <a:extLst>
              <a:ext uri="{FF2B5EF4-FFF2-40B4-BE49-F238E27FC236}">
                <a16:creationId xmlns:a16="http://schemas.microsoft.com/office/drawing/2014/main" id="{A37BF502-F13F-7439-AB33-EBC619EC354C}"/>
              </a:ext>
            </a:extLst>
          </p:cNvPr>
          <p:cNvSpPr>
            <a:spLocks noGrp="1"/>
          </p:cNvSpPr>
          <p:nvPr>
            <p:ph sz="half" idx="1"/>
          </p:nvPr>
        </p:nvSpPr>
        <p:spPr/>
        <p:txBody>
          <a:bodyPr/>
          <a:lstStyle/>
          <a:p>
            <a:r>
              <a:rPr lang="en-US" b="1" dirty="0"/>
              <a:t>Essays</a:t>
            </a:r>
            <a:r>
              <a:rPr lang="en-US" dirty="0"/>
              <a:t>: </a:t>
            </a:r>
          </a:p>
          <a:p>
            <a:pPr lvl="1"/>
            <a:r>
              <a:rPr lang="en-US" dirty="0"/>
              <a:t>Present arguments with a focus on personal opinion or critical thinking on a topic.</a:t>
            </a:r>
            <a:r>
              <a:rPr lang="en-GB" dirty="0"/>
              <a:t>A critical appraisal of this research (similarities, differences, strengths, weaknesses, inconsistencies)</a:t>
            </a:r>
          </a:p>
          <a:p>
            <a:r>
              <a:rPr lang="en-US" b="1" dirty="0"/>
              <a:t>Literature Review</a:t>
            </a:r>
            <a:r>
              <a:rPr lang="en-US" dirty="0"/>
              <a:t>: </a:t>
            </a:r>
          </a:p>
          <a:p>
            <a:pPr lvl="1"/>
            <a:r>
              <a:rPr lang="en-US" dirty="0"/>
              <a:t>Focuses on </a:t>
            </a:r>
            <a:r>
              <a:rPr lang="en-US" dirty="0" err="1"/>
              <a:t>analysing</a:t>
            </a:r>
            <a:r>
              <a:rPr lang="en-US" dirty="0"/>
              <a:t>, </a:t>
            </a:r>
            <a:r>
              <a:rPr lang="en-US" dirty="0" err="1"/>
              <a:t>synthesising</a:t>
            </a:r>
            <a:r>
              <a:rPr lang="en-US" dirty="0"/>
              <a:t>, and critiquing existing research. It is not about arguing for or against a specific perspective but understanding the state of knowledge.</a:t>
            </a:r>
          </a:p>
        </p:txBody>
      </p:sp>
    </p:spTree>
    <p:extLst>
      <p:ext uri="{BB962C8B-B14F-4D97-AF65-F5344CB8AC3E}">
        <p14:creationId xmlns:p14="http://schemas.microsoft.com/office/powerpoint/2010/main" val="2104291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4EDBC-CA26-ADF7-AE6D-50532C722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90BDA-E109-D0B4-2AC3-5FE0E4E6F283}"/>
              </a:ext>
            </a:extLst>
          </p:cNvPr>
          <p:cNvSpPr>
            <a:spLocks noGrp="1"/>
          </p:cNvSpPr>
          <p:nvPr>
            <p:ph type="title"/>
          </p:nvPr>
        </p:nvSpPr>
        <p:spPr/>
        <p:txBody>
          <a:bodyPr/>
          <a:lstStyle/>
          <a:p>
            <a:r>
              <a:rPr lang="en-GB" dirty="0"/>
              <a:t>How is a literature review different to an essay?</a:t>
            </a:r>
            <a:br>
              <a:rPr lang="en-GB" sz="4000" b="1" dirty="0"/>
            </a:br>
            <a:endParaRPr lang="en-GB" dirty="0"/>
          </a:p>
        </p:txBody>
      </p:sp>
      <p:sp>
        <p:nvSpPr>
          <p:cNvPr id="3" name="Content Placeholder 2">
            <a:extLst>
              <a:ext uri="{FF2B5EF4-FFF2-40B4-BE49-F238E27FC236}">
                <a16:creationId xmlns:a16="http://schemas.microsoft.com/office/drawing/2014/main" id="{3D7A2649-7B6B-E313-01C1-30A92C77E7A4}"/>
              </a:ext>
            </a:extLst>
          </p:cNvPr>
          <p:cNvSpPr>
            <a:spLocks noGrp="1"/>
          </p:cNvSpPr>
          <p:nvPr>
            <p:ph sz="half" idx="1"/>
          </p:nvPr>
        </p:nvSpPr>
        <p:spPr/>
        <p:txBody>
          <a:bodyPr/>
          <a:lstStyle/>
          <a:p>
            <a:r>
              <a:rPr lang="en-US" b="1" dirty="0"/>
              <a:t>Critical annotation example</a:t>
            </a:r>
            <a:r>
              <a:rPr lang="en-US" dirty="0"/>
              <a:t>: </a:t>
            </a:r>
          </a:p>
          <a:p>
            <a:r>
              <a:rPr lang="en-US" dirty="0"/>
              <a:t>“While several studies have shown the effectiveness of decision trees (Brown et al., 2019), others (Taylor &amp; Lee, 2021) highlight their inability to handle non-linear data efficiently. The ongoing debate indicates that while decision trees remain popular, hybrid models like random forests may be more effective in many real-world scenarios.”</a:t>
            </a:r>
            <a:endParaRPr lang="en-GB" dirty="0"/>
          </a:p>
        </p:txBody>
      </p:sp>
    </p:spTree>
    <p:extLst>
      <p:ext uri="{BB962C8B-B14F-4D97-AF65-F5344CB8AC3E}">
        <p14:creationId xmlns:p14="http://schemas.microsoft.com/office/powerpoint/2010/main" val="3992504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77229-984D-A1EF-9952-F38769AAB79F}"/>
              </a:ext>
            </a:extLst>
          </p:cNvPr>
          <p:cNvSpPr>
            <a:spLocks noGrp="1"/>
          </p:cNvSpPr>
          <p:nvPr>
            <p:ph type="title"/>
          </p:nvPr>
        </p:nvSpPr>
        <p:spPr/>
        <p:txBody>
          <a:bodyPr/>
          <a:lstStyle/>
          <a:p>
            <a:r>
              <a:rPr lang="en-GB" dirty="0"/>
              <a:t>Literature Review: Preparations</a:t>
            </a:r>
          </a:p>
        </p:txBody>
      </p:sp>
      <p:sp>
        <p:nvSpPr>
          <p:cNvPr id="3" name="Content Placeholder 2">
            <a:extLst>
              <a:ext uri="{FF2B5EF4-FFF2-40B4-BE49-F238E27FC236}">
                <a16:creationId xmlns:a16="http://schemas.microsoft.com/office/drawing/2014/main" id="{CFF3F6B8-D75C-F8D9-099E-BEAC5457215A}"/>
              </a:ext>
            </a:extLst>
          </p:cNvPr>
          <p:cNvSpPr>
            <a:spLocks noGrp="1"/>
          </p:cNvSpPr>
          <p:nvPr>
            <p:ph sz="half" idx="1"/>
          </p:nvPr>
        </p:nvSpPr>
        <p:spPr/>
        <p:txBody>
          <a:bodyPr/>
          <a:lstStyle/>
          <a:p>
            <a:r>
              <a:rPr lang="en-US" b="1" dirty="0"/>
              <a:t>Define the Type of Review</a:t>
            </a:r>
            <a:r>
              <a:rPr lang="en-US" dirty="0"/>
              <a:t>: </a:t>
            </a:r>
          </a:p>
          <a:p>
            <a:r>
              <a:rPr lang="en-US" dirty="0">
                <a:solidFill>
                  <a:schemeClr val="accent1">
                    <a:lumMod val="50000"/>
                    <a:lumOff val="50000"/>
                  </a:schemeClr>
                </a:solidFill>
              </a:rPr>
              <a:t>Quantitative</a:t>
            </a:r>
            <a:r>
              <a:rPr lang="en-US" dirty="0"/>
              <a:t> (theory-driven) vs </a:t>
            </a:r>
            <a:r>
              <a:rPr lang="en-US" dirty="0">
                <a:solidFill>
                  <a:schemeClr val="accent1">
                    <a:lumMod val="50000"/>
                    <a:lumOff val="50000"/>
                  </a:schemeClr>
                </a:solidFill>
              </a:rPr>
              <a:t>qualitative</a:t>
            </a:r>
            <a:r>
              <a:rPr lang="en-US" dirty="0"/>
              <a:t> (theory-building). Choose appropriate sources.</a:t>
            </a:r>
          </a:p>
          <a:p>
            <a:r>
              <a:rPr lang="en-GB" dirty="0"/>
              <a:t>Either choice will determine your emphasis on statistics.</a:t>
            </a:r>
          </a:p>
          <a:p>
            <a:r>
              <a:rPr lang="en-US" b="1" dirty="0"/>
              <a:t>Example</a:t>
            </a:r>
            <a:r>
              <a:rPr lang="en-US" dirty="0"/>
              <a:t>: </a:t>
            </a:r>
          </a:p>
          <a:p>
            <a:r>
              <a:rPr lang="en-US" dirty="0"/>
              <a:t>For a </a:t>
            </a:r>
            <a:r>
              <a:rPr lang="en-US" dirty="0">
                <a:solidFill>
                  <a:schemeClr val="accent1">
                    <a:lumMod val="50000"/>
                    <a:lumOff val="50000"/>
                  </a:schemeClr>
                </a:solidFill>
              </a:rPr>
              <a:t>quantitative review</a:t>
            </a:r>
            <a:r>
              <a:rPr lang="en-US" dirty="0"/>
              <a:t>, you might focus on studies that employ statistical methods to measure AI model performance. </a:t>
            </a:r>
          </a:p>
          <a:p>
            <a:r>
              <a:rPr lang="en-US" dirty="0"/>
              <a:t>For </a:t>
            </a:r>
            <a:r>
              <a:rPr lang="en-US" dirty="0">
                <a:solidFill>
                  <a:schemeClr val="accent1">
                    <a:lumMod val="50000"/>
                    <a:lumOff val="50000"/>
                  </a:schemeClr>
                </a:solidFill>
              </a:rPr>
              <a:t>qualitative reviews</a:t>
            </a:r>
            <a:r>
              <a:rPr lang="en-US" dirty="0"/>
              <a:t>, focus on theoretical papers that explore AI's implications on society.</a:t>
            </a:r>
            <a:endParaRPr lang="en-GB" dirty="0"/>
          </a:p>
        </p:txBody>
      </p:sp>
    </p:spTree>
    <p:extLst>
      <p:ext uri="{BB962C8B-B14F-4D97-AF65-F5344CB8AC3E}">
        <p14:creationId xmlns:p14="http://schemas.microsoft.com/office/powerpoint/2010/main" val="1257309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89F70-1D5C-A6CE-BB43-4FF6E6FEB428}"/>
              </a:ext>
            </a:extLst>
          </p:cNvPr>
          <p:cNvSpPr>
            <a:spLocks noGrp="1"/>
          </p:cNvSpPr>
          <p:nvPr>
            <p:ph type="title"/>
          </p:nvPr>
        </p:nvSpPr>
        <p:spPr/>
        <p:txBody>
          <a:bodyPr/>
          <a:lstStyle/>
          <a:p>
            <a:r>
              <a:rPr lang="en-GB" dirty="0"/>
              <a:t>Evaluating &amp; Interpreting Research</a:t>
            </a:r>
          </a:p>
        </p:txBody>
      </p:sp>
      <p:sp>
        <p:nvSpPr>
          <p:cNvPr id="3" name="Content Placeholder 2">
            <a:extLst>
              <a:ext uri="{FF2B5EF4-FFF2-40B4-BE49-F238E27FC236}">
                <a16:creationId xmlns:a16="http://schemas.microsoft.com/office/drawing/2014/main" id="{2C42F7C3-B143-117F-C727-C0D6681624DE}"/>
              </a:ext>
            </a:extLst>
          </p:cNvPr>
          <p:cNvSpPr>
            <a:spLocks noGrp="1"/>
          </p:cNvSpPr>
          <p:nvPr>
            <p:ph sz="half" idx="1"/>
          </p:nvPr>
        </p:nvSpPr>
        <p:spPr/>
        <p:txBody>
          <a:bodyPr/>
          <a:lstStyle/>
          <a:p>
            <a:r>
              <a:rPr lang="en-US" b="1" dirty="0"/>
              <a:t>Accuracy and Bias</a:t>
            </a:r>
            <a:r>
              <a:rPr lang="en-US" dirty="0"/>
              <a:t>: </a:t>
            </a:r>
          </a:p>
          <a:p>
            <a:pPr lvl="1"/>
            <a:r>
              <a:rPr lang="en-US" dirty="0"/>
              <a:t>Stick to peer-reviewed sources and verify the credibility of the research.</a:t>
            </a:r>
          </a:p>
          <a:p>
            <a:r>
              <a:rPr lang="en-GB" dirty="0"/>
              <a:t>Some Internet sources can be very up-to-date and, therefore can be especially useful if statistics are required. </a:t>
            </a:r>
          </a:p>
          <a:p>
            <a:pPr lvl="1"/>
            <a:r>
              <a:rPr lang="en-GB" dirty="0" err="1">
                <a:hlinkClick r:id="rId2"/>
              </a:rPr>
              <a:t>statista</a:t>
            </a:r>
            <a:r>
              <a:rPr lang="en-GB" dirty="0"/>
              <a:t>, </a:t>
            </a:r>
            <a:r>
              <a:rPr lang="en-GB" dirty="0" err="1">
                <a:hlinkClick r:id="rId3"/>
              </a:rPr>
              <a:t>ons</a:t>
            </a:r>
            <a:r>
              <a:rPr lang="en-GB" dirty="0"/>
              <a:t>,  government Web sites, etc.</a:t>
            </a:r>
          </a:p>
          <a:p>
            <a:r>
              <a:rPr lang="en-GB" dirty="0"/>
              <a:t>Finally, take caution when you encounter research studies.</a:t>
            </a:r>
          </a:p>
          <a:p>
            <a:pPr lvl="1"/>
            <a:r>
              <a:rPr lang="en-GB" dirty="0"/>
              <a:t>especially qualitative research studies that attempt to show </a:t>
            </a:r>
            <a:r>
              <a:rPr lang="en-GB" dirty="0">
                <a:solidFill>
                  <a:srgbClr val="0070C0"/>
                </a:solidFill>
              </a:rPr>
              <a:t>causality</a:t>
            </a:r>
            <a:r>
              <a:rPr lang="en-GB" dirty="0"/>
              <a:t>.</a:t>
            </a:r>
          </a:p>
          <a:p>
            <a:r>
              <a:rPr lang="en-US" b="1" dirty="0"/>
              <a:t>Example</a:t>
            </a:r>
            <a:r>
              <a:rPr lang="en-US" dirty="0"/>
              <a:t>: </a:t>
            </a:r>
          </a:p>
          <a:p>
            <a:pPr lvl="1"/>
            <a:r>
              <a:rPr lang="en-US" dirty="0"/>
              <a:t>“The study by Turner et al. (2020) presents performance data of web frameworks, but it uses outdated tools like </a:t>
            </a:r>
            <a:r>
              <a:rPr lang="en-US" dirty="0" err="1"/>
              <a:t>PhantomJS</a:t>
            </a:r>
            <a:r>
              <a:rPr lang="en-US" dirty="0"/>
              <a:t>, which no longer represents the current state of web performance testing.”</a:t>
            </a:r>
            <a:endParaRPr lang="en-GB" dirty="0"/>
          </a:p>
          <a:p>
            <a:endParaRPr lang="en-GB" dirty="0"/>
          </a:p>
          <a:p>
            <a:endParaRPr lang="en-GB" dirty="0"/>
          </a:p>
        </p:txBody>
      </p:sp>
    </p:spTree>
    <p:extLst>
      <p:ext uri="{BB962C8B-B14F-4D97-AF65-F5344CB8AC3E}">
        <p14:creationId xmlns:p14="http://schemas.microsoft.com/office/powerpoint/2010/main" val="1916013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Approaching The Literature Review </a:t>
            </a:r>
          </a:p>
        </p:txBody>
      </p:sp>
      <p:sp>
        <p:nvSpPr>
          <p:cNvPr id="3" name="Content Placeholder 2"/>
          <p:cNvSpPr>
            <a:spLocks noGrp="1"/>
          </p:cNvSpPr>
          <p:nvPr>
            <p:ph sz="half" idx="1"/>
          </p:nvPr>
        </p:nvSpPr>
        <p:spPr/>
        <p:txBody>
          <a:bodyPr/>
          <a:lstStyle/>
          <a:p>
            <a:r>
              <a:rPr lang="en-GB" dirty="0"/>
              <a:t> Completing a literature review requires </a:t>
            </a:r>
            <a:r>
              <a:rPr lang="en-GB" dirty="0">
                <a:solidFill>
                  <a:srgbClr val="0070C0"/>
                </a:solidFill>
              </a:rPr>
              <a:t>planning</a:t>
            </a:r>
            <a:r>
              <a:rPr lang="en-GB" dirty="0"/>
              <a:t>, </a:t>
            </a:r>
            <a:r>
              <a:rPr lang="en-GB" dirty="0">
                <a:solidFill>
                  <a:srgbClr val="0070C0"/>
                </a:solidFill>
              </a:rPr>
              <a:t>time</a:t>
            </a:r>
            <a:r>
              <a:rPr lang="en-GB" dirty="0"/>
              <a:t>, </a:t>
            </a:r>
            <a:r>
              <a:rPr lang="en-GB" dirty="0">
                <a:solidFill>
                  <a:srgbClr val="0070C0"/>
                </a:solidFill>
              </a:rPr>
              <a:t>reading</a:t>
            </a:r>
            <a:r>
              <a:rPr lang="en-GB" dirty="0"/>
              <a:t>, </a:t>
            </a:r>
            <a:r>
              <a:rPr lang="en-GB" dirty="0">
                <a:solidFill>
                  <a:srgbClr val="0070C0"/>
                </a:solidFill>
              </a:rPr>
              <a:t>writing</a:t>
            </a:r>
            <a:r>
              <a:rPr lang="en-GB" dirty="0"/>
              <a:t>, </a:t>
            </a:r>
            <a:r>
              <a:rPr lang="en-GB" dirty="0">
                <a:solidFill>
                  <a:srgbClr val="0070C0"/>
                </a:solidFill>
              </a:rPr>
              <a:t>drafting</a:t>
            </a:r>
            <a:r>
              <a:rPr lang="en-GB" dirty="0"/>
              <a:t>, </a:t>
            </a:r>
            <a:r>
              <a:rPr lang="en-GB" dirty="0">
                <a:solidFill>
                  <a:srgbClr val="0070C0"/>
                </a:solidFill>
              </a:rPr>
              <a:t>reflection</a:t>
            </a:r>
            <a:r>
              <a:rPr lang="en-GB" dirty="0"/>
              <a:t>, and </a:t>
            </a:r>
            <a:r>
              <a:rPr lang="en-GB" dirty="0">
                <a:solidFill>
                  <a:srgbClr val="0070C0"/>
                </a:solidFill>
              </a:rPr>
              <a:t>editing</a:t>
            </a:r>
            <a:r>
              <a:rPr lang="en-GB" dirty="0"/>
              <a:t>. </a:t>
            </a:r>
          </a:p>
          <a:p>
            <a:r>
              <a:rPr lang="en-GB" dirty="0"/>
              <a:t>A successful literature review has a firm idea of the </a:t>
            </a:r>
            <a:r>
              <a:rPr lang="en-GB" dirty="0">
                <a:solidFill>
                  <a:srgbClr val="0070C0"/>
                </a:solidFill>
              </a:rPr>
              <a:t>research problem</a:t>
            </a:r>
            <a:r>
              <a:rPr lang="en-GB" dirty="0"/>
              <a:t> and an </a:t>
            </a:r>
            <a:r>
              <a:rPr lang="en-GB" dirty="0">
                <a:solidFill>
                  <a:srgbClr val="0070C0"/>
                </a:solidFill>
              </a:rPr>
              <a:t>understanding of the research framework/paradigm</a:t>
            </a:r>
            <a:r>
              <a:rPr lang="en-GB" dirty="0"/>
              <a:t>. </a:t>
            </a:r>
          </a:p>
          <a:p>
            <a:r>
              <a:rPr lang="en-GB" dirty="0"/>
              <a:t>To refine the research problem, you need to </a:t>
            </a:r>
            <a:r>
              <a:rPr lang="en-GB" dirty="0">
                <a:solidFill>
                  <a:srgbClr val="0070C0"/>
                </a:solidFill>
              </a:rPr>
              <a:t>conduct preliminary research </a:t>
            </a:r>
            <a:r>
              <a:rPr lang="en-GB" dirty="0"/>
              <a:t>to help narrow your focus and </a:t>
            </a:r>
            <a:r>
              <a:rPr lang="en-GB" dirty="0">
                <a:solidFill>
                  <a:srgbClr val="0070C0"/>
                </a:solidFill>
              </a:rPr>
              <a:t>identify key search terms</a:t>
            </a:r>
            <a:r>
              <a:rPr lang="en-GB" dirty="0"/>
              <a:t>. </a:t>
            </a:r>
          </a:p>
          <a:p>
            <a:endParaRPr lang="en-GB" dirty="0"/>
          </a:p>
        </p:txBody>
      </p:sp>
    </p:spTree>
    <p:extLst>
      <p:ext uri="{BB962C8B-B14F-4D97-AF65-F5344CB8AC3E}">
        <p14:creationId xmlns:p14="http://schemas.microsoft.com/office/powerpoint/2010/main" val="318368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Approaching The Literature Review </a:t>
            </a:r>
          </a:p>
        </p:txBody>
      </p:sp>
      <p:sp>
        <p:nvSpPr>
          <p:cNvPr id="3" name="Content Placeholder 2"/>
          <p:cNvSpPr>
            <a:spLocks noGrp="1"/>
          </p:cNvSpPr>
          <p:nvPr>
            <p:ph sz="half" idx="1"/>
          </p:nvPr>
        </p:nvSpPr>
        <p:spPr/>
        <p:txBody>
          <a:bodyPr>
            <a:normAutofit/>
          </a:bodyPr>
          <a:lstStyle/>
          <a:p>
            <a:r>
              <a:rPr lang="en-GB" dirty="0"/>
              <a:t>You are expected to </a:t>
            </a:r>
            <a:r>
              <a:rPr lang="en-GB" dirty="0">
                <a:solidFill>
                  <a:srgbClr val="0070C0"/>
                </a:solidFill>
              </a:rPr>
              <a:t>place </a:t>
            </a:r>
            <a:r>
              <a:rPr lang="en-GB" dirty="0"/>
              <a:t>your research in the </a:t>
            </a:r>
            <a:r>
              <a:rPr lang="en-GB" dirty="0">
                <a:solidFill>
                  <a:srgbClr val="0070C0"/>
                </a:solidFill>
              </a:rPr>
              <a:t>existing academic literature/industrial practices.</a:t>
            </a:r>
            <a:r>
              <a:rPr lang="en-GB" dirty="0"/>
              <a:t> </a:t>
            </a:r>
          </a:p>
          <a:p>
            <a:r>
              <a:rPr lang="en-GB" dirty="0"/>
              <a:t>Simply describing the literature should be avoided. </a:t>
            </a:r>
          </a:p>
          <a:p>
            <a:r>
              <a:rPr lang="en-GB" dirty="0"/>
              <a:t>A </a:t>
            </a:r>
            <a:r>
              <a:rPr lang="en-GB" dirty="0">
                <a:solidFill>
                  <a:srgbClr val="0070C0"/>
                </a:solidFill>
              </a:rPr>
              <a:t>critical and analytical judgement </a:t>
            </a:r>
            <a:r>
              <a:rPr lang="en-GB" dirty="0"/>
              <a:t>which demonstrates </a:t>
            </a:r>
            <a:r>
              <a:rPr lang="en-GB" dirty="0">
                <a:solidFill>
                  <a:srgbClr val="0070C0"/>
                </a:solidFill>
              </a:rPr>
              <a:t>how/where/why </a:t>
            </a:r>
            <a:r>
              <a:rPr lang="en-GB" dirty="0"/>
              <a:t>your work is best placed as well as work that needs developing is essential. </a:t>
            </a:r>
          </a:p>
          <a:p>
            <a:r>
              <a:rPr lang="en-GB" dirty="0"/>
              <a:t>Your work should </a:t>
            </a:r>
            <a:r>
              <a:rPr lang="en-GB" dirty="0">
                <a:solidFill>
                  <a:srgbClr val="0070C0"/>
                </a:solidFill>
              </a:rPr>
              <a:t>contribute</a:t>
            </a:r>
            <a:r>
              <a:rPr lang="en-GB" dirty="0"/>
              <a:t> to existing literature in the field. </a:t>
            </a:r>
          </a:p>
          <a:p>
            <a:r>
              <a:rPr lang="en-GB" dirty="0"/>
              <a:t>Ensure consideration is given to the methodological and/or theoretical arguments that inform the literature.</a:t>
            </a:r>
          </a:p>
          <a:p>
            <a:r>
              <a:rPr lang="en-GB" dirty="0"/>
              <a:t>Be aware of how research paradigms influence the research. </a:t>
            </a:r>
          </a:p>
          <a:p>
            <a:endParaRPr lang="en-GB" dirty="0"/>
          </a:p>
        </p:txBody>
      </p:sp>
    </p:spTree>
    <p:extLst>
      <p:ext uri="{BB962C8B-B14F-4D97-AF65-F5344CB8AC3E}">
        <p14:creationId xmlns:p14="http://schemas.microsoft.com/office/powerpoint/2010/main" val="2060809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A642-51D9-6AA1-2C37-D3A1D5668F45}"/>
              </a:ext>
            </a:extLst>
          </p:cNvPr>
          <p:cNvSpPr>
            <a:spLocks noGrp="1"/>
          </p:cNvSpPr>
          <p:nvPr>
            <p:ph type="title"/>
          </p:nvPr>
        </p:nvSpPr>
        <p:spPr/>
        <p:txBody>
          <a:bodyPr/>
          <a:lstStyle/>
          <a:p>
            <a:r>
              <a:rPr lang="en-GB" dirty="0"/>
              <a:t>Reading and Analysing Literature (</a:t>
            </a:r>
            <a:r>
              <a:rPr lang="en-GB" dirty="0" err="1"/>
              <a:t>PQRS</a:t>
            </a:r>
            <a:r>
              <a:rPr lang="en-GB" dirty="0"/>
              <a:t> Framework)</a:t>
            </a:r>
          </a:p>
        </p:txBody>
      </p:sp>
      <p:sp>
        <p:nvSpPr>
          <p:cNvPr id="3" name="Content Placeholder 2">
            <a:extLst>
              <a:ext uri="{FF2B5EF4-FFF2-40B4-BE49-F238E27FC236}">
                <a16:creationId xmlns:a16="http://schemas.microsoft.com/office/drawing/2014/main" id="{B02D23D0-7EF5-C725-21C3-8FC7042BDDC0}"/>
              </a:ext>
            </a:extLst>
          </p:cNvPr>
          <p:cNvSpPr>
            <a:spLocks noGrp="1"/>
          </p:cNvSpPr>
          <p:nvPr>
            <p:ph sz="half" idx="1"/>
          </p:nvPr>
        </p:nvSpPr>
        <p:spPr/>
        <p:txBody>
          <a:bodyPr/>
          <a:lstStyle/>
          <a:p>
            <a:r>
              <a:rPr lang="en-US" b="1" dirty="0"/>
              <a:t>P</a:t>
            </a:r>
            <a:r>
              <a:rPr lang="en-US" dirty="0"/>
              <a:t> (Problem): </a:t>
            </a:r>
          </a:p>
          <a:p>
            <a:pPr lvl="1"/>
            <a:r>
              <a:rPr lang="en-US" dirty="0"/>
              <a:t>What is the study’s main issue? </a:t>
            </a:r>
          </a:p>
          <a:p>
            <a:pPr lvl="2"/>
            <a:r>
              <a:rPr lang="en-US" i="1" dirty="0"/>
              <a:t>How does Angular compare to React in terms of speed and flexibility?</a:t>
            </a:r>
          </a:p>
          <a:p>
            <a:r>
              <a:rPr lang="en-US" b="1" dirty="0"/>
              <a:t>Q</a:t>
            </a:r>
            <a:r>
              <a:rPr lang="en-US" dirty="0"/>
              <a:t> (Questions): </a:t>
            </a:r>
          </a:p>
          <a:p>
            <a:pPr lvl="1"/>
            <a:r>
              <a:rPr lang="en-US" dirty="0"/>
              <a:t>What research questions does the study answer?</a:t>
            </a:r>
          </a:p>
          <a:p>
            <a:pPr lvl="2"/>
            <a:r>
              <a:rPr lang="en-US" i="1" dirty="0"/>
              <a:t>Does Angular provide better modularity than React?</a:t>
            </a:r>
          </a:p>
          <a:p>
            <a:r>
              <a:rPr lang="en-US" b="1" dirty="0"/>
              <a:t>R</a:t>
            </a:r>
            <a:r>
              <a:rPr lang="en-US" dirty="0"/>
              <a:t> (Results): </a:t>
            </a:r>
          </a:p>
          <a:p>
            <a:pPr lvl="1"/>
            <a:r>
              <a:rPr lang="en-US" dirty="0"/>
              <a:t>What findings were reported? </a:t>
            </a:r>
          </a:p>
          <a:p>
            <a:pPr lvl="2"/>
            <a:r>
              <a:rPr lang="en-US" i="1" dirty="0"/>
              <a:t>React is faster than Angular, but </a:t>
            </a:r>
            <a:r>
              <a:rPr lang="en-US" i="1" dirty="0" err="1"/>
              <a:t>Angular’s</a:t>
            </a:r>
            <a:r>
              <a:rPr lang="en-US" i="1" dirty="0"/>
              <a:t> two-way data binding is superior.</a:t>
            </a:r>
          </a:p>
          <a:p>
            <a:r>
              <a:rPr lang="en-US" b="1" dirty="0"/>
              <a:t>S</a:t>
            </a:r>
            <a:r>
              <a:rPr lang="en-US" dirty="0"/>
              <a:t> (Significance): </a:t>
            </a:r>
          </a:p>
          <a:p>
            <a:pPr lvl="1"/>
            <a:r>
              <a:rPr lang="en-US" dirty="0"/>
              <a:t>What does this contribute to the field? </a:t>
            </a:r>
          </a:p>
          <a:p>
            <a:pPr lvl="2"/>
            <a:r>
              <a:rPr lang="en-US" i="1" dirty="0"/>
              <a:t>This highlights the trade-offs developers must make when selecting frameworks.</a:t>
            </a:r>
            <a:endParaRPr lang="en-GB" i="1" dirty="0"/>
          </a:p>
        </p:txBody>
      </p:sp>
    </p:spTree>
    <p:extLst>
      <p:ext uri="{BB962C8B-B14F-4D97-AF65-F5344CB8AC3E}">
        <p14:creationId xmlns:p14="http://schemas.microsoft.com/office/powerpoint/2010/main" val="2109466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C05CF-EF2B-1BA8-45B8-80E475170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A6BF5-AB3D-79BE-0B38-77309D3377BA}"/>
              </a:ext>
            </a:extLst>
          </p:cNvPr>
          <p:cNvSpPr>
            <a:spLocks noGrp="1"/>
          </p:cNvSpPr>
          <p:nvPr>
            <p:ph type="title"/>
          </p:nvPr>
        </p:nvSpPr>
        <p:spPr/>
        <p:txBody>
          <a:bodyPr/>
          <a:lstStyle/>
          <a:p>
            <a:r>
              <a:rPr lang="en-GB" dirty="0"/>
              <a:t>Reading and Analysing Literature (</a:t>
            </a:r>
            <a:r>
              <a:rPr lang="en-GB" dirty="0" err="1"/>
              <a:t>PQRS</a:t>
            </a:r>
            <a:r>
              <a:rPr lang="en-GB" dirty="0"/>
              <a:t> Framework)</a:t>
            </a:r>
          </a:p>
        </p:txBody>
      </p:sp>
      <p:sp>
        <p:nvSpPr>
          <p:cNvPr id="3" name="Content Placeholder 2">
            <a:extLst>
              <a:ext uri="{FF2B5EF4-FFF2-40B4-BE49-F238E27FC236}">
                <a16:creationId xmlns:a16="http://schemas.microsoft.com/office/drawing/2014/main" id="{F883BB40-E9A2-E494-929A-872FBCA0A4BB}"/>
              </a:ext>
            </a:extLst>
          </p:cNvPr>
          <p:cNvSpPr>
            <a:spLocks noGrp="1"/>
          </p:cNvSpPr>
          <p:nvPr>
            <p:ph sz="half" idx="1"/>
          </p:nvPr>
        </p:nvSpPr>
        <p:spPr/>
        <p:txBody>
          <a:bodyPr/>
          <a:lstStyle/>
          <a:p>
            <a:r>
              <a:rPr lang="en-US" b="1" dirty="0"/>
              <a:t>Example of applying </a:t>
            </a:r>
            <a:r>
              <a:rPr lang="en-US" b="1" dirty="0" err="1"/>
              <a:t>PQRS</a:t>
            </a:r>
            <a:r>
              <a:rPr lang="en-US" dirty="0"/>
              <a:t>: </a:t>
            </a:r>
          </a:p>
          <a:p>
            <a:endParaRPr lang="en-US" dirty="0"/>
          </a:p>
          <a:p>
            <a:r>
              <a:rPr lang="en-US" sz="3600" dirty="0"/>
              <a:t>“The study by Wilson et al. (2018) explores the problem of data scarcity in training neural networks (P). They ask how unsupervised learning can mitigate this issue (Q). Their results suggest that unsupervised models reduce overfitting in low-data scenarios (R). This is significant because it can improve the applicability of AI in real-world scenarios with limited datasets (S).”</a:t>
            </a:r>
          </a:p>
        </p:txBody>
      </p:sp>
    </p:spTree>
    <p:extLst>
      <p:ext uri="{BB962C8B-B14F-4D97-AF65-F5344CB8AC3E}">
        <p14:creationId xmlns:p14="http://schemas.microsoft.com/office/powerpoint/2010/main" val="2934293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015A-74FB-4A3A-30FB-996395760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14F0F-C7B0-F2D6-8F2E-360055593BA9}"/>
              </a:ext>
            </a:extLst>
          </p:cNvPr>
          <p:cNvSpPr>
            <a:spLocks noGrp="1"/>
          </p:cNvSpPr>
          <p:nvPr>
            <p:ph type="title"/>
          </p:nvPr>
        </p:nvSpPr>
        <p:spPr/>
        <p:txBody>
          <a:bodyPr/>
          <a:lstStyle/>
          <a:p>
            <a:r>
              <a:rPr lang="en-GB" dirty="0"/>
              <a:t>Reading and Analysing Literature (</a:t>
            </a:r>
            <a:r>
              <a:rPr lang="en-GB" dirty="0" err="1"/>
              <a:t>PQRS</a:t>
            </a:r>
            <a:r>
              <a:rPr lang="en-GB" dirty="0"/>
              <a:t> Framework)</a:t>
            </a:r>
          </a:p>
        </p:txBody>
      </p:sp>
      <p:sp>
        <p:nvSpPr>
          <p:cNvPr id="3" name="Content Placeholder 2">
            <a:extLst>
              <a:ext uri="{FF2B5EF4-FFF2-40B4-BE49-F238E27FC236}">
                <a16:creationId xmlns:a16="http://schemas.microsoft.com/office/drawing/2014/main" id="{61A93343-7201-4A10-5766-442E5B4C7C4F}"/>
              </a:ext>
            </a:extLst>
          </p:cNvPr>
          <p:cNvSpPr>
            <a:spLocks noGrp="1"/>
          </p:cNvSpPr>
          <p:nvPr>
            <p:ph sz="half" idx="1"/>
          </p:nvPr>
        </p:nvSpPr>
        <p:spPr/>
        <p:txBody>
          <a:bodyPr/>
          <a:lstStyle/>
          <a:p>
            <a:r>
              <a:rPr lang="en-US" b="1" dirty="0"/>
              <a:t>Example of applying </a:t>
            </a:r>
            <a:r>
              <a:rPr lang="en-US" b="1" dirty="0" err="1"/>
              <a:t>PQRS</a:t>
            </a:r>
            <a:r>
              <a:rPr lang="en-US" dirty="0"/>
              <a:t>: </a:t>
            </a:r>
          </a:p>
          <a:p>
            <a:endParaRPr lang="en-US" dirty="0"/>
          </a:p>
          <a:p>
            <a:r>
              <a:rPr lang="en-US" sz="3600" dirty="0"/>
              <a:t>“In the study by Smith et al. (2021), the researchers compared React and Angular (P). Their primary question was to assess framework performance and flexibility (Q). They found React is faster but lacks some of the flexibility offered by </a:t>
            </a:r>
            <a:r>
              <a:rPr lang="en-US" sz="3600" dirty="0" err="1"/>
              <a:t>Angular’s</a:t>
            </a:r>
            <a:r>
              <a:rPr lang="en-US" sz="3600" dirty="0"/>
              <a:t> data-binding capabilities (R). This highlights the critical decision developers face when selecting a framework based on project requirements (S).”</a:t>
            </a:r>
            <a:endParaRPr lang="en-GB" sz="3600" i="1" dirty="0"/>
          </a:p>
        </p:txBody>
      </p:sp>
    </p:spTree>
    <p:extLst>
      <p:ext uri="{BB962C8B-B14F-4D97-AF65-F5344CB8AC3E}">
        <p14:creationId xmlns:p14="http://schemas.microsoft.com/office/powerpoint/2010/main" val="2321048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Thesis Statement </a:t>
            </a:r>
          </a:p>
        </p:txBody>
      </p:sp>
      <p:sp>
        <p:nvSpPr>
          <p:cNvPr id="3" name="Content Placeholder 2"/>
          <p:cNvSpPr>
            <a:spLocks noGrp="1"/>
          </p:cNvSpPr>
          <p:nvPr>
            <p:ph sz="half" idx="1"/>
          </p:nvPr>
        </p:nvSpPr>
        <p:spPr/>
        <p:txBody>
          <a:bodyPr>
            <a:normAutofit/>
          </a:bodyPr>
          <a:lstStyle/>
          <a:p>
            <a:r>
              <a:rPr lang="en-US" b="1" dirty="0"/>
              <a:t>A thesis statement</a:t>
            </a:r>
            <a:r>
              <a:rPr lang="en-US" dirty="0"/>
              <a:t> is a statement of one's </a:t>
            </a:r>
            <a:r>
              <a:rPr lang="en-US" dirty="0">
                <a:solidFill>
                  <a:schemeClr val="accent1">
                    <a:lumMod val="50000"/>
                    <a:lumOff val="50000"/>
                  </a:schemeClr>
                </a:solidFill>
              </a:rPr>
              <a:t>core argument</a:t>
            </a:r>
            <a:r>
              <a:rPr lang="en-US" dirty="0"/>
              <a:t>, the </a:t>
            </a:r>
            <a:r>
              <a:rPr lang="en-US" dirty="0">
                <a:solidFill>
                  <a:schemeClr val="accent1">
                    <a:lumMod val="50000"/>
                    <a:lumOff val="50000"/>
                  </a:schemeClr>
                </a:solidFill>
              </a:rPr>
              <a:t>main idea(s)</a:t>
            </a:r>
            <a:r>
              <a:rPr lang="en-US" dirty="0"/>
              <a:t>, and/or a </a:t>
            </a:r>
            <a:r>
              <a:rPr lang="en-US" dirty="0">
                <a:solidFill>
                  <a:schemeClr val="accent1">
                    <a:lumMod val="50000"/>
                    <a:lumOff val="50000"/>
                  </a:schemeClr>
                </a:solidFill>
              </a:rPr>
              <a:t>concise summary </a:t>
            </a:r>
            <a:r>
              <a:rPr lang="en-US" dirty="0"/>
              <a:t>of a research project</a:t>
            </a:r>
          </a:p>
          <a:p>
            <a:r>
              <a:rPr lang="en-US" dirty="0"/>
              <a:t>It is usually expressed in </a:t>
            </a:r>
            <a:r>
              <a:rPr lang="en-US" dirty="0">
                <a:solidFill>
                  <a:schemeClr val="accent1">
                    <a:lumMod val="50000"/>
                    <a:lumOff val="50000"/>
                  </a:schemeClr>
                </a:solidFill>
              </a:rPr>
              <a:t>one or two sentences </a:t>
            </a:r>
          </a:p>
          <a:p>
            <a:r>
              <a:rPr lang="en-GB" dirty="0"/>
              <a:t>Example:</a:t>
            </a:r>
          </a:p>
          <a:p>
            <a:r>
              <a:rPr lang="en-GB" i="1" dirty="0"/>
              <a:t>Companies claim to act in a corporately socially responsible manner despite continuing to engage in business that is fundamentally unsustainable</a:t>
            </a:r>
            <a:r>
              <a:rPr lang="en-GB" dirty="0"/>
              <a:t>. </a:t>
            </a:r>
          </a:p>
          <a:p>
            <a:r>
              <a:rPr lang="en-GB" i="1" dirty="0"/>
              <a:t>Information and Communication Technology allows employees to be constantly chained to their ICT</a:t>
            </a:r>
            <a:r>
              <a:rPr lang="en-GB" dirty="0"/>
              <a:t>.</a:t>
            </a:r>
          </a:p>
          <a:p>
            <a:endParaRPr lang="en-GB" dirty="0"/>
          </a:p>
        </p:txBody>
      </p:sp>
    </p:spTree>
    <p:extLst>
      <p:ext uri="{BB962C8B-B14F-4D97-AF65-F5344CB8AC3E}">
        <p14:creationId xmlns:p14="http://schemas.microsoft.com/office/powerpoint/2010/main" val="248055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5567-FEA9-27B5-8E85-2A83F0267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3E811-6571-C04D-EABE-4B8A1C094C91}"/>
              </a:ext>
            </a:extLst>
          </p:cNvPr>
          <p:cNvSpPr>
            <a:spLocks noGrp="1"/>
          </p:cNvSpPr>
          <p:nvPr>
            <p:ph type="title"/>
          </p:nvPr>
        </p:nvSpPr>
        <p:spPr/>
        <p:txBody>
          <a:bodyPr/>
          <a:lstStyle/>
          <a:p>
            <a:r>
              <a:rPr lang="en-GB" dirty="0"/>
              <a:t>Thesis Statement </a:t>
            </a:r>
          </a:p>
        </p:txBody>
      </p:sp>
      <p:sp>
        <p:nvSpPr>
          <p:cNvPr id="3" name="Content Placeholder 2">
            <a:extLst>
              <a:ext uri="{FF2B5EF4-FFF2-40B4-BE49-F238E27FC236}">
                <a16:creationId xmlns:a16="http://schemas.microsoft.com/office/drawing/2014/main" id="{F25EED3B-2CE7-F4D8-9F78-3BEB97CCA9B0}"/>
              </a:ext>
            </a:extLst>
          </p:cNvPr>
          <p:cNvSpPr>
            <a:spLocks noGrp="1"/>
          </p:cNvSpPr>
          <p:nvPr>
            <p:ph sz="half" idx="1"/>
          </p:nvPr>
        </p:nvSpPr>
        <p:spPr/>
        <p:txBody>
          <a:bodyPr>
            <a:normAutofit/>
          </a:bodyPr>
          <a:lstStyle/>
          <a:p>
            <a:r>
              <a:rPr lang="en-US" b="1" dirty="0"/>
              <a:t>Example:</a:t>
            </a:r>
          </a:p>
          <a:p>
            <a:pPr lvl="1"/>
            <a:r>
              <a:rPr lang="en-US" dirty="0"/>
              <a:t>“Despite the growing popularity of frameworks like React and Vue, there is a lack of research on how hybrid development approaches (e.g., combining Vue for frontend and Node.js for backend) impact the scalability of web applications.”</a:t>
            </a:r>
          </a:p>
          <a:p>
            <a:r>
              <a:rPr lang="en-US" b="1" dirty="0"/>
              <a:t>Critical annotation example</a:t>
            </a:r>
            <a:r>
              <a:rPr lang="en-US" dirty="0"/>
              <a:t>: </a:t>
            </a:r>
          </a:p>
          <a:p>
            <a:pPr lvl="1"/>
            <a:r>
              <a:rPr lang="en-US" dirty="0"/>
              <a:t>“While the work by Anderson et al. (2020) focuses on front-end frameworks, it doesn’t address full-stack implementations, particularly the integration of these frameworks with backend technologies like </a:t>
            </a:r>
            <a:r>
              <a:rPr lang="en-US" b="1" dirty="0"/>
              <a:t>Node.js</a:t>
            </a:r>
            <a:r>
              <a:rPr lang="en-US" dirty="0"/>
              <a:t> and </a:t>
            </a:r>
            <a:r>
              <a:rPr lang="en-US" b="1" dirty="0"/>
              <a:t>Express.js</a:t>
            </a:r>
            <a:r>
              <a:rPr lang="en-US" dirty="0"/>
              <a:t>.”</a:t>
            </a:r>
            <a:endParaRPr lang="en-GB" dirty="0"/>
          </a:p>
        </p:txBody>
      </p:sp>
    </p:spTree>
    <p:extLst>
      <p:ext uri="{BB962C8B-B14F-4D97-AF65-F5344CB8AC3E}">
        <p14:creationId xmlns:p14="http://schemas.microsoft.com/office/powerpoint/2010/main" val="2842909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5B749-E00C-9613-A1F2-A1E2AFEE2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1B0B98-9016-32F1-9E18-5E448E13BC91}"/>
              </a:ext>
            </a:extLst>
          </p:cNvPr>
          <p:cNvSpPr>
            <a:spLocks noGrp="1"/>
          </p:cNvSpPr>
          <p:nvPr>
            <p:ph type="title"/>
          </p:nvPr>
        </p:nvSpPr>
        <p:spPr/>
        <p:txBody>
          <a:bodyPr/>
          <a:lstStyle/>
          <a:p>
            <a:r>
              <a:rPr lang="en-GB" dirty="0"/>
              <a:t>Thesis Statement </a:t>
            </a:r>
          </a:p>
        </p:txBody>
      </p:sp>
      <p:sp>
        <p:nvSpPr>
          <p:cNvPr id="3" name="Content Placeholder 2">
            <a:extLst>
              <a:ext uri="{FF2B5EF4-FFF2-40B4-BE49-F238E27FC236}">
                <a16:creationId xmlns:a16="http://schemas.microsoft.com/office/drawing/2014/main" id="{D61EFD24-091D-3964-549D-850BD29BA845}"/>
              </a:ext>
            </a:extLst>
          </p:cNvPr>
          <p:cNvSpPr>
            <a:spLocks noGrp="1"/>
          </p:cNvSpPr>
          <p:nvPr>
            <p:ph sz="half" idx="1"/>
          </p:nvPr>
        </p:nvSpPr>
        <p:spPr/>
        <p:txBody>
          <a:bodyPr>
            <a:normAutofit/>
          </a:bodyPr>
          <a:lstStyle/>
          <a:p>
            <a:r>
              <a:rPr lang="en-US" b="1" dirty="0"/>
              <a:t>Example:</a:t>
            </a:r>
          </a:p>
          <a:p>
            <a:pPr lvl="1"/>
            <a:r>
              <a:rPr lang="en-US" dirty="0"/>
              <a:t>“Despite the rapid advancements in deep learning, current research still struggles to address interpretability and ethical concerns in AI models.” </a:t>
            </a:r>
          </a:p>
          <a:p>
            <a:r>
              <a:rPr lang="en-US" b="1" dirty="0"/>
              <a:t>Critical annotation example</a:t>
            </a:r>
            <a:r>
              <a:rPr lang="en-US" dirty="0"/>
              <a:t>: </a:t>
            </a:r>
          </a:p>
          <a:p>
            <a:pPr lvl="1"/>
            <a:r>
              <a:rPr lang="en-US" dirty="0"/>
              <a:t>“While many AI papers, such as Smith et al. (2019), have focused on improving model accuracy, fewer have discussed how to make these models interpretable to non-experts. The literature review should place these limitations within the broader context of AI ethics and transparency.”</a:t>
            </a:r>
            <a:endParaRPr lang="en-GB" dirty="0"/>
          </a:p>
        </p:txBody>
      </p:sp>
    </p:spTree>
    <p:extLst>
      <p:ext uri="{BB962C8B-B14F-4D97-AF65-F5344CB8AC3E}">
        <p14:creationId xmlns:p14="http://schemas.microsoft.com/office/powerpoint/2010/main" val="1854404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Questions Based on Thesis Statement  </a:t>
            </a:r>
          </a:p>
        </p:txBody>
      </p:sp>
      <p:sp>
        <p:nvSpPr>
          <p:cNvPr id="3" name="Content Placeholder 2"/>
          <p:cNvSpPr>
            <a:spLocks noGrp="1"/>
          </p:cNvSpPr>
          <p:nvPr>
            <p:ph sz="half" idx="1"/>
          </p:nvPr>
        </p:nvSpPr>
        <p:spPr/>
        <p:txBody>
          <a:bodyPr>
            <a:normAutofit/>
          </a:bodyPr>
          <a:lstStyle/>
          <a:p>
            <a:r>
              <a:rPr lang="en-US" b="1" dirty="0"/>
              <a:t>Example Questions</a:t>
            </a:r>
            <a:r>
              <a:rPr lang="en-US" dirty="0"/>
              <a:t>:</a:t>
            </a:r>
          </a:p>
          <a:p>
            <a:r>
              <a:rPr lang="en-US" dirty="0"/>
              <a:t>How do hybrid web applications that use React.js and Node.js perform in terms of speed and scalability?</a:t>
            </a:r>
          </a:p>
          <a:p>
            <a:r>
              <a:rPr lang="en-US" dirty="0"/>
              <a:t>What are the security implications of using Angular for single-page applications (</a:t>
            </a:r>
            <a:r>
              <a:rPr lang="en-US" dirty="0" err="1"/>
              <a:t>SPAs</a:t>
            </a:r>
            <a:r>
              <a:rPr lang="en-US" dirty="0"/>
              <a:t>)?</a:t>
            </a:r>
          </a:p>
          <a:p>
            <a:r>
              <a:rPr lang="en-US" dirty="0"/>
              <a:t>How does the use of transfer learning impact the accuracy of neural networks in computer vision tasks?</a:t>
            </a:r>
          </a:p>
          <a:p>
            <a:r>
              <a:rPr lang="en-US" dirty="0"/>
              <a:t>What are the ethical implications of deploying AI models in healthcare?</a:t>
            </a:r>
          </a:p>
          <a:p>
            <a:endParaRPr lang="en-GB" dirty="0"/>
          </a:p>
          <a:p>
            <a:endParaRPr lang="en-GB" dirty="0"/>
          </a:p>
        </p:txBody>
      </p:sp>
    </p:spTree>
    <p:extLst>
      <p:ext uri="{BB962C8B-B14F-4D97-AF65-F5344CB8AC3E}">
        <p14:creationId xmlns:p14="http://schemas.microsoft.com/office/powerpoint/2010/main" val="1850839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Common Approaches to Organising A Lit Review</a:t>
            </a:r>
          </a:p>
        </p:txBody>
      </p:sp>
      <p:sp>
        <p:nvSpPr>
          <p:cNvPr id="3" name="Content Placeholder 2"/>
          <p:cNvSpPr>
            <a:spLocks noGrp="1"/>
          </p:cNvSpPr>
          <p:nvPr>
            <p:ph sz="half" idx="1"/>
          </p:nvPr>
        </p:nvSpPr>
        <p:spPr/>
        <p:txBody>
          <a:bodyPr/>
          <a:lstStyle/>
          <a:p>
            <a:r>
              <a:rPr lang="en-GB" dirty="0"/>
              <a:t>Chronological: </a:t>
            </a:r>
          </a:p>
          <a:p>
            <a:pPr lvl="1"/>
            <a:r>
              <a:rPr lang="en-US" dirty="0">
                <a:solidFill>
                  <a:schemeClr val="accent1">
                    <a:lumMod val="75000"/>
                    <a:lumOff val="25000"/>
                  </a:schemeClr>
                </a:solidFill>
              </a:rPr>
              <a:t>Present studies in the order of publication</a:t>
            </a:r>
            <a:r>
              <a:rPr lang="en-GB" dirty="0">
                <a:solidFill>
                  <a:schemeClr val="accent1">
                    <a:lumMod val="75000"/>
                    <a:lumOff val="25000"/>
                  </a:schemeClr>
                </a:solidFill>
              </a:rPr>
              <a:t> </a:t>
            </a:r>
          </a:p>
          <a:p>
            <a:pPr lvl="1"/>
            <a:r>
              <a:rPr lang="en-GB" dirty="0"/>
              <a:t>depending on the nature of your literature and development of ideas, a chronological approach will present the development of a key trend and/or progressions and changes in practices. </a:t>
            </a:r>
          </a:p>
          <a:p>
            <a:r>
              <a:rPr lang="en-GB" dirty="0"/>
              <a:t>Thematic/conceptual: </a:t>
            </a:r>
          </a:p>
          <a:p>
            <a:pPr lvl="1"/>
            <a:r>
              <a:rPr lang="en-US" dirty="0">
                <a:solidFill>
                  <a:schemeClr val="accent1">
                    <a:lumMod val="75000"/>
                    <a:lumOff val="25000"/>
                  </a:schemeClr>
                </a:solidFill>
              </a:rPr>
              <a:t>Group literature based on common themes</a:t>
            </a:r>
          </a:p>
          <a:p>
            <a:pPr lvl="1"/>
            <a:r>
              <a:rPr lang="en-GB" dirty="0"/>
              <a:t>time is not a factor here. The review of the literature will be around particular topics/issues/theories. </a:t>
            </a:r>
          </a:p>
          <a:p>
            <a:r>
              <a:rPr lang="en-GB" dirty="0"/>
              <a:t>Methodological: </a:t>
            </a:r>
          </a:p>
          <a:p>
            <a:pPr lvl="1"/>
            <a:r>
              <a:rPr lang="en-US" dirty="0"/>
              <a:t>Focus on the methodologies used in the studies (e.g., case studies vs benchmarking studies).</a:t>
            </a:r>
            <a:endParaRPr lang="en-GB" dirty="0"/>
          </a:p>
        </p:txBody>
      </p:sp>
    </p:spTree>
    <p:extLst>
      <p:ext uri="{BB962C8B-B14F-4D97-AF65-F5344CB8AC3E}">
        <p14:creationId xmlns:p14="http://schemas.microsoft.com/office/powerpoint/2010/main" val="3782214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Sample Structure for A Lit Review </a:t>
            </a:r>
          </a:p>
        </p:txBody>
      </p:sp>
      <p:sp>
        <p:nvSpPr>
          <p:cNvPr id="3" name="Content Placeholder 2"/>
          <p:cNvSpPr>
            <a:spLocks noGrp="1"/>
          </p:cNvSpPr>
          <p:nvPr>
            <p:ph sz="half" idx="1"/>
          </p:nvPr>
        </p:nvSpPr>
        <p:spPr/>
        <p:txBody>
          <a:bodyPr>
            <a:normAutofit fontScale="92500" lnSpcReduction="20000"/>
          </a:bodyPr>
          <a:lstStyle/>
          <a:p>
            <a:r>
              <a:rPr lang="en-GB" dirty="0"/>
              <a:t>Introduction</a:t>
            </a:r>
          </a:p>
          <a:p>
            <a:pPr lvl="1"/>
            <a:r>
              <a:rPr lang="en-GB" dirty="0"/>
              <a:t>Thesis statement</a:t>
            </a:r>
          </a:p>
          <a:p>
            <a:pPr lvl="1"/>
            <a:r>
              <a:rPr lang="en-GB" dirty="0"/>
              <a:t>Purpose of the review and concise overview of the research problem</a:t>
            </a:r>
          </a:p>
          <a:p>
            <a:pPr lvl="1"/>
            <a:r>
              <a:rPr lang="en-GB" dirty="0"/>
              <a:t>Outlines the organisational pattern of the review/sequence of themes covered and the scope of the research</a:t>
            </a:r>
          </a:p>
          <a:p>
            <a:pPr lvl="1"/>
            <a:r>
              <a:rPr lang="en-GB" dirty="0"/>
              <a:t>Limits, inclusion/exclusion criteria should be clearly outlined. </a:t>
            </a:r>
          </a:p>
          <a:p>
            <a:r>
              <a:rPr lang="en-GB" dirty="0"/>
              <a:t>Body</a:t>
            </a:r>
          </a:p>
          <a:p>
            <a:pPr lvl="1"/>
            <a:r>
              <a:rPr lang="en-GB" dirty="0"/>
              <a:t>Summarisation and Synthesis (discusses and presents findings from the literature)</a:t>
            </a:r>
          </a:p>
          <a:p>
            <a:pPr lvl="1"/>
            <a:r>
              <a:rPr lang="en-GB" dirty="0"/>
              <a:t>Ensure continuity by summarising each theme/section and presenting how it relates to the following section. </a:t>
            </a:r>
          </a:p>
          <a:p>
            <a:r>
              <a:rPr lang="en-GB" dirty="0"/>
              <a:t>Conclusion</a:t>
            </a:r>
          </a:p>
          <a:p>
            <a:pPr lvl="1"/>
            <a:r>
              <a:rPr lang="en-GB" dirty="0"/>
              <a:t>Concise summary of the findings</a:t>
            </a:r>
          </a:p>
          <a:p>
            <a:pPr lvl="1"/>
            <a:r>
              <a:rPr lang="en-GB" dirty="0"/>
              <a:t>Presents a rationale for conducting future research</a:t>
            </a:r>
          </a:p>
          <a:p>
            <a:pPr lvl="1"/>
            <a:r>
              <a:rPr lang="en-GB" dirty="0"/>
              <a:t>Identified gaps in the literature should lead logically to the purpose of the proposed study</a:t>
            </a:r>
          </a:p>
        </p:txBody>
      </p:sp>
    </p:spTree>
    <p:extLst>
      <p:ext uri="{BB962C8B-B14F-4D97-AF65-F5344CB8AC3E}">
        <p14:creationId xmlns:p14="http://schemas.microsoft.com/office/powerpoint/2010/main" val="301642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54DC-C828-8E85-8D98-2573AB229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E94FE-B7B1-137A-8F95-F680C8BC77E1}"/>
              </a:ext>
            </a:extLst>
          </p:cNvPr>
          <p:cNvSpPr>
            <a:spLocks noGrp="1"/>
          </p:cNvSpPr>
          <p:nvPr>
            <p:ph type="title"/>
          </p:nvPr>
        </p:nvSpPr>
        <p:spPr/>
        <p:txBody>
          <a:bodyPr/>
          <a:lstStyle/>
          <a:p>
            <a:r>
              <a:rPr lang="en-GB" dirty="0"/>
              <a:t>Sample Structure for A Lit Review </a:t>
            </a:r>
          </a:p>
        </p:txBody>
      </p:sp>
      <p:sp>
        <p:nvSpPr>
          <p:cNvPr id="3" name="Content Placeholder 2">
            <a:extLst>
              <a:ext uri="{FF2B5EF4-FFF2-40B4-BE49-F238E27FC236}">
                <a16:creationId xmlns:a16="http://schemas.microsoft.com/office/drawing/2014/main" id="{A625C44A-A645-0853-D3E6-16346135AB0C}"/>
              </a:ext>
            </a:extLst>
          </p:cNvPr>
          <p:cNvSpPr>
            <a:spLocks noGrp="1"/>
          </p:cNvSpPr>
          <p:nvPr>
            <p:ph sz="half" idx="1"/>
          </p:nvPr>
        </p:nvSpPr>
        <p:spPr/>
        <p:txBody>
          <a:bodyPr>
            <a:normAutofit/>
          </a:bodyPr>
          <a:lstStyle/>
          <a:p>
            <a:r>
              <a:rPr lang="en-US" b="1" dirty="0"/>
              <a:t>Introduction: </a:t>
            </a:r>
          </a:p>
          <a:p>
            <a:pPr lvl="1"/>
            <a:r>
              <a:rPr lang="en-US" dirty="0"/>
              <a:t>Define the scope of the review, introduce the research question, and state the purpose.</a:t>
            </a:r>
          </a:p>
          <a:p>
            <a:r>
              <a:rPr lang="en-US" dirty="0"/>
              <a:t>Example: </a:t>
            </a:r>
          </a:p>
          <a:p>
            <a:pPr lvl="1"/>
            <a:r>
              <a:rPr lang="en-US" dirty="0"/>
              <a:t>“This review focuses on </a:t>
            </a:r>
            <a:r>
              <a:rPr lang="en-US" dirty="0">
                <a:solidFill>
                  <a:schemeClr val="accent1">
                    <a:lumMod val="75000"/>
                    <a:lumOff val="25000"/>
                  </a:schemeClr>
                </a:solidFill>
              </a:rPr>
              <a:t>comparing</a:t>
            </a:r>
            <a:r>
              <a:rPr lang="en-US" dirty="0"/>
              <a:t> popular JavaScript frameworks like React, Vue, and Angular, specifically in terms of their </a:t>
            </a:r>
            <a:r>
              <a:rPr lang="en-US" dirty="0">
                <a:solidFill>
                  <a:schemeClr val="accent1">
                    <a:lumMod val="75000"/>
                    <a:lumOff val="25000"/>
                  </a:schemeClr>
                </a:solidFill>
              </a:rPr>
              <a:t>scalability</a:t>
            </a:r>
            <a:r>
              <a:rPr lang="en-US" dirty="0"/>
              <a:t> and </a:t>
            </a:r>
            <a:r>
              <a:rPr lang="en-US" dirty="0">
                <a:solidFill>
                  <a:schemeClr val="accent1">
                    <a:lumMod val="75000"/>
                    <a:lumOff val="25000"/>
                  </a:schemeClr>
                </a:solidFill>
              </a:rPr>
              <a:t>performance</a:t>
            </a:r>
            <a:r>
              <a:rPr lang="en-US" dirty="0"/>
              <a:t> in </a:t>
            </a:r>
            <a:r>
              <a:rPr lang="en-US" dirty="0">
                <a:solidFill>
                  <a:schemeClr val="accent1">
                    <a:lumMod val="75000"/>
                    <a:lumOff val="25000"/>
                  </a:schemeClr>
                </a:solidFill>
              </a:rPr>
              <a:t>large-scale</a:t>
            </a:r>
            <a:r>
              <a:rPr lang="en-US" dirty="0"/>
              <a:t> web applications.”</a:t>
            </a:r>
          </a:p>
          <a:p>
            <a:pPr lvl="1"/>
            <a:r>
              <a:rPr lang="en-US" dirty="0"/>
              <a:t>“This literature review examines </a:t>
            </a:r>
            <a:r>
              <a:rPr lang="en-US" dirty="0">
                <a:solidFill>
                  <a:schemeClr val="accent1">
                    <a:lumMod val="75000"/>
                    <a:lumOff val="25000"/>
                  </a:schemeClr>
                </a:solidFill>
              </a:rPr>
              <a:t>AI applications </a:t>
            </a:r>
            <a:r>
              <a:rPr lang="en-US" dirty="0"/>
              <a:t>in </a:t>
            </a:r>
            <a:r>
              <a:rPr lang="en-US" dirty="0">
                <a:solidFill>
                  <a:schemeClr val="accent1">
                    <a:lumMod val="75000"/>
                    <a:lumOff val="25000"/>
                  </a:schemeClr>
                </a:solidFill>
              </a:rPr>
              <a:t>healthcare</a:t>
            </a:r>
            <a:r>
              <a:rPr lang="en-US" dirty="0"/>
              <a:t>, </a:t>
            </a:r>
            <a:r>
              <a:rPr lang="en-US" dirty="0">
                <a:solidFill>
                  <a:schemeClr val="accent1">
                    <a:lumMod val="75000"/>
                    <a:lumOff val="25000"/>
                  </a:schemeClr>
                </a:solidFill>
              </a:rPr>
              <a:t>focusing on machine learning models</a:t>
            </a:r>
            <a:r>
              <a:rPr lang="en-US" dirty="0"/>
              <a:t> used in </a:t>
            </a:r>
            <a:r>
              <a:rPr lang="en-US" dirty="0">
                <a:solidFill>
                  <a:schemeClr val="accent1">
                    <a:lumMod val="75000"/>
                    <a:lumOff val="25000"/>
                  </a:schemeClr>
                </a:solidFill>
              </a:rPr>
              <a:t>medical imaging </a:t>
            </a:r>
            <a:r>
              <a:rPr lang="en-US" dirty="0"/>
              <a:t>and </a:t>
            </a:r>
            <a:r>
              <a:rPr lang="en-US" dirty="0">
                <a:solidFill>
                  <a:schemeClr val="accent1">
                    <a:lumMod val="75000"/>
                    <a:lumOff val="25000"/>
                  </a:schemeClr>
                </a:solidFill>
              </a:rPr>
              <a:t>diagnostics</a:t>
            </a:r>
            <a:r>
              <a:rPr lang="en-US" dirty="0"/>
              <a:t>. The </a:t>
            </a:r>
            <a:r>
              <a:rPr lang="en-US" dirty="0">
                <a:solidFill>
                  <a:schemeClr val="accent1">
                    <a:lumMod val="75000"/>
                    <a:lumOff val="25000"/>
                  </a:schemeClr>
                </a:solidFill>
              </a:rPr>
              <a:t>purpose </a:t>
            </a:r>
            <a:r>
              <a:rPr lang="en-US" dirty="0"/>
              <a:t>is to </a:t>
            </a:r>
            <a:r>
              <a:rPr lang="en-US" dirty="0">
                <a:solidFill>
                  <a:schemeClr val="accent1">
                    <a:lumMod val="75000"/>
                    <a:lumOff val="25000"/>
                  </a:schemeClr>
                </a:solidFill>
              </a:rPr>
              <a:t>identify research gaps </a:t>
            </a:r>
            <a:r>
              <a:rPr lang="en-US" dirty="0"/>
              <a:t>in </a:t>
            </a:r>
            <a:r>
              <a:rPr lang="en-US" dirty="0">
                <a:solidFill>
                  <a:schemeClr val="accent1">
                    <a:lumMod val="75000"/>
                    <a:lumOff val="25000"/>
                  </a:schemeClr>
                </a:solidFill>
              </a:rPr>
              <a:t>model accuracy </a:t>
            </a:r>
            <a:r>
              <a:rPr lang="en-US" dirty="0"/>
              <a:t>and </a:t>
            </a:r>
            <a:r>
              <a:rPr lang="en-US" dirty="0">
                <a:solidFill>
                  <a:schemeClr val="accent1">
                    <a:lumMod val="75000"/>
                    <a:lumOff val="25000"/>
                  </a:schemeClr>
                </a:solidFill>
              </a:rPr>
              <a:t>interpretability</a:t>
            </a:r>
            <a:r>
              <a:rPr lang="en-US" dirty="0"/>
              <a:t>.”</a:t>
            </a:r>
            <a:endParaRPr lang="en-GB" dirty="0"/>
          </a:p>
        </p:txBody>
      </p:sp>
    </p:spTree>
    <p:extLst>
      <p:ext uri="{BB962C8B-B14F-4D97-AF65-F5344CB8AC3E}">
        <p14:creationId xmlns:p14="http://schemas.microsoft.com/office/powerpoint/2010/main" val="1751365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8BDA-C2D6-14E4-F8B4-D54098746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7DFB9-328D-61CD-0008-8E7A4AB8FA75}"/>
              </a:ext>
            </a:extLst>
          </p:cNvPr>
          <p:cNvSpPr>
            <a:spLocks noGrp="1"/>
          </p:cNvSpPr>
          <p:nvPr>
            <p:ph type="title"/>
          </p:nvPr>
        </p:nvSpPr>
        <p:spPr/>
        <p:txBody>
          <a:bodyPr/>
          <a:lstStyle/>
          <a:p>
            <a:r>
              <a:rPr lang="en-GB" dirty="0"/>
              <a:t>Sample Structure for A Lit Review </a:t>
            </a:r>
          </a:p>
        </p:txBody>
      </p:sp>
      <p:sp>
        <p:nvSpPr>
          <p:cNvPr id="3" name="Content Placeholder 2">
            <a:extLst>
              <a:ext uri="{FF2B5EF4-FFF2-40B4-BE49-F238E27FC236}">
                <a16:creationId xmlns:a16="http://schemas.microsoft.com/office/drawing/2014/main" id="{7670F62C-2681-F9D3-24BB-65D4AEEF0780}"/>
              </a:ext>
            </a:extLst>
          </p:cNvPr>
          <p:cNvSpPr>
            <a:spLocks noGrp="1"/>
          </p:cNvSpPr>
          <p:nvPr>
            <p:ph sz="half" idx="1"/>
          </p:nvPr>
        </p:nvSpPr>
        <p:spPr/>
        <p:txBody>
          <a:bodyPr>
            <a:normAutofit/>
          </a:bodyPr>
          <a:lstStyle/>
          <a:p>
            <a:r>
              <a:rPr lang="en-US" b="1" dirty="0"/>
              <a:t>Body</a:t>
            </a:r>
            <a:r>
              <a:rPr lang="en-US" dirty="0"/>
              <a:t>: </a:t>
            </a:r>
          </a:p>
          <a:p>
            <a:pPr lvl="1"/>
            <a:r>
              <a:rPr lang="en-US" dirty="0" err="1"/>
              <a:t>Summarise</a:t>
            </a:r>
            <a:r>
              <a:rPr lang="en-US" dirty="0"/>
              <a:t> and </a:t>
            </a:r>
            <a:r>
              <a:rPr lang="en-US" dirty="0" err="1"/>
              <a:t>synthesise</a:t>
            </a:r>
            <a:r>
              <a:rPr lang="en-US" dirty="0"/>
              <a:t> studies, linking them to your research questions.</a:t>
            </a:r>
          </a:p>
          <a:p>
            <a:r>
              <a:rPr lang="en-US" b="1" dirty="0"/>
              <a:t>Conclusion</a:t>
            </a:r>
            <a:r>
              <a:rPr lang="en-US" dirty="0"/>
              <a:t>: </a:t>
            </a:r>
          </a:p>
          <a:p>
            <a:pPr lvl="1"/>
            <a:r>
              <a:rPr lang="en-US" dirty="0" err="1"/>
              <a:t>Summarise</a:t>
            </a:r>
            <a:r>
              <a:rPr lang="en-US" dirty="0"/>
              <a:t> the key findings and outline the need for further research.</a:t>
            </a:r>
            <a:endParaRPr lang="en-GB" dirty="0"/>
          </a:p>
        </p:txBody>
      </p:sp>
    </p:spTree>
    <p:extLst>
      <p:ext uri="{BB962C8B-B14F-4D97-AF65-F5344CB8AC3E}">
        <p14:creationId xmlns:p14="http://schemas.microsoft.com/office/powerpoint/2010/main" val="853743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Common Mistakes to Avoid</a:t>
            </a:r>
            <a:br>
              <a:rPr lang="en-GB" dirty="0"/>
            </a:br>
            <a:endParaRPr lang="en-GB" dirty="0"/>
          </a:p>
        </p:txBody>
      </p:sp>
      <p:sp>
        <p:nvSpPr>
          <p:cNvPr id="3" name="Content Placeholder 2"/>
          <p:cNvSpPr>
            <a:spLocks noGrp="1"/>
          </p:cNvSpPr>
          <p:nvPr>
            <p:ph sz="half" idx="1"/>
          </p:nvPr>
        </p:nvSpPr>
        <p:spPr/>
        <p:txBody>
          <a:bodyPr>
            <a:normAutofit/>
          </a:bodyPr>
          <a:lstStyle/>
          <a:p>
            <a:r>
              <a:rPr lang="en-US" b="1" dirty="0"/>
              <a:t>Not linking findings to your research</a:t>
            </a:r>
            <a:r>
              <a:rPr lang="en-US" dirty="0"/>
              <a:t>:</a:t>
            </a:r>
          </a:p>
          <a:p>
            <a:pPr lvl="1"/>
            <a:r>
              <a:rPr lang="en-US" dirty="0"/>
              <a:t>Don’t just </a:t>
            </a:r>
            <a:r>
              <a:rPr lang="en-US" dirty="0" err="1"/>
              <a:t>summarise</a:t>
            </a:r>
            <a:r>
              <a:rPr lang="en-US" dirty="0"/>
              <a:t>; critically engage with the findings.</a:t>
            </a:r>
          </a:p>
          <a:p>
            <a:r>
              <a:rPr lang="en-US" b="1" dirty="0"/>
              <a:t>Relying too heavily on secondary sources</a:t>
            </a:r>
            <a:r>
              <a:rPr lang="en-US" dirty="0"/>
              <a:t>: </a:t>
            </a:r>
          </a:p>
          <a:p>
            <a:pPr lvl="1"/>
            <a:r>
              <a:rPr lang="en-US" dirty="0"/>
              <a:t>Always </a:t>
            </a:r>
            <a:r>
              <a:rPr lang="en-US" dirty="0" err="1"/>
              <a:t>prioritise</a:t>
            </a:r>
            <a:r>
              <a:rPr lang="en-US" dirty="0"/>
              <a:t> primary research articles or case studies.</a:t>
            </a:r>
          </a:p>
          <a:p>
            <a:r>
              <a:rPr lang="en-GB" b="1" dirty="0"/>
              <a:t>Lack of critical analysis</a:t>
            </a:r>
            <a:r>
              <a:rPr lang="en-GB" dirty="0"/>
              <a:t>:</a:t>
            </a:r>
          </a:p>
          <a:p>
            <a:pPr lvl="1"/>
            <a:r>
              <a:rPr lang="en-US" dirty="0"/>
              <a:t>Ensure you critique research methods and findings.</a:t>
            </a:r>
          </a:p>
          <a:p>
            <a:pPr lvl="1"/>
            <a:endParaRPr lang="en-US" dirty="0"/>
          </a:p>
          <a:p>
            <a:r>
              <a:rPr lang="en-US" dirty="0"/>
              <a:t>“While Smith et al. (2021) highlight that React is faster, they fail to account for real-world issues like SEO, which is a limitation for modern single-page applications (SPA).”</a:t>
            </a:r>
            <a:endParaRPr lang="en-GB" dirty="0"/>
          </a:p>
        </p:txBody>
      </p:sp>
    </p:spTree>
    <p:extLst>
      <p:ext uri="{BB962C8B-B14F-4D97-AF65-F5344CB8AC3E}">
        <p14:creationId xmlns:p14="http://schemas.microsoft.com/office/powerpoint/2010/main" val="3167054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FEAEF-394A-3B6D-0821-0D249859C28F}"/>
              </a:ext>
            </a:extLst>
          </p:cNvPr>
          <p:cNvSpPr>
            <a:spLocks noGrp="1"/>
          </p:cNvSpPr>
          <p:nvPr>
            <p:ph type="title"/>
          </p:nvPr>
        </p:nvSpPr>
        <p:spPr/>
        <p:txBody>
          <a:bodyPr/>
          <a:lstStyle/>
          <a:p>
            <a:r>
              <a:rPr lang="en-US" altLang="en-US" sz="4000" dirty="0">
                <a:latin typeface="Helvetica Neue Light" charset="0"/>
                <a:cs typeface="ヒラギノ角ゴ ProN W3" charset="0"/>
              </a:rPr>
              <a:t>Drafting Strategies</a:t>
            </a:r>
            <a:endParaRPr lang="en-GB" dirty="0"/>
          </a:p>
        </p:txBody>
      </p:sp>
      <p:sp>
        <p:nvSpPr>
          <p:cNvPr id="3" name="Content Placeholder 2">
            <a:extLst>
              <a:ext uri="{FF2B5EF4-FFF2-40B4-BE49-F238E27FC236}">
                <a16:creationId xmlns:a16="http://schemas.microsoft.com/office/drawing/2014/main" id="{60FD1B3D-177D-BB64-DAE5-0CC69B66327C}"/>
              </a:ext>
            </a:extLst>
          </p:cNvPr>
          <p:cNvSpPr>
            <a:spLocks noGrp="1"/>
          </p:cNvSpPr>
          <p:nvPr>
            <p:ph sz="half" idx="1"/>
          </p:nvPr>
        </p:nvSpPr>
        <p:spPr/>
        <p:txBody>
          <a:bodyPr/>
          <a:lstStyle/>
          <a:p>
            <a:r>
              <a:rPr lang="en-US" dirty="0"/>
              <a:t>Maintain a logical progression, using headings and subheadings to guide the reader through themes.</a:t>
            </a:r>
          </a:p>
          <a:p>
            <a:r>
              <a:rPr lang="en-GB" dirty="0"/>
              <a:t>Demonstrate consistencies in and relationships between the literature you’ve studied.</a:t>
            </a:r>
          </a:p>
          <a:p>
            <a:r>
              <a:rPr lang="en-GB" dirty="0"/>
              <a:t>Likewise, </a:t>
            </a:r>
            <a:r>
              <a:rPr lang="en-GB" dirty="0">
                <a:solidFill>
                  <a:srgbClr val="0070C0"/>
                </a:solidFill>
              </a:rPr>
              <a:t>emphasise the stronger studies </a:t>
            </a:r>
            <a:r>
              <a:rPr lang="en-GB" dirty="0"/>
              <a:t>(e.g., have better measurements or more consistent methods) over weaker ones.</a:t>
            </a:r>
          </a:p>
          <a:p>
            <a:r>
              <a:rPr lang="en-GB" dirty="0"/>
              <a:t>Make the </a:t>
            </a:r>
            <a:r>
              <a:rPr lang="en-GB" dirty="0">
                <a:solidFill>
                  <a:srgbClr val="0070C0"/>
                </a:solidFill>
              </a:rPr>
              <a:t>implications of your information </a:t>
            </a:r>
            <a:r>
              <a:rPr lang="en-GB" dirty="0"/>
              <a:t>and any suggestions for further research as specific as possible.</a:t>
            </a:r>
          </a:p>
        </p:txBody>
      </p:sp>
    </p:spTree>
    <p:extLst>
      <p:ext uri="{BB962C8B-B14F-4D97-AF65-F5344CB8AC3E}">
        <p14:creationId xmlns:p14="http://schemas.microsoft.com/office/powerpoint/2010/main" val="1023765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C97B-7C20-AF4B-AD96-AF8B34645E42}"/>
              </a:ext>
            </a:extLst>
          </p:cNvPr>
          <p:cNvSpPr>
            <a:spLocks noGrp="1"/>
          </p:cNvSpPr>
          <p:nvPr>
            <p:ph type="title"/>
          </p:nvPr>
        </p:nvSpPr>
        <p:spPr/>
        <p:txBody>
          <a:bodyPr/>
          <a:lstStyle/>
          <a:p>
            <a:r>
              <a:rPr lang="en-US" altLang="en-US" sz="4000" dirty="0">
                <a:latin typeface="Helvetica Neue Light" charset="0"/>
                <a:cs typeface="ヒラギノ角ゴ ProN W3" charset="0"/>
              </a:rPr>
              <a:t>Drafting: Pitfalls to Avoid</a:t>
            </a:r>
            <a:endParaRPr lang="en-GB" dirty="0"/>
          </a:p>
        </p:txBody>
      </p:sp>
      <p:sp>
        <p:nvSpPr>
          <p:cNvPr id="3" name="Content Placeholder 2">
            <a:extLst>
              <a:ext uri="{FF2B5EF4-FFF2-40B4-BE49-F238E27FC236}">
                <a16:creationId xmlns:a16="http://schemas.microsoft.com/office/drawing/2014/main" id="{26EC1466-D109-E061-07C4-44D005982427}"/>
              </a:ext>
            </a:extLst>
          </p:cNvPr>
          <p:cNvSpPr>
            <a:spLocks noGrp="1"/>
          </p:cNvSpPr>
          <p:nvPr>
            <p:ph sz="half" idx="1"/>
          </p:nvPr>
        </p:nvSpPr>
        <p:spPr/>
        <p:txBody>
          <a:bodyPr/>
          <a:lstStyle/>
          <a:p>
            <a:r>
              <a:rPr lang="en-GB" dirty="0"/>
              <a:t>Unprofessional language</a:t>
            </a:r>
          </a:p>
          <a:p>
            <a:pPr lvl="1"/>
            <a:r>
              <a:rPr lang="en-GB" dirty="0"/>
              <a:t>Avoid the appearance of cheekiness/emotional appeal/first-person style.</a:t>
            </a:r>
          </a:p>
          <a:p>
            <a:r>
              <a:rPr lang="en-GB" dirty="0"/>
              <a:t>Don’t plagiarise! </a:t>
            </a:r>
          </a:p>
          <a:p>
            <a:pPr lvl="1"/>
            <a:r>
              <a:rPr lang="en-GB" dirty="0"/>
              <a:t>Be extremely careful with your paraphrasing and </a:t>
            </a:r>
            <a:r>
              <a:rPr lang="en-GB" dirty="0" err="1"/>
              <a:t>ciations</a:t>
            </a:r>
            <a:r>
              <a:rPr lang="en-GB" dirty="0"/>
              <a:t> </a:t>
            </a:r>
          </a:p>
          <a:p>
            <a:r>
              <a:rPr lang="en-GB" dirty="0"/>
              <a:t>Too many quotations: </a:t>
            </a:r>
          </a:p>
          <a:p>
            <a:pPr lvl="1"/>
            <a:r>
              <a:rPr lang="en-GB" dirty="0"/>
              <a:t>Only quote those elements which are necessary and need the utmost precision. </a:t>
            </a:r>
          </a:p>
          <a:p>
            <a:r>
              <a:rPr lang="en-GB" dirty="0"/>
              <a:t>Lack of Fluency and Cohesiveness: </a:t>
            </a:r>
          </a:p>
          <a:p>
            <a:pPr lvl="1"/>
            <a:r>
              <a:rPr lang="en-GB" dirty="0"/>
              <a:t>Your literature review should not read like a list of facts.</a:t>
            </a:r>
          </a:p>
          <a:p>
            <a:r>
              <a:rPr lang="en-GB" dirty="0"/>
              <a:t>Show connections between the literature</a:t>
            </a:r>
          </a:p>
          <a:p>
            <a:endParaRPr lang="en-GB" dirty="0"/>
          </a:p>
        </p:txBody>
      </p:sp>
    </p:spTree>
    <p:extLst>
      <p:ext uri="{BB962C8B-B14F-4D97-AF65-F5344CB8AC3E}">
        <p14:creationId xmlns:p14="http://schemas.microsoft.com/office/powerpoint/2010/main" val="4001594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FE70-FFE5-4131-D9CA-AE528C01AB23}"/>
              </a:ext>
            </a:extLst>
          </p:cNvPr>
          <p:cNvSpPr>
            <a:spLocks noGrp="1"/>
          </p:cNvSpPr>
          <p:nvPr>
            <p:ph type="title"/>
          </p:nvPr>
        </p:nvSpPr>
        <p:spPr/>
        <p:txBody>
          <a:bodyPr/>
          <a:lstStyle/>
          <a:p>
            <a:r>
              <a:rPr lang="en-GB" dirty="0"/>
              <a:t>Critical Appraisal </a:t>
            </a:r>
          </a:p>
        </p:txBody>
      </p:sp>
      <p:sp>
        <p:nvSpPr>
          <p:cNvPr id="5" name="Content Placeholder 4">
            <a:extLst>
              <a:ext uri="{FF2B5EF4-FFF2-40B4-BE49-F238E27FC236}">
                <a16:creationId xmlns:a16="http://schemas.microsoft.com/office/drawing/2014/main" id="{6B167718-F280-8F43-E366-1D1F42C0C4B0}"/>
              </a:ext>
            </a:extLst>
          </p:cNvPr>
          <p:cNvSpPr>
            <a:spLocks noGrp="1"/>
          </p:cNvSpPr>
          <p:nvPr>
            <p:ph sz="half" idx="1"/>
          </p:nvPr>
        </p:nvSpPr>
        <p:spPr/>
        <p:txBody>
          <a:bodyPr/>
          <a:lstStyle/>
          <a:p>
            <a:r>
              <a:rPr lang="en-GB" dirty="0"/>
              <a:t>Literature review needs to be </a:t>
            </a:r>
            <a:r>
              <a:rPr lang="en-GB" dirty="0">
                <a:solidFill>
                  <a:srgbClr val="0070C0"/>
                </a:solidFill>
              </a:rPr>
              <a:t>critical</a:t>
            </a:r>
            <a:r>
              <a:rPr lang="en-GB" dirty="0"/>
              <a:t>, not just descriptive.</a:t>
            </a:r>
          </a:p>
          <a:p>
            <a:pPr lvl="1"/>
            <a:r>
              <a:rPr lang="en-US" dirty="0"/>
              <a:t>Compare and contrast different sources.</a:t>
            </a:r>
          </a:p>
          <a:p>
            <a:pPr lvl="1"/>
            <a:r>
              <a:rPr lang="en-US" dirty="0"/>
              <a:t>Identify the flaws in the research methods used.</a:t>
            </a:r>
            <a:endParaRPr lang="en-GB" dirty="0"/>
          </a:p>
          <a:p>
            <a:r>
              <a:rPr lang="en-GB" dirty="0"/>
              <a:t>Example:</a:t>
            </a:r>
          </a:p>
          <a:p>
            <a:r>
              <a:rPr lang="en-US" dirty="0"/>
              <a:t>“In contrast to the robust study by Patel et al. (2021), which used a large, diverse dataset, Smith’s (2019) study on the same topic suffers from a narrow sample size, which undermines its conclusions.”</a:t>
            </a:r>
            <a:r>
              <a:rPr lang="en-GB" dirty="0"/>
              <a:t> </a:t>
            </a:r>
          </a:p>
        </p:txBody>
      </p:sp>
    </p:spTree>
    <p:extLst>
      <p:ext uri="{BB962C8B-B14F-4D97-AF65-F5344CB8AC3E}">
        <p14:creationId xmlns:p14="http://schemas.microsoft.com/office/powerpoint/2010/main" val="382824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FE70-FFE5-4131-D9CA-AE528C01AB23}"/>
              </a:ext>
            </a:extLst>
          </p:cNvPr>
          <p:cNvSpPr>
            <a:spLocks noGrp="1"/>
          </p:cNvSpPr>
          <p:nvPr>
            <p:ph type="title"/>
          </p:nvPr>
        </p:nvSpPr>
        <p:spPr/>
        <p:txBody>
          <a:bodyPr/>
          <a:lstStyle/>
          <a:p>
            <a:r>
              <a:rPr lang="en-GB" dirty="0"/>
              <a:t>Critical Appraisal </a:t>
            </a:r>
          </a:p>
        </p:txBody>
      </p:sp>
      <p:pic>
        <p:nvPicPr>
          <p:cNvPr id="4" name="Picture 3">
            <a:extLst>
              <a:ext uri="{FF2B5EF4-FFF2-40B4-BE49-F238E27FC236}">
                <a16:creationId xmlns:a16="http://schemas.microsoft.com/office/drawing/2014/main" id="{EA3CA252-C939-4021-1686-106584510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67" y="812232"/>
            <a:ext cx="11547472" cy="5326101"/>
          </a:xfrm>
          <a:prstGeom prst="rect">
            <a:avLst/>
          </a:prstGeom>
        </p:spPr>
      </p:pic>
    </p:spTree>
    <p:extLst>
      <p:ext uri="{BB962C8B-B14F-4D97-AF65-F5344CB8AC3E}">
        <p14:creationId xmlns:p14="http://schemas.microsoft.com/office/powerpoint/2010/main" val="3214450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FE70-FFE5-4131-D9CA-AE528C01AB23}"/>
              </a:ext>
            </a:extLst>
          </p:cNvPr>
          <p:cNvSpPr>
            <a:spLocks noGrp="1"/>
          </p:cNvSpPr>
          <p:nvPr>
            <p:ph type="title"/>
          </p:nvPr>
        </p:nvSpPr>
        <p:spPr/>
        <p:txBody>
          <a:bodyPr/>
          <a:lstStyle/>
          <a:p>
            <a:r>
              <a:rPr lang="en-GB" dirty="0"/>
              <a:t>Critical Appraisal </a:t>
            </a:r>
          </a:p>
        </p:txBody>
      </p:sp>
      <p:pic>
        <p:nvPicPr>
          <p:cNvPr id="3" name="Picture 2">
            <a:extLst>
              <a:ext uri="{FF2B5EF4-FFF2-40B4-BE49-F238E27FC236}">
                <a16:creationId xmlns:a16="http://schemas.microsoft.com/office/drawing/2014/main" id="{E12645E5-80D0-80C6-078E-8A68E4EED2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399" y="769227"/>
            <a:ext cx="10817067" cy="5547948"/>
          </a:xfrm>
          <a:prstGeom prst="rect">
            <a:avLst/>
          </a:prstGeom>
        </p:spPr>
      </p:pic>
    </p:spTree>
    <p:extLst>
      <p:ext uri="{BB962C8B-B14F-4D97-AF65-F5344CB8AC3E}">
        <p14:creationId xmlns:p14="http://schemas.microsoft.com/office/powerpoint/2010/main" val="1580756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69E07-AD56-E1AA-1ADD-82F86B7D7E7A}"/>
              </a:ext>
            </a:extLst>
          </p:cNvPr>
          <p:cNvSpPr>
            <a:spLocks noGrp="1"/>
          </p:cNvSpPr>
          <p:nvPr>
            <p:ph type="title"/>
          </p:nvPr>
        </p:nvSpPr>
        <p:spPr/>
        <p:txBody>
          <a:bodyPr/>
          <a:lstStyle/>
          <a:p>
            <a:r>
              <a:rPr lang="en-GB" dirty="0"/>
              <a:t>Critically Analysing A Piece of Research</a:t>
            </a:r>
          </a:p>
        </p:txBody>
      </p:sp>
      <p:sp>
        <p:nvSpPr>
          <p:cNvPr id="3" name="Content Placeholder 2">
            <a:extLst>
              <a:ext uri="{FF2B5EF4-FFF2-40B4-BE49-F238E27FC236}">
                <a16:creationId xmlns:a16="http://schemas.microsoft.com/office/drawing/2014/main" id="{6299B082-FD8C-201B-83A7-C901156DFAD6}"/>
              </a:ext>
            </a:extLst>
          </p:cNvPr>
          <p:cNvSpPr>
            <a:spLocks noGrp="1"/>
          </p:cNvSpPr>
          <p:nvPr>
            <p:ph sz="half" idx="1"/>
          </p:nvPr>
        </p:nvSpPr>
        <p:spPr/>
        <p:txBody>
          <a:bodyPr/>
          <a:lstStyle/>
          <a:p>
            <a:pPr marL="0" indent="0">
              <a:lnSpc>
                <a:spcPct val="150000"/>
              </a:lnSpc>
              <a:buNone/>
            </a:pPr>
            <a:r>
              <a:rPr lang="en-GB" sz="3600" dirty="0"/>
              <a:t>In the reading test the five children who were taught using phonics performed better overall than </a:t>
            </a:r>
            <a:r>
              <a:rPr lang="en-GB" sz="3600" dirty="0">
                <a:solidFill>
                  <a:srgbClr val="0070C0"/>
                </a:solidFill>
              </a:rPr>
              <a:t>the five children </a:t>
            </a:r>
            <a:r>
              <a:rPr lang="en-GB" sz="3600" dirty="0"/>
              <a:t>taught using the whole word method. This shows that the phonics method is a better choice for schools [X].</a:t>
            </a:r>
          </a:p>
          <a:p>
            <a:endParaRPr lang="en-GB" dirty="0"/>
          </a:p>
        </p:txBody>
      </p:sp>
    </p:spTree>
    <p:extLst>
      <p:ext uri="{BB962C8B-B14F-4D97-AF65-F5344CB8AC3E}">
        <p14:creationId xmlns:p14="http://schemas.microsoft.com/office/powerpoint/2010/main" val="3847113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F4756-BA01-4494-AC31-538B91E87BFD}"/>
              </a:ext>
            </a:extLst>
          </p:cNvPr>
          <p:cNvSpPr>
            <a:spLocks noGrp="1"/>
          </p:cNvSpPr>
          <p:nvPr>
            <p:ph type="title"/>
          </p:nvPr>
        </p:nvSpPr>
        <p:spPr/>
        <p:txBody>
          <a:bodyPr/>
          <a:lstStyle/>
          <a:p>
            <a:r>
              <a:rPr lang="en-GB" dirty="0"/>
              <a:t>Critically Analysing A Piece of Research</a:t>
            </a:r>
          </a:p>
        </p:txBody>
      </p:sp>
      <p:sp>
        <p:nvSpPr>
          <p:cNvPr id="5" name="TextBox 4">
            <a:extLst>
              <a:ext uri="{FF2B5EF4-FFF2-40B4-BE49-F238E27FC236}">
                <a16:creationId xmlns:a16="http://schemas.microsoft.com/office/drawing/2014/main" id="{7C5F0109-25A9-BA7A-3B56-109019910579}"/>
              </a:ext>
            </a:extLst>
          </p:cNvPr>
          <p:cNvSpPr txBox="1"/>
          <p:nvPr/>
        </p:nvSpPr>
        <p:spPr>
          <a:xfrm>
            <a:off x="342000" y="961026"/>
            <a:ext cx="8415868" cy="5866350"/>
          </a:xfrm>
          <a:prstGeom prst="rect">
            <a:avLst/>
          </a:prstGeom>
          <a:noFill/>
        </p:spPr>
        <p:txBody>
          <a:bodyPr wrap="square">
            <a:spAutoFit/>
          </a:bodyPr>
          <a:lstStyle/>
          <a:p>
            <a:pPr>
              <a:lnSpc>
                <a:spcPct val="150000"/>
              </a:lnSpc>
            </a:pPr>
            <a:r>
              <a:rPr lang="en-GB" sz="2400" dirty="0">
                <a:solidFill>
                  <a:prstClr val="black"/>
                </a:solidFill>
              </a:rPr>
              <a:t>Browning [X] found that children taught to read using  phonics did better in a reading test than children taught using the whole word method. However, </a:t>
            </a:r>
            <a:r>
              <a:rPr lang="en-GB" sz="2400" dirty="0">
                <a:solidFill>
                  <a:schemeClr val="accent1">
                    <a:lumMod val="50000"/>
                    <a:lumOff val="50000"/>
                  </a:schemeClr>
                </a:solidFill>
              </a:rPr>
              <a:t>the study was small and the test rather limited</a:t>
            </a:r>
            <a:r>
              <a:rPr lang="en-GB" sz="2400" dirty="0">
                <a:solidFill>
                  <a:srgbClr val="C0504D"/>
                </a:solidFill>
              </a:rPr>
              <a:t>.</a:t>
            </a:r>
            <a:r>
              <a:rPr lang="en-GB" sz="2400" dirty="0">
                <a:solidFill>
                  <a:prstClr val="black"/>
                </a:solidFill>
              </a:rPr>
              <a:t> </a:t>
            </a:r>
            <a:r>
              <a:rPr lang="en-GB" sz="2400" dirty="0">
                <a:solidFill>
                  <a:schemeClr val="accent3">
                    <a:lumMod val="75000"/>
                    <a:lumOff val="25000"/>
                  </a:schemeClr>
                </a:solidFill>
              </a:rPr>
              <a:t>An examination of Browning’s test scores reveals that, although the mean score of the phonics group was higher, two of the highest scores in the test were whole word learners</a:t>
            </a:r>
            <a:r>
              <a:rPr lang="en-GB" sz="2400" dirty="0">
                <a:solidFill>
                  <a:prstClr val="black"/>
                </a:solidFill>
              </a:rPr>
              <a:t>. </a:t>
            </a:r>
            <a:r>
              <a:rPr lang="en-GB" sz="2400" dirty="0">
                <a:solidFill>
                  <a:schemeClr val="accent5">
                    <a:lumMod val="75000"/>
                  </a:schemeClr>
                </a:solidFill>
              </a:rPr>
              <a:t>Since this indicates that the whole word method is effective for some learners at least, Browning is perhaps too quick to propose that the ‘phonics method is a better choice for schools’.</a:t>
            </a:r>
          </a:p>
          <a:p>
            <a:pPr>
              <a:lnSpc>
                <a:spcPct val="150000"/>
              </a:lnSpc>
            </a:pPr>
            <a:endParaRPr lang="en-GB" dirty="0">
              <a:solidFill>
                <a:srgbClr val="9BBB59">
                  <a:lumMod val="75000"/>
                </a:srgbClr>
              </a:solidFill>
            </a:endParaRPr>
          </a:p>
          <a:p>
            <a:pPr>
              <a:lnSpc>
                <a:spcPct val="150000"/>
              </a:lnSpc>
            </a:pPr>
            <a:endParaRPr lang="en-GB" sz="1800" dirty="0">
              <a:solidFill>
                <a:srgbClr val="9BBB59">
                  <a:lumMod val="75000"/>
                </a:srgbClr>
              </a:solidFill>
            </a:endParaRPr>
          </a:p>
        </p:txBody>
      </p:sp>
      <p:sp>
        <p:nvSpPr>
          <p:cNvPr id="6" name="TextBox 5">
            <a:extLst>
              <a:ext uri="{FF2B5EF4-FFF2-40B4-BE49-F238E27FC236}">
                <a16:creationId xmlns:a16="http://schemas.microsoft.com/office/drawing/2014/main" id="{2E551209-2433-049C-CEF8-2AA623808531}"/>
              </a:ext>
            </a:extLst>
          </p:cNvPr>
          <p:cNvSpPr txBox="1"/>
          <p:nvPr/>
        </p:nvSpPr>
        <p:spPr>
          <a:xfrm>
            <a:off x="9762267" y="2396253"/>
            <a:ext cx="2099733" cy="1323439"/>
          </a:xfrm>
          <a:prstGeom prst="rect">
            <a:avLst/>
          </a:prstGeom>
          <a:noFill/>
          <a:ln>
            <a:solidFill>
              <a:srgbClr val="119A92"/>
            </a:solidFill>
          </a:ln>
        </p:spPr>
        <p:txBody>
          <a:bodyPr wrap="square" rtlCol="0">
            <a:spAutoFit/>
          </a:bodyPr>
          <a:lstStyle/>
          <a:p>
            <a:pPr algn="ctr"/>
            <a:r>
              <a:rPr lang="en-GB" sz="2000" dirty="0">
                <a:solidFill>
                  <a:schemeClr val="accent3">
                    <a:lumMod val="75000"/>
                    <a:lumOff val="25000"/>
                  </a:schemeClr>
                </a:solidFill>
              </a:rPr>
              <a:t>Evidence does not adequately support conclusion</a:t>
            </a:r>
          </a:p>
        </p:txBody>
      </p:sp>
      <p:sp>
        <p:nvSpPr>
          <p:cNvPr id="7" name="TextBox 6">
            <a:extLst>
              <a:ext uri="{FF2B5EF4-FFF2-40B4-BE49-F238E27FC236}">
                <a16:creationId xmlns:a16="http://schemas.microsoft.com/office/drawing/2014/main" id="{3547B5AC-BFDC-2801-5CC4-647366716426}"/>
              </a:ext>
            </a:extLst>
          </p:cNvPr>
          <p:cNvSpPr txBox="1"/>
          <p:nvPr/>
        </p:nvSpPr>
        <p:spPr>
          <a:xfrm>
            <a:off x="9762267" y="4049810"/>
            <a:ext cx="2099733" cy="1015663"/>
          </a:xfrm>
          <a:prstGeom prst="rect">
            <a:avLst/>
          </a:prstGeom>
          <a:noFill/>
          <a:ln>
            <a:solidFill>
              <a:srgbClr val="AD5243"/>
            </a:solidFill>
          </a:ln>
        </p:spPr>
        <p:txBody>
          <a:bodyPr wrap="square" rtlCol="0">
            <a:spAutoFit/>
          </a:bodyPr>
          <a:lstStyle/>
          <a:p>
            <a:pPr algn="ctr"/>
            <a:r>
              <a:rPr lang="en-GB" sz="2000" dirty="0">
                <a:solidFill>
                  <a:schemeClr val="accent5">
                    <a:lumMod val="75000"/>
                  </a:schemeClr>
                </a:solidFill>
              </a:rPr>
              <a:t>Implications/significance in wider context</a:t>
            </a:r>
          </a:p>
        </p:txBody>
      </p:sp>
      <p:sp>
        <p:nvSpPr>
          <p:cNvPr id="9" name="TextBox 8">
            <a:extLst>
              <a:ext uri="{FF2B5EF4-FFF2-40B4-BE49-F238E27FC236}">
                <a16:creationId xmlns:a16="http://schemas.microsoft.com/office/drawing/2014/main" id="{EB3115A1-D693-A1A4-A358-FF588BF299D7}"/>
              </a:ext>
            </a:extLst>
          </p:cNvPr>
          <p:cNvSpPr txBox="1"/>
          <p:nvPr/>
        </p:nvSpPr>
        <p:spPr>
          <a:xfrm>
            <a:off x="9762267" y="853674"/>
            <a:ext cx="2078306" cy="1015663"/>
          </a:xfrm>
          <a:prstGeom prst="rect">
            <a:avLst/>
          </a:prstGeom>
          <a:noFill/>
          <a:ln>
            <a:solidFill>
              <a:srgbClr val="3075FF"/>
            </a:solidFill>
          </a:ln>
        </p:spPr>
        <p:txBody>
          <a:bodyPr wrap="square" rtlCol="0">
            <a:spAutoFit/>
          </a:bodyPr>
          <a:lstStyle/>
          <a:p>
            <a:pPr algn="ctr"/>
            <a:r>
              <a:rPr lang="en-GB" sz="2000" dirty="0">
                <a:solidFill>
                  <a:schemeClr val="accent1">
                    <a:lumMod val="50000"/>
                    <a:lumOff val="50000"/>
                  </a:schemeClr>
                </a:solidFill>
              </a:rPr>
              <a:t>Critical assessment of methods</a:t>
            </a:r>
          </a:p>
        </p:txBody>
      </p:sp>
      <p:cxnSp>
        <p:nvCxnSpPr>
          <p:cNvPr id="10" name="Straight Arrow Connector 9">
            <a:extLst>
              <a:ext uri="{FF2B5EF4-FFF2-40B4-BE49-F238E27FC236}">
                <a16:creationId xmlns:a16="http://schemas.microsoft.com/office/drawing/2014/main" id="{1050BBDB-10F1-A962-B8CA-5B807DC49119}"/>
              </a:ext>
            </a:extLst>
          </p:cNvPr>
          <p:cNvCxnSpPr>
            <a:cxnSpLocks/>
            <a:stCxn id="9" idx="1"/>
          </p:cNvCxnSpPr>
          <p:nvPr/>
        </p:nvCxnSpPr>
        <p:spPr>
          <a:xfrm flipH="1">
            <a:off x="8388827" y="1361506"/>
            <a:ext cx="1373440" cy="997006"/>
          </a:xfrm>
          <a:prstGeom prst="straightConnector1">
            <a:avLst/>
          </a:prstGeom>
          <a:ln>
            <a:solidFill>
              <a:srgbClr val="3075FF"/>
            </a:solidFill>
            <a:tailEnd type="arrow"/>
          </a:ln>
        </p:spPr>
        <p:style>
          <a:lnRef idx="2">
            <a:schemeClr val="accent2"/>
          </a:lnRef>
          <a:fillRef idx="0">
            <a:schemeClr val="accent2"/>
          </a:fillRef>
          <a:effectRef idx="1">
            <a:schemeClr val="accent2"/>
          </a:effectRef>
          <a:fontRef idx="minor">
            <a:schemeClr val="tx1"/>
          </a:fontRef>
        </p:style>
      </p:cxnSp>
      <p:cxnSp>
        <p:nvCxnSpPr>
          <p:cNvPr id="13" name="Straight Arrow Connector 12">
            <a:extLst>
              <a:ext uri="{FF2B5EF4-FFF2-40B4-BE49-F238E27FC236}">
                <a16:creationId xmlns:a16="http://schemas.microsoft.com/office/drawing/2014/main" id="{CC7EAE66-89C3-652E-E925-274E58D9ADEC}"/>
              </a:ext>
            </a:extLst>
          </p:cNvPr>
          <p:cNvCxnSpPr>
            <a:cxnSpLocks/>
            <a:stCxn id="6" idx="1"/>
          </p:cNvCxnSpPr>
          <p:nvPr/>
        </p:nvCxnSpPr>
        <p:spPr>
          <a:xfrm flipH="1">
            <a:off x="8466667" y="3057973"/>
            <a:ext cx="1295600" cy="87604"/>
          </a:xfrm>
          <a:prstGeom prst="straightConnector1">
            <a:avLst/>
          </a:prstGeom>
          <a:ln>
            <a:solidFill>
              <a:srgbClr val="75C2AA"/>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B332B1B-5F53-8225-9AF1-6200D2DC70C0}"/>
              </a:ext>
            </a:extLst>
          </p:cNvPr>
          <p:cNvCxnSpPr>
            <a:cxnSpLocks/>
            <a:stCxn id="7" idx="1"/>
          </p:cNvCxnSpPr>
          <p:nvPr/>
        </p:nvCxnSpPr>
        <p:spPr>
          <a:xfrm flipH="1" flipV="1">
            <a:off x="8602133" y="4557641"/>
            <a:ext cx="1160134" cy="1"/>
          </a:xfrm>
          <a:prstGeom prst="straightConnector1">
            <a:avLst/>
          </a:prstGeom>
          <a:ln>
            <a:solidFill>
              <a:srgbClr val="870000"/>
            </a:solidFill>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980401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 and Useful Resources   </a:t>
            </a:r>
          </a:p>
        </p:txBody>
      </p:sp>
      <p:sp>
        <p:nvSpPr>
          <p:cNvPr id="3" name="Content Placeholder 2"/>
          <p:cNvSpPr>
            <a:spLocks noGrp="1"/>
          </p:cNvSpPr>
          <p:nvPr>
            <p:ph sz="half" idx="1"/>
          </p:nvPr>
        </p:nvSpPr>
        <p:spPr/>
        <p:txBody>
          <a:bodyPr>
            <a:normAutofit/>
          </a:bodyPr>
          <a:lstStyle/>
          <a:p>
            <a:pPr marL="0" indent="0">
              <a:buNone/>
            </a:pPr>
            <a:endParaRPr lang="en-GB" sz="2400" dirty="0"/>
          </a:p>
          <a:p>
            <a:r>
              <a:rPr lang="en-GB" sz="2800" dirty="0"/>
              <a:t>Reading List on Moodle </a:t>
            </a:r>
          </a:p>
          <a:p>
            <a:r>
              <a:rPr lang="en-GB" sz="2800" dirty="0"/>
              <a:t>Useful links under </a:t>
            </a:r>
            <a:r>
              <a:rPr lang="en-GB" sz="2800" i="1" dirty="0"/>
              <a:t>Milestone 4: Workshop - Literature review</a:t>
            </a:r>
          </a:p>
          <a:p>
            <a:pPr marL="0" indent="0">
              <a:buNone/>
            </a:pPr>
            <a:endParaRPr lang="en-GB" sz="2400" dirty="0"/>
          </a:p>
          <a:p>
            <a:pPr marL="0" indent="0">
              <a:buNone/>
            </a:pPr>
            <a:r>
              <a:rPr lang="en-GB" sz="2400" dirty="0"/>
              <a:t>[1] P. Oliver, </a:t>
            </a:r>
            <a:r>
              <a:rPr lang="en-GB" sz="2400" i="1" dirty="0"/>
              <a:t>Succeeding with your literature review: A handbook for students</a:t>
            </a:r>
            <a:r>
              <a:rPr lang="en-GB" sz="2400" dirty="0"/>
              <a:t>. Maidenhead: Open University Press, 2012.</a:t>
            </a:r>
          </a:p>
          <a:p>
            <a:pPr marL="0" indent="0">
              <a:buNone/>
            </a:pPr>
            <a:r>
              <a:rPr lang="en-GB" sz="2400" dirty="0"/>
              <a:t>[2] C. W. Dawson, </a:t>
            </a:r>
            <a:r>
              <a:rPr lang="en-GB" sz="2400" i="1" dirty="0"/>
              <a:t>Projects in computing and information systems</a:t>
            </a:r>
            <a:r>
              <a:rPr lang="en-GB" sz="2400" dirty="0"/>
              <a:t>. Harlow: Prentice Hall, 2009.</a:t>
            </a:r>
          </a:p>
          <a:p>
            <a:pPr marL="0" indent="0">
              <a:buNone/>
            </a:pPr>
            <a:r>
              <a:rPr lang="en-GB" sz="2400" dirty="0"/>
              <a:t>[3] L. A. Machi and B. T. </a:t>
            </a:r>
            <a:r>
              <a:rPr lang="en-GB" sz="2400" dirty="0" err="1"/>
              <a:t>Mcevoy</a:t>
            </a:r>
            <a:r>
              <a:rPr lang="en-GB" sz="2400" dirty="0"/>
              <a:t>, </a:t>
            </a:r>
            <a:r>
              <a:rPr lang="en-GB" sz="2400" i="1" dirty="0"/>
              <a:t>The literature review : six steps to success</a:t>
            </a:r>
            <a:r>
              <a:rPr lang="en-GB" sz="2400" dirty="0"/>
              <a:t>, 3rd ed. Thousand Oaks, California: Corwin, A Sage Publishing Company, 2016.</a:t>
            </a:r>
          </a:p>
          <a:p>
            <a:pPr marL="0" indent="0">
              <a:buNone/>
            </a:pPr>
            <a:r>
              <a:rPr lang="en-GB" sz="2400" dirty="0"/>
              <a:t>[4] J. Zobel, </a:t>
            </a:r>
            <a:r>
              <a:rPr lang="en-GB" sz="2400" i="1" dirty="0"/>
              <a:t>Writing for Computer Science</a:t>
            </a:r>
            <a:r>
              <a:rPr lang="en-GB" sz="2400" dirty="0"/>
              <a:t>. London Springer, 2014.</a:t>
            </a:r>
          </a:p>
          <a:p>
            <a:pPr marL="0" indent="0">
              <a:buNone/>
            </a:pPr>
            <a:endParaRPr lang="en-GB" sz="2400" dirty="0"/>
          </a:p>
          <a:p>
            <a:pPr marL="0" indent="0">
              <a:buNone/>
            </a:pPr>
            <a:endParaRPr lang="en-GB" sz="2400" dirty="0"/>
          </a:p>
          <a:p>
            <a:endParaRPr lang="en-GB" dirty="0"/>
          </a:p>
        </p:txBody>
      </p:sp>
    </p:spTree>
    <p:extLst>
      <p:ext uri="{BB962C8B-B14F-4D97-AF65-F5344CB8AC3E}">
        <p14:creationId xmlns:p14="http://schemas.microsoft.com/office/powerpoint/2010/main" val="3613293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5374044"/>
      </p:ext>
    </p:extLst>
  </p:cSld>
  <p:clrMapOvr>
    <a:masterClrMapping/>
  </p:clrMapOvr>
</p:sld>
</file>

<file path=ppt/theme/theme1.xml><?xml version="1.0" encoding="utf-8"?>
<a:theme xmlns:a="http://schemas.openxmlformats.org/drawingml/2006/main" name="Office Theme">
  <a:themeElements>
    <a:clrScheme name="My_Roe">
      <a:dk1>
        <a:sysClr val="windowText" lastClr="000000"/>
      </a:dk1>
      <a:lt1>
        <a:sysClr val="window" lastClr="FFFFFF"/>
      </a:lt1>
      <a:dk2>
        <a:srgbClr val="44546A"/>
      </a:dk2>
      <a:lt2>
        <a:srgbClr val="E7E6E6"/>
      </a:lt2>
      <a:accent1>
        <a:srgbClr val="002060"/>
      </a:accent1>
      <a:accent2>
        <a:srgbClr val="ED7D31"/>
      </a:accent2>
      <a:accent3>
        <a:srgbClr val="063532"/>
      </a:accent3>
      <a:accent4>
        <a:srgbClr val="F1B67C"/>
      </a:accent4>
      <a:accent5>
        <a:srgbClr val="B40000"/>
      </a:accent5>
      <a:accent6>
        <a:srgbClr val="00A16F"/>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13AD3E4-C156-4772-8F22-114EA6A9039E}">
  <we:reference id="4567b711-9f2d-454d-b0d0-74708a29b461" version="1.0.0.0" store="EXCatalog" storeType="EXCatalog"/>
  <we:alternateReferences>
    <we:reference id="WA200001313" version="1.0.0.0"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1419</TotalTime>
  <Words>2538</Words>
  <Application>Microsoft Office PowerPoint</Application>
  <PresentationFormat>Widescreen</PresentationFormat>
  <Paragraphs>207</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Helvetica Neue Light</vt:lpstr>
      <vt:lpstr>Office Theme</vt:lpstr>
      <vt:lpstr>PowerPoint Presentation</vt:lpstr>
      <vt:lpstr>Agenda</vt:lpstr>
      <vt:lpstr>What is a Literature Review?</vt:lpstr>
      <vt:lpstr>Objectives a Literature Review </vt:lpstr>
      <vt:lpstr>What is a literature review? </vt:lpstr>
      <vt:lpstr>What is a literature review? </vt:lpstr>
      <vt:lpstr>Literature Review: A Process</vt:lpstr>
      <vt:lpstr>How is a literature review different to an essay? </vt:lpstr>
      <vt:lpstr>How is a literature review different to an essay? </vt:lpstr>
      <vt:lpstr>Literature Review: Preparations</vt:lpstr>
      <vt:lpstr>Evaluating &amp; Interpreting Research</vt:lpstr>
      <vt:lpstr>Approaching The Literature Review </vt:lpstr>
      <vt:lpstr>Approaching The Literature Review </vt:lpstr>
      <vt:lpstr>Reading and Analysing Literature (PQRS Framework)</vt:lpstr>
      <vt:lpstr>Reading and Analysing Literature (PQRS Framework)</vt:lpstr>
      <vt:lpstr>Reading and Analysing Literature (PQRS Framework)</vt:lpstr>
      <vt:lpstr>Thesis Statement </vt:lpstr>
      <vt:lpstr>Thesis Statement </vt:lpstr>
      <vt:lpstr>Thesis Statement </vt:lpstr>
      <vt:lpstr>Research Questions Based on Thesis Statement  </vt:lpstr>
      <vt:lpstr>Common Approaches to Organising A Lit Review</vt:lpstr>
      <vt:lpstr>Sample Structure for A Lit Review </vt:lpstr>
      <vt:lpstr>Sample Structure for A Lit Review </vt:lpstr>
      <vt:lpstr>Sample Structure for A Lit Review </vt:lpstr>
      <vt:lpstr>Common Mistakes to Avoid </vt:lpstr>
      <vt:lpstr>Drafting Strategies</vt:lpstr>
      <vt:lpstr>Drafting: Pitfalls to Avoid</vt:lpstr>
      <vt:lpstr>Critical Appraisal </vt:lpstr>
      <vt:lpstr>Critical Appraisal </vt:lpstr>
      <vt:lpstr>Critical Appraisal </vt:lpstr>
      <vt:lpstr>Critically Analysing A Piece of Research</vt:lpstr>
      <vt:lpstr>Critically Analysing A Piece of Research</vt:lpstr>
      <vt:lpstr>References and Useful Resources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Ali Javaheri Javid</dc:creator>
  <cp:lastModifiedBy>Mohammad Javaheri</cp:lastModifiedBy>
  <cp:revision>57</cp:revision>
  <dcterms:created xsi:type="dcterms:W3CDTF">2023-11-07T20:41:04Z</dcterms:created>
  <dcterms:modified xsi:type="dcterms:W3CDTF">2025-06-19T11:06:53Z</dcterms:modified>
</cp:coreProperties>
</file>